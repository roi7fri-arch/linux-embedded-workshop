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media/image11.jpg" ContentType="image/jpeg"/>
  <Override PartName="/ppt/media/image25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4"/>
  </p:notesMasterIdLst>
  <p:sldIdLst>
    <p:sldId id="296" r:id="rId2"/>
    <p:sldId id="282" r:id="rId3"/>
    <p:sldId id="283" r:id="rId4"/>
    <p:sldId id="284" r:id="rId5"/>
    <p:sldId id="285" r:id="rId6"/>
    <p:sldId id="260" r:id="rId7"/>
    <p:sldId id="261" r:id="rId8"/>
    <p:sldId id="262" r:id="rId9"/>
    <p:sldId id="263" r:id="rId10"/>
    <p:sldId id="287" r:id="rId11"/>
    <p:sldId id="288" r:id="rId12"/>
    <p:sldId id="289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52875C-FF92-4CA2-B19A-1EDAB975F335}" v="2" dt="2023-05-21T06:46:14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975" autoAdjust="0"/>
    <p:restoredTop sz="85731" autoAdjust="0"/>
  </p:normalViewPr>
  <p:slideViewPr>
    <p:cSldViewPr snapToGrid="0">
      <p:cViewPr varScale="1">
        <p:scale>
          <a:sx n="141" d="100"/>
          <a:sy n="141" d="100"/>
        </p:scale>
        <p:origin x="82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I FRIEDMAN" userId="S::roifr@rafael.co.il::e151349f-86c1-452e-b81b-4c9e72634829" providerId="AD" clId="Web-{9F52875C-FF92-4CA2-B19A-1EDAB975F335}"/>
    <pc:docChg chg="delSld modSld">
      <pc:chgData name="ROI FRIEDMAN" userId="S::roifr@rafael.co.il::e151349f-86c1-452e-b81b-4c9e72634829" providerId="AD" clId="Web-{9F52875C-FF92-4CA2-B19A-1EDAB975F335}" dt="2023-05-21T06:46:14.108" v="1"/>
      <pc:docMkLst>
        <pc:docMk/>
      </pc:docMkLst>
      <pc:sldChg chg="del mod modShow">
        <pc:chgData name="ROI FRIEDMAN" userId="S::roifr@rafael.co.il::e151349f-86c1-452e-b81b-4c9e72634829" providerId="AD" clId="Web-{9F52875C-FF92-4CA2-B19A-1EDAB975F335}" dt="2023-05-21T06:46:14.108" v="1"/>
        <pc:sldMkLst>
          <pc:docMk/>
          <pc:sldMk cId="999802334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B5E74DC-8B91-478D-B57B-607E996AE8C3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DCDDBC0-8826-4A3D-A74A-136A2EB0D38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661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8059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513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4848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690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3534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3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811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799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44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687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128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D42DE-528C-4D7E-A541-1DD2158AAECC}" type="datetimeFigureOut">
              <a:rPr lang="he-IL" smtClean="0"/>
              <a:t>כ"ד/סיון/תשפ"ו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AAA26-01CF-4898-BEFE-9B6188101D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405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2.jpe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033" y="670088"/>
            <a:ext cx="6449934" cy="5099479"/>
          </a:xfrm>
          <a:prstGeom prst="rect">
            <a:avLst/>
          </a:prstGeom>
        </p:spPr>
      </p:pic>
      <p:sp>
        <p:nvSpPr>
          <p:cNvPr id="5" name="Footer Placeholder 3"/>
          <p:cNvSpPr>
            <a:spLocks noGrp="1"/>
          </p:cNvSpPr>
          <p:nvPr>
            <p:ph type="ftr" idx="4294967295"/>
            <p:custDataLst>
              <p:tags r:id="rId1"/>
            </p:custDataLst>
          </p:nvPr>
        </p:nvSpPr>
        <p:spPr>
          <a:xfrm>
            <a:off x="4038599" y="6432291"/>
            <a:ext cx="4114800" cy="365125"/>
          </a:xfrm>
          <a:ln>
            <a:miter lim="800000"/>
          </a:ln>
        </p:spPr>
        <p:txBody>
          <a:bodyPr>
            <a:noAutofit/>
          </a:bodyPr>
          <a:lstStyle>
            <a:lvl1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rtl="1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l" eaLnBrk="0" fontAlgn="base" hangingPunct="0">
              <a:spcBef>
                <a:spcPct val="0"/>
              </a:spcBef>
              <a:spcAft>
                <a:spcPct val="0"/>
              </a:spcAft>
              <a:buSzPct val="10000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he-IL" altLang="en-US" dirty="0">
                <a:ln>
                  <a:noFill/>
                </a:ln>
              </a:rPr>
              <a:t>בלמ"ס</a:t>
            </a:r>
            <a:endParaRPr lang="en-US" altLang="en-US" dirty="0">
              <a:ln>
                <a:noFill/>
              </a:ln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3C93451-A436-EAA1-9980-39FB6877D9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03" y="3903980"/>
            <a:ext cx="306821" cy="306821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B944A87D-9D35-8949-9549-3F3745B732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57" y="3916018"/>
            <a:ext cx="306821" cy="306821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E15DDB5C-7DAC-9087-9415-B0CB34A485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022" y="3903981"/>
            <a:ext cx="306821" cy="306821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03CEEDA2-A0F8-C32E-143E-45D565D525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057" y="2215879"/>
            <a:ext cx="306821" cy="30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8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943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/>
              <a:t>מנגנון הפעולה ממבט של תוכנה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2422"/>
            <a:ext cx="10515600" cy="4974541"/>
          </a:xfrm>
        </p:spPr>
        <p:txBody>
          <a:bodyPr/>
          <a:lstStyle/>
          <a:p>
            <a:pPr marL="0" indent="0" algn="ctr" rtl="1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571" y="5495927"/>
            <a:ext cx="1285128" cy="8273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288" y="5514259"/>
            <a:ext cx="1090052" cy="6540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417" y="5564966"/>
            <a:ext cx="966442" cy="58826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759" y="5495927"/>
            <a:ext cx="887188" cy="88718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9212" y="1709737"/>
            <a:ext cx="9553575" cy="3438525"/>
          </a:xfrm>
          <a:prstGeom prst="rect">
            <a:avLst/>
          </a:prstGeom>
        </p:spPr>
      </p:pic>
      <p:cxnSp>
        <p:nvCxnSpPr>
          <p:cNvPr id="10" name="Straight Connector 9"/>
          <p:cNvCxnSpPr>
            <a:endCxn id="9" idx="0"/>
          </p:cNvCxnSpPr>
          <p:nvPr/>
        </p:nvCxnSpPr>
        <p:spPr>
          <a:xfrm>
            <a:off x="5391402" y="3402124"/>
            <a:ext cx="39912" cy="2112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7" idx="0"/>
          </p:cNvCxnSpPr>
          <p:nvPr/>
        </p:nvCxnSpPr>
        <p:spPr>
          <a:xfrm>
            <a:off x="6658044" y="3372779"/>
            <a:ext cx="26091" cy="2123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12" idx="0"/>
          </p:cNvCxnSpPr>
          <p:nvPr/>
        </p:nvCxnSpPr>
        <p:spPr>
          <a:xfrm>
            <a:off x="3949638" y="3372779"/>
            <a:ext cx="0" cy="2192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004995" y="3396617"/>
            <a:ext cx="0" cy="2123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18817" y="2718303"/>
            <a:ext cx="1262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PCI or AXI Controller</a:t>
            </a:r>
          </a:p>
        </p:txBody>
      </p:sp>
    </p:spTree>
    <p:extLst>
      <p:ext uri="{BB962C8B-B14F-4D97-AF65-F5344CB8AC3E}">
        <p14:creationId xmlns:p14="http://schemas.microsoft.com/office/powerpoint/2010/main" val="89211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943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/>
              <a:t>קריאה/כתיבה סינכרונית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2422"/>
            <a:ext cx="10515600" cy="4974541"/>
          </a:xfrm>
        </p:spPr>
        <p:txBody>
          <a:bodyPr/>
          <a:lstStyle/>
          <a:p>
            <a:pPr marL="0" indent="0" algn="ctr" rtl="1">
              <a:buNone/>
            </a:pP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490" y="5519765"/>
            <a:ext cx="1275009" cy="88718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1709737"/>
            <a:ext cx="9553575" cy="3438525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>
            <a:off x="8004995" y="3396617"/>
            <a:ext cx="0" cy="2123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23878" y="2687646"/>
            <a:ext cx="1262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PCI or AXI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1686" y="3689692"/>
            <a:ext cx="721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9865" y="1880315"/>
            <a:ext cx="605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248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6012" y="5119655"/>
            <a:ext cx="971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 2.3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7983" y="5091054"/>
            <a:ext cx="656050" cy="371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2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2539 0.00209 L -0.02644 -0.31342 L -0.05612 -0.31157 L -0.05495 -0.09745 L -0.50183 -0.09745 L -0.50287 -0.31342 L -0.43425 -0.31342 " pathEditMode="relative" ptsTypes="AAAAAAAA">
                                      <p:cBhvr>
                                        <p:cTn id="15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72" y="5273898"/>
            <a:ext cx="966442" cy="5882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943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/>
              <a:t>קריאה/כתיבה אסינכרונית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338" y="6390594"/>
            <a:ext cx="420710" cy="420710"/>
          </a:xfr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12" y="1709737"/>
            <a:ext cx="9553575" cy="3438525"/>
          </a:xfrm>
          <a:prstGeom prst="rect">
            <a:avLst/>
          </a:prstGeom>
        </p:spPr>
      </p:pic>
      <p:cxnSp>
        <p:nvCxnSpPr>
          <p:cNvPr id="31" name="Straight Connector 30"/>
          <p:cNvCxnSpPr/>
          <p:nvPr/>
        </p:nvCxnSpPr>
        <p:spPr>
          <a:xfrm>
            <a:off x="3949638" y="3372779"/>
            <a:ext cx="17055" cy="1959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93759" y="2702386"/>
            <a:ext cx="1262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PCI or AXI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9866" y="5400502"/>
            <a:ext cx="592428" cy="46166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2859" y="5055889"/>
            <a:ext cx="141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cxnSp>
        <p:nvCxnSpPr>
          <p:cNvPr id="10" name="Straight Connector 9"/>
          <p:cNvCxnSpPr>
            <a:endCxn id="7" idx="1"/>
          </p:cNvCxnSpPr>
          <p:nvPr/>
        </p:nvCxnSpPr>
        <p:spPr>
          <a:xfrm flipV="1">
            <a:off x="4387586" y="5631335"/>
            <a:ext cx="232280" cy="4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2" idx="1"/>
          </p:cNvCxnSpPr>
          <p:nvPr/>
        </p:nvCxnSpPr>
        <p:spPr>
          <a:xfrm flipH="1" flipV="1">
            <a:off x="955343" y="5568032"/>
            <a:ext cx="2528129" cy="1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955343" y="2963996"/>
            <a:ext cx="0" cy="2604036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55343" y="2963996"/>
            <a:ext cx="1146412" cy="0"/>
          </a:xfrm>
          <a:prstGeom prst="straightConnector1">
            <a:avLst/>
          </a:prstGeom>
          <a:ln w="508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6772" y="2517720"/>
            <a:ext cx="110101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900" b="1" dirty="0">
                <a:solidFill>
                  <a:srgbClr val="FF0000"/>
                </a:solidFill>
              </a:rPr>
              <a:t>פסיקה</a:t>
            </a:r>
            <a:endParaRPr lang="en-US" sz="19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13304" y="3665850"/>
            <a:ext cx="870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</a:t>
            </a:r>
            <a:r>
              <a:rPr lang="en-US" sz="2000" dirty="0">
                <a:solidFill>
                  <a:srgbClr val="FF0000"/>
                </a:solidFill>
              </a:rPr>
              <a:t>ead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97540" y="1883391"/>
            <a:ext cx="650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2017" y="5226657"/>
            <a:ext cx="42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64308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0.00013 -0.10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338 -0.35811 L -0.02474 -0.35625 L -0.02578 -0.1176 L -0.14323 -0.1176 L -0.14323 -0.33241 L -0.11419 -0.33033 " pathEditMode="relative" ptsTypes="AAAAAAA">
                                      <p:cBhvr>
                                        <p:cTn id="35" dur="7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943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/>
              <a:t>קריאה/כתיבה אסינכרונית בשילוב </a:t>
            </a:r>
            <a:r>
              <a:rPr lang="en-US" dirty="0">
                <a:solidFill>
                  <a:srgbClr val="FF0000"/>
                </a:solidFill>
              </a:rPr>
              <a:t>DMA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2422"/>
            <a:ext cx="10515600" cy="4974541"/>
          </a:xfrm>
        </p:spPr>
        <p:txBody>
          <a:bodyPr/>
          <a:lstStyle/>
          <a:p>
            <a:pPr marL="0" indent="0" algn="ctr" rtl="1">
              <a:buNone/>
            </a:pP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490" y="5519765"/>
            <a:ext cx="1275009" cy="88718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1709737"/>
            <a:ext cx="9553575" cy="3438525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>
            <a:off x="8004995" y="3396617"/>
            <a:ext cx="0" cy="21231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59872" y="2725374"/>
            <a:ext cx="1262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PCI or AXI Controller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8589180" y="2810176"/>
            <a:ext cx="304317" cy="35361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89454" y="2648693"/>
            <a:ext cx="502276" cy="2211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7812748" y="5005895"/>
            <a:ext cx="384492" cy="28473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812748" y="3405256"/>
            <a:ext cx="384492" cy="28473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184856" y="5937161"/>
            <a:ext cx="61826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184856" y="3163793"/>
            <a:ext cx="0" cy="27733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84856" y="3163793"/>
            <a:ext cx="87576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0310" y="2690506"/>
            <a:ext cx="103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>
                <a:solidFill>
                  <a:srgbClr val="FF0000"/>
                </a:solidFill>
              </a:rPr>
              <a:t>פסיקה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04563" y="3689692"/>
            <a:ext cx="721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7276" y="1893194"/>
            <a:ext cx="799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89454" y="3115047"/>
            <a:ext cx="502276" cy="2211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8989454" y="3115047"/>
            <a:ext cx="502276" cy="2211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6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8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38 0 L -0.0138 0.21227 L -0.57474 0.21227 L -0.5737 -0.0037 L -0.5474 -0.00185 " pathEditMode="relative" ptsTypes="AAAAAA">
                                      <p:cBhvr>
                                        <p:cTn id="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1" grpId="0" animBg="1"/>
      <p:bldP spid="19" grpId="0"/>
      <p:bldP spid="21" grpId="0"/>
      <p:bldP spid="22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3600" u="sng" dirty="0"/>
              <a:t>איך כותבים קוד שפונה לחומרה?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74363"/>
            <a:ext cx="10515600" cy="4602605"/>
          </a:xfrm>
        </p:spPr>
        <p:txBody>
          <a:bodyPr/>
          <a:lstStyle/>
          <a:p>
            <a:r>
              <a:rPr lang="he-IL" dirty="0"/>
              <a:t>משימה: כתבו קוד אשר קורא תו אחד (8 ביט) מערוץ ה- </a:t>
            </a:r>
            <a:r>
              <a:rPr lang="en-US" dirty="0" err="1"/>
              <a:t>uart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sz="1800" dirty="0"/>
              <a:t>		 					</a:t>
            </a:r>
          </a:p>
          <a:p>
            <a:pPr marL="0" indent="0">
              <a:buNone/>
            </a:pPr>
            <a:endParaRPr lang="he-IL" sz="1800" dirty="0"/>
          </a:p>
          <a:p>
            <a:pPr marL="0" indent="0">
              <a:buNone/>
            </a:pPr>
            <a:endParaRPr lang="he-IL" sz="1800" dirty="0"/>
          </a:p>
          <a:p>
            <a:pPr marL="0" indent="0">
              <a:buNone/>
            </a:pPr>
            <a:endParaRPr lang="he-IL" sz="1800" dirty="0"/>
          </a:p>
          <a:p>
            <a:pPr marL="0" indent="0">
              <a:buNone/>
            </a:pPr>
            <a:endParaRPr lang="he-IL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68" y="2414685"/>
            <a:ext cx="6028864" cy="12995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259" y="4109030"/>
            <a:ext cx="2847975" cy="134302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בלמ"ס</a:t>
            </a:r>
          </a:p>
        </p:txBody>
      </p:sp>
    </p:spTree>
    <p:extLst>
      <p:ext uri="{BB962C8B-B14F-4D97-AF65-F5344CB8AC3E}">
        <p14:creationId xmlns:p14="http://schemas.microsoft.com/office/powerpoint/2010/main" val="920984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51424"/>
          </a:xfrm>
        </p:spPr>
        <p:txBody>
          <a:bodyPr/>
          <a:lstStyle/>
          <a:p>
            <a:pPr algn="ctr"/>
            <a:r>
              <a:rPr lang="he-IL" u="sng" dirty="0"/>
              <a:t>גישת המעבד</a:t>
            </a:r>
            <a:r>
              <a:rPr lang="en-US" u="sng" dirty="0"/>
              <a:t>(CPU)</a:t>
            </a:r>
            <a:r>
              <a:rPr lang="he-IL" u="sng" dirty="0"/>
              <a:t> להתקני קלט/פלט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בלמ"ס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1E708DC-0FB9-4EFD-E798-653BCAD928A2}"/>
              </a:ext>
            </a:extLst>
          </p:cNvPr>
          <p:cNvSpPr txBox="1"/>
          <p:nvPr/>
        </p:nvSpPr>
        <p:spPr>
          <a:xfrm>
            <a:off x="838200" y="1396374"/>
            <a:ext cx="10628211" cy="48013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ישנן שתי דרכים מקובלות לגישת מעבד להתקני פלט/קלט:</a:t>
            </a:r>
          </a:p>
          <a:p>
            <a:pPr marL="800100" lvl="1" indent="-342900">
              <a:buAutoNum type="arabicPeriod"/>
            </a:pPr>
            <a:r>
              <a:rPr lang="en-US" dirty="0"/>
              <a:t>I/O Ports</a:t>
            </a:r>
            <a:r>
              <a:rPr lang="he-IL" dirty="0"/>
              <a:t> – קיים במעבדי אינטל לטובת תמיכה לאחור</a:t>
            </a:r>
            <a:endParaRPr lang="en-US" dirty="0"/>
          </a:p>
          <a:p>
            <a:pPr marL="800100" lvl="1" indent="-342900">
              <a:buAutoNum type="arabicPeriod"/>
            </a:pPr>
            <a:r>
              <a:rPr lang="he-IL" b="1" dirty="0"/>
              <a:t> </a:t>
            </a:r>
            <a:r>
              <a:rPr lang="en-US" b="1" dirty="0"/>
              <a:t>Memory-Mapped I/O (MMIO)</a:t>
            </a:r>
            <a:r>
              <a:rPr lang="he-IL" b="1" dirty="0"/>
              <a:t> – שיטה הקיימת בארכיטקטורות </a:t>
            </a:r>
            <a:r>
              <a:rPr lang="en-US" b="1" dirty="0"/>
              <a:t>ARM</a:t>
            </a:r>
            <a:r>
              <a:rPr lang="he-IL" b="1" dirty="0"/>
              <a:t>, אינטל שהן הארכיטקטורות הנפוצות.</a:t>
            </a:r>
          </a:p>
          <a:p>
            <a:r>
              <a:rPr lang="he-IL" dirty="0"/>
              <a:t> </a:t>
            </a:r>
          </a:p>
          <a:p>
            <a:r>
              <a:rPr lang="en-US" sz="2000" u="sng" dirty="0"/>
              <a:t>Memory-mapped I/O (MMIO)</a:t>
            </a:r>
            <a:r>
              <a:rPr lang="he-IL" sz="20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בשיטה זו מרחב הכתובות מחולק בין הזיכרון (</a:t>
            </a:r>
            <a:r>
              <a:rPr lang="en-US" dirty="0"/>
              <a:t>RAM</a:t>
            </a:r>
            <a:r>
              <a:rPr lang="he-IL" dirty="0"/>
              <a:t>) ובין כל התקני ה-</a:t>
            </a:r>
            <a:r>
              <a:rPr lang="en-US" dirty="0"/>
              <a:t>I/O</a:t>
            </a:r>
            <a:r>
              <a:rPr lang="he-IL" dirty="0"/>
              <a:t> </a:t>
            </a:r>
            <a:r>
              <a:rPr lang="en-US" dirty="0"/>
              <a:t>(</a:t>
            </a:r>
            <a:r>
              <a:rPr lang="en-US" sz="1600" dirty="0"/>
              <a:t>FPGA, Hard Disk, Graphic Card, Keyboard…)</a:t>
            </a:r>
            <a:r>
              <a:rPr lang="he-IL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כל התקן מקבל תחום או מספר תחומי כתובות הממופים אליו.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פנייה של המעבד לכתובת </a:t>
            </a:r>
            <a:r>
              <a:rPr lang="en-US" dirty="0"/>
              <a:t>X</a:t>
            </a:r>
            <a:r>
              <a:rPr lang="he-IL" dirty="0"/>
              <a:t> </a:t>
            </a:r>
            <a:r>
              <a:rPr lang="he-IL" dirty="0" err="1"/>
              <a:t>המשוייכת</a:t>
            </a:r>
            <a:r>
              <a:rPr lang="he-IL" dirty="0"/>
              <a:t>/ממופה להתקן </a:t>
            </a:r>
            <a:r>
              <a:rPr lang="en-US" dirty="0"/>
              <a:t>Y</a:t>
            </a:r>
            <a:r>
              <a:rPr lang="he-IL" dirty="0"/>
              <a:t> תגרום לגישת כתיבה/קריאה להתקן </a:t>
            </a:r>
            <a:r>
              <a:rPr lang="en-US" dirty="0"/>
              <a:t>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מוגבלת למרחב הכתובות שמגדירה הארכיטקטורה:</a:t>
            </a:r>
          </a:p>
          <a:p>
            <a:r>
              <a:rPr lang="he-IL" dirty="0"/>
              <a:t>     </a:t>
            </a:r>
            <a:r>
              <a:rPr lang="en-US" dirty="0"/>
              <a:t>32bit = 4G addresses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המעבד פונה לכתובות אלה בדיוק כפי שפונה לזיכרון.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פקודות מכונה של פנייה לזיכרון – </a:t>
            </a:r>
            <a:r>
              <a:rPr lang="en-US" dirty="0"/>
              <a:t>mov </a:t>
            </a:r>
            <a:r>
              <a:rPr lang="en-US" dirty="0" err="1"/>
              <a:t>dest</a:t>
            </a:r>
            <a:r>
              <a:rPr lang="en-US" dirty="0"/>
              <a:t>, </a:t>
            </a:r>
            <a:r>
              <a:rPr lang="en-US" dirty="0" err="1"/>
              <a:t>src</a:t>
            </a:r>
            <a:r>
              <a:rPr lang="he-IL" dirty="0"/>
              <a:t> או </a:t>
            </a:r>
            <a:r>
              <a:rPr lang="en-US" dirty="0"/>
              <a:t>load/store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ה- </a:t>
            </a:r>
            <a:r>
              <a:rPr lang="en-US" dirty="0"/>
              <a:t>bus</a:t>
            </a:r>
            <a:r>
              <a:rPr lang="he-IL" dirty="0"/>
              <a:t> שדרכו המעבד פונה לזיכרון משמש גם לפניות להתקני ה-</a:t>
            </a:r>
            <a:r>
              <a:rPr lang="en-US" dirty="0"/>
              <a:t>I/O</a:t>
            </a:r>
            <a:endParaRPr lang="he-IL" dirty="0"/>
          </a:p>
          <a:p>
            <a:endParaRPr lang="he-I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7854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32"/>
            <a:ext cx="10515600" cy="681249"/>
          </a:xfrm>
        </p:spPr>
        <p:txBody>
          <a:bodyPr>
            <a:normAutofit/>
          </a:bodyPr>
          <a:lstStyle/>
          <a:p>
            <a:pPr algn="ctr"/>
            <a:r>
              <a:rPr lang="he-IL" sz="3600" u="sng" dirty="0"/>
              <a:t>נסו לפתור את המשימה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8611"/>
            <a:ext cx="10515600" cy="4838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	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r>
              <a:rPr lang="he-IL" dirty="0"/>
              <a:t>			     	      הצעה לפתרון:</a:t>
            </a:r>
          </a:p>
          <a:p>
            <a:pPr marL="0" indent="0" algn="l" rtl="0">
              <a:buNone/>
            </a:pPr>
            <a:r>
              <a:rPr lang="en-US" sz="1600" dirty="0"/>
              <a:t>  </a:t>
            </a:r>
          </a:p>
          <a:p>
            <a:pPr marL="0" indent="0" algn="l" rtl="0">
              <a:buNone/>
            </a:pPr>
            <a:r>
              <a:rPr lang="en-US" sz="1800" dirty="0"/>
              <a:t>		               unsigned int *</a:t>
            </a:r>
            <a:r>
              <a:rPr lang="en-US" sz="1800" dirty="0" err="1"/>
              <a:t>baseAddress</a:t>
            </a:r>
            <a:r>
              <a:rPr lang="en-US" sz="1800" dirty="0"/>
              <a:t> = 0xFFC02000; </a:t>
            </a:r>
            <a:r>
              <a:rPr lang="he-IL" sz="1800" dirty="0"/>
              <a:t>	</a:t>
            </a:r>
            <a:r>
              <a:rPr lang="en-US" sz="1800" dirty="0"/>
              <a:t>	</a:t>
            </a:r>
          </a:p>
          <a:p>
            <a:pPr marL="0" indent="0" algn="ctr" rtl="0">
              <a:buNone/>
            </a:pPr>
            <a:r>
              <a:rPr lang="en-US" sz="1800" dirty="0"/>
              <a:t>unsigned char </a:t>
            </a:r>
            <a:r>
              <a:rPr lang="en-US" sz="1800" dirty="0" err="1"/>
              <a:t>rx_val</a:t>
            </a:r>
            <a:r>
              <a:rPr lang="en-US" sz="1800" dirty="0"/>
              <a:t> = *(unsigned char *)</a:t>
            </a:r>
            <a:r>
              <a:rPr lang="en-US" sz="1800" dirty="0" err="1"/>
              <a:t>baseAddress</a:t>
            </a:r>
            <a:r>
              <a:rPr lang="en-US" sz="1800" dirty="0"/>
              <a:t>;       </a:t>
            </a:r>
            <a:r>
              <a:rPr lang="en-US" dirty="0"/>
              <a:t>  </a:t>
            </a:r>
            <a:endParaRPr lang="en-US" sz="1800" dirty="0"/>
          </a:p>
          <a:p>
            <a:pPr marL="0" indent="0" algn="ctr" rtl="0">
              <a:buNone/>
            </a:pPr>
            <a:endParaRPr lang="en-US" sz="1800" dirty="0"/>
          </a:p>
          <a:p>
            <a:pPr marL="0" indent="0" algn="ctr" rtl="0">
              <a:buNone/>
            </a:pP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68" y="1850481"/>
            <a:ext cx="6028864" cy="1299541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בלמ"ס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7CF26A1-2E14-8A0A-E84D-45C11B6467FC}"/>
              </a:ext>
            </a:extLst>
          </p:cNvPr>
          <p:cNvSpPr/>
          <p:nvPr/>
        </p:nvSpPr>
        <p:spPr>
          <a:xfrm>
            <a:off x="2750489" y="5335326"/>
            <a:ext cx="6691022" cy="7156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B9A748A-803E-899F-F94F-FD5912FA9AEB}"/>
              </a:ext>
            </a:extLst>
          </p:cNvPr>
          <p:cNvSpPr txBox="1"/>
          <p:nvPr/>
        </p:nvSpPr>
        <p:spPr>
          <a:xfrm>
            <a:off x="2862470" y="5519389"/>
            <a:ext cx="657904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1800" dirty="0"/>
              <a:t>#</a:t>
            </a:r>
            <a:r>
              <a:rPr lang="he-IL" sz="1800" dirty="0"/>
              <a:t> </a:t>
            </a:r>
            <a:r>
              <a:rPr lang="en-US" sz="1800" dirty="0"/>
              <a:t>cat  /proc/</a:t>
            </a:r>
            <a:r>
              <a:rPr lang="en-US" sz="1800" dirty="0" err="1"/>
              <a:t>iomem</a:t>
            </a:r>
            <a:r>
              <a:rPr lang="en-US" sz="1800" dirty="0"/>
              <a:t> – </a:t>
            </a:r>
            <a:r>
              <a:rPr lang="he-IL" sz="1800" dirty="0"/>
              <a:t>מציג את חלוקת הכתובות (פיסיות) של ההתקנים</a:t>
            </a:r>
          </a:p>
          <a:p>
            <a:pPr algn="l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4031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251"/>
          </a:xfrm>
        </p:spPr>
        <p:txBody>
          <a:bodyPr>
            <a:normAutofit/>
          </a:bodyPr>
          <a:lstStyle/>
          <a:p>
            <a:pPr algn="ctr"/>
            <a:r>
              <a:rPr lang="he-IL" sz="3600" u="sng" dirty="0"/>
              <a:t>המשך הניסיון</a:t>
            </a:r>
            <a:endParaRPr lang="he-IL" sz="4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0331"/>
            <a:ext cx="10515600" cy="4866637"/>
          </a:xfrm>
        </p:spPr>
        <p:txBody>
          <a:bodyPr>
            <a:normAutofit/>
          </a:bodyPr>
          <a:lstStyle/>
          <a:p>
            <a:r>
              <a:rPr lang="he-IL" sz="3600" dirty="0"/>
              <a:t>האם הפתרון יעבוד???</a:t>
            </a:r>
          </a:p>
          <a:p>
            <a:endParaRPr lang="he-IL" sz="3600" dirty="0"/>
          </a:p>
          <a:p>
            <a:r>
              <a:rPr lang="he-IL" sz="3600" dirty="0"/>
              <a:t>לא בהכרח! תלוי בהרשאות שניתנות לקוד שרץ.</a:t>
            </a:r>
          </a:p>
          <a:p>
            <a:pPr marL="0" indent="0">
              <a:buNone/>
            </a:pPr>
            <a:r>
              <a:rPr lang="he-IL" sz="3600" dirty="0"/>
              <a:t>  נרחיב על כך בהמשך.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8959" y="5029327"/>
            <a:ext cx="2780951" cy="2540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en-US" sz="1051" dirty="0"/>
              <a:t>Tux - </a:t>
            </a:r>
            <a:r>
              <a:rPr lang="en-US" sz="1051" dirty="0" err="1"/>
              <a:t>linux</a:t>
            </a:r>
            <a:r>
              <a:rPr lang="en-US" sz="1051" dirty="0"/>
              <a:t> mascot</a:t>
            </a:r>
            <a:endParaRPr lang="he-IL" sz="105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810" y="4256712"/>
            <a:ext cx="1330151" cy="15452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909" y="4597443"/>
            <a:ext cx="1619251" cy="13716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בלמ"ס</a:t>
            </a:r>
          </a:p>
        </p:txBody>
      </p:sp>
    </p:spTree>
    <p:extLst>
      <p:ext uri="{BB962C8B-B14F-4D97-AF65-F5344CB8AC3E}">
        <p14:creationId xmlns:p14="http://schemas.microsoft.com/office/powerpoint/2010/main" val="27877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5558362-1C72-4A84-9C0E-01C27B2A116A}"/>
              </a:ext>
            </a:extLst>
          </p:cNvPr>
          <p:cNvSpPr txBox="1"/>
          <p:nvPr/>
        </p:nvSpPr>
        <p:spPr>
          <a:xfrm>
            <a:off x="1050022" y="268609"/>
            <a:ext cx="1024295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dirty="0"/>
              <a:t>פריבילגיות של מערכת ההפעלה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4D16729-9AD6-497E-A234-5EB19F129A44}"/>
              </a:ext>
            </a:extLst>
          </p:cNvPr>
          <p:cNvSpPr txBox="1"/>
          <p:nvPr/>
        </p:nvSpPr>
        <p:spPr>
          <a:xfrm>
            <a:off x="3280096" y="1191615"/>
            <a:ext cx="831349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/>
              <a:t>למערכת ההפעלה יש שלוש פריבילגיות שלאפליקציה אין: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F5B8284-FDF9-492A-BF91-649C94390223}"/>
              </a:ext>
            </a:extLst>
          </p:cNvPr>
          <p:cNvSpPr txBox="1"/>
          <p:nvPr/>
        </p:nvSpPr>
        <p:spPr>
          <a:xfrm>
            <a:off x="3340216" y="1740974"/>
            <a:ext cx="831349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/>
              <a:t>1. גישה לרגיסטרים של </a:t>
            </a:r>
            <a:r>
              <a:rPr lang="he-IL" sz="2000" dirty="0" err="1"/>
              <a:t>קינפוג</a:t>
            </a:r>
            <a:r>
              <a:rPr lang="he-IL" sz="2000" dirty="0"/>
              <a:t> החומרה. 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213A0B4-AEBF-4B4B-86C7-09911F04C341}"/>
              </a:ext>
            </a:extLst>
          </p:cNvPr>
          <p:cNvSpPr txBox="1"/>
          <p:nvPr/>
        </p:nvSpPr>
        <p:spPr>
          <a:xfrm>
            <a:off x="3340216" y="2156072"/>
            <a:ext cx="831349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/>
              <a:t>2. הרצת פקודות מכונה </a:t>
            </a:r>
            <a:r>
              <a:rPr lang="he-IL" sz="2000" dirty="0" err="1"/>
              <a:t>מסויימות</a:t>
            </a:r>
            <a:r>
              <a:rPr lang="he-IL" sz="2000" dirty="0"/>
              <a:t> כגון: </a:t>
            </a:r>
            <a:r>
              <a:rPr lang="en-US" sz="2000" dirty="0"/>
              <a:t>cli, </a:t>
            </a:r>
            <a:r>
              <a:rPr lang="en-US" sz="2000" dirty="0" err="1"/>
              <a:t>sti</a:t>
            </a:r>
            <a:endParaRPr lang="he-IL" sz="2000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271C20B-9DB1-4876-A44B-C5385D11493B}"/>
              </a:ext>
            </a:extLst>
          </p:cNvPr>
          <p:cNvSpPr txBox="1"/>
          <p:nvPr/>
        </p:nvSpPr>
        <p:spPr>
          <a:xfrm>
            <a:off x="1124125" y="2617096"/>
            <a:ext cx="1052958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dirty="0"/>
              <a:t>3. שליטה בטבלאות המרת הכתובות             שליטה בכתובות שהאפליקציה יכולה לגשת אליהן.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BA646AD5-C3FD-4E32-9F96-128F6E28F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3" t="8572" r="22290" b="73876"/>
          <a:stretch/>
        </p:blipFill>
        <p:spPr>
          <a:xfrm rot="17958175" flipV="1">
            <a:off x="7301738" y="2499819"/>
            <a:ext cx="553861" cy="634663"/>
          </a:xfrm>
          <a:prstGeom prst="rect">
            <a:avLst/>
          </a:prstGeom>
        </p:spPr>
      </p:pic>
      <p:sp>
        <p:nvSpPr>
          <p:cNvPr id="14" name="מלבן 13">
            <a:extLst>
              <a:ext uri="{FF2B5EF4-FFF2-40B4-BE49-F238E27FC236}">
                <a16:creationId xmlns:a16="http://schemas.microsoft.com/office/drawing/2014/main" id="{53CB09BA-BE3B-4EDC-9DC7-8B4AAC96E3DB}"/>
              </a:ext>
            </a:extLst>
          </p:cNvPr>
          <p:cNvSpPr/>
          <p:nvPr/>
        </p:nvSpPr>
        <p:spPr>
          <a:xfrm>
            <a:off x="4513277" y="3358937"/>
            <a:ext cx="4815280" cy="3117364"/>
          </a:xfrm>
          <a:prstGeom prst="rect">
            <a:avLst/>
          </a:prstGeom>
          <a:noFill/>
          <a:ln>
            <a:solidFill>
              <a:srgbClr val="4A85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4A8522"/>
              </a:solidFill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DC287369-7F85-4130-97BC-D9E5010BD5B9}"/>
              </a:ext>
            </a:extLst>
          </p:cNvPr>
          <p:cNvSpPr txBox="1"/>
          <p:nvPr/>
        </p:nvSpPr>
        <p:spPr>
          <a:xfrm>
            <a:off x="6423171" y="3162186"/>
            <a:ext cx="107379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2000" b="1" dirty="0">
                <a:solidFill>
                  <a:srgbClr val="4A8522"/>
                </a:solidFill>
              </a:rPr>
              <a:t>זיכרון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EE0510B4-0CA1-40DD-B672-ADD9E0E0D5E8}"/>
              </a:ext>
            </a:extLst>
          </p:cNvPr>
          <p:cNvSpPr/>
          <p:nvPr/>
        </p:nvSpPr>
        <p:spPr>
          <a:xfrm>
            <a:off x="5852144" y="3766249"/>
            <a:ext cx="2138789" cy="1091756"/>
          </a:xfrm>
          <a:prstGeom prst="rect">
            <a:avLst/>
          </a:prstGeom>
          <a:noFill/>
          <a:ln>
            <a:solidFill>
              <a:srgbClr val="4A85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4A8522"/>
              </a:solidFill>
            </a:endParaRP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B0B4F5B7-B76C-454C-94CE-E786E5677D6E}"/>
              </a:ext>
            </a:extLst>
          </p:cNvPr>
          <p:cNvSpPr/>
          <p:nvPr/>
        </p:nvSpPr>
        <p:spPr>
          <a:xfrm>
            <a:off x="5852144" y="5199736"/>
            <a:ext cx="2138789" cy="1091756"/>
          </a:xfrm>
          <a:prstGeom prst="rect">
            <a:avLst/>
          </a:prstGeom>
          <a:noFill/>
          <a:ln>
            <a:solidFill>
              <a:srgbClr val="4A85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4A8522"/>
              </a:solidFill>
            </a:endParaRP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27C37B08-A816-4BBF-8CC1-D9131E8A90BB}"/>
              </a:ext>
            </a:extLst>
          </p:cNvPr>
          <p:cNvSpPr txBox="1"/>
          <p:nvPr/>
        </p:nvSpPr>
        <p:spPr>
          <a:xfrm>
            <a:off x="6493079" y="3626999"/>
            <a:ext cx="78017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1400" dirty="0">
                <a:solidFill>
                  <a:srgbClr val="4A8522"/>
                </a:solidFill>
              </a:rPr>
              <a:t>קוד מ"ה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7EC850E3-A5A3-4A0D-8BF6-3AFAB81DDAF5}"/>
              </a:ext>
            </a:extLst>
          </p:cNvPr>
          <p:cNvSpPr txBox="1"/>
          <p:nvPr/>
        </p:nvSpPr>
        <p:spPr>
          <a:xfrm>
            <a:off x="6458125" y="4997255"/>
            <a:ext cx="85008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1400" dirty="0">
                <a:solidFill>
                  <a:srgbClr val="4A8522"/>
                </a:solidFill>
              </a:rPr>
              <a:t>קוד אפליקציה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11EA3994-8972-4AED-B8EE-24F24FD48CCF}"/>
              </a:ext>
            </a:extLst>
          </p:cNvPr>
          <p:cNvSpPr txBox="1"/>
          <p:nvPr/>
        </p:nvSpPr>
        <p:spPr>
          <a:xfrm>
            <a:off x="6023295" y="3934776"/>
            <a:ext cx="182880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110101010101010101000111110110101111101001011100101010</a:t>
            </a:r>
            <a:endParaRPr lang="he-IL" sz="1400" dirty="0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40E09330-171A-4EFB-8943-E2F438BBD23A}"/>
              </a:ext>
            </a:extLst>
          </p:cNvPr>
          <p:cNvSpPr txBox="1"/>
          <p:nvPr/>
        </p:nvSpPr>
        <p:spPr>
          <a:xfrm>
            <a:off x="6023295" y="5460588"/>
            <a:ext cx="182880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110101010101010101000111110110101111101001011100101010</a:t>
            </a:r>
            <a:endParaRPr lang="he-IL" sz="1400" dirty="0"/>
          </a:p>
        </p:txBody>
      </p:sp>
      <p:pic>
        <p:nvPicPr>
          <p:cNvPr id="25" name="גרפיקה 24" descr="חץ ימינה קו מיתאר">
            <a:extLst>
              <a:ext uri="{FF2B5EF4-FFF2-40B4-BE49-F238E27FC236}">
                <a16:creationId xmlns:a16="http://schemas.microsoft.com/office/drawing/2014/main" id="{D583B4E7-363D-4266-A885-382F6A3816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27770" flipH="1">
            <a:off x="5379385" y="3822393"/>
            <a:ext cx="504334" cy="440367"/>
          </a:xfrm>
          <a:prstGeom prst="rect">
            <a:avLst/>
          </a:prstGeom>
        </p:spPr>
      </p:pic>
      <p:pic>
        <p:nvPicPr>
          <p:cNvPr id="26" name="גרפיקה 25" descr="חץ ימינה קו מיתאר">
            <a:extLst>
              <a:ext uri="{FF2B5EF4-FFF2-40B4-BE49-F238E27FC236}">
                <a16:creationId xmlns:a16="http://schemas.microsoft.com/office/drawing/2014/main" id="{10BF8886-AF5B-4D9D-B7FF-1A81BEDC28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386632" y="4084681"/>
            <a:ext cx="504334" cy="440367"/>
          </a:xfrm>
          <a:prstGeom prst="rect">
            <a:avLst/>
          </a:prstGeom>
        </p:spPr>
      </p:pic>
      <p:pic>
        <p:nvPicPr>
          <p:cNvPr id="27" name="גרפיקה 26" descr="חץ ימינה קו מיתאר">
            <a:extLst>
              <a:ext uri="{FF2B5EF4-FFF2-40B4-BE49-F238E27FC236}">
                <a16:creationId xmlns:a16="http://schemas.microsoft.com/office/drawing/2014/main" id="{249CC768-4E6F-445E-8469-03199F3B37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260638" flipH="1">
            <a:off x="5411274" y="4372450"/>
            <a:ext cx="504334" cy="440367"/>
          </a:xfrm>
          <a:prstGeom prst="rect">
            <a:avLst/>
          </a:prstGeom>
        </p:spPr>
      </p:pic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B28E6209-4A51-418D-887C-3240E53BD7FB}"/>
              </a:ext>
            </a:extLst>
          </p:cNvPr>
          <p:cNvSpPr txBox="1"/>
          <p:nvPr/>
        </p:nvSpPr>
        <p:spPr>
          <a:xfrm>
            <a:off x="4027726" y="3710557"/>
            <a:ext cx="1297993" cy="307777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dirty="0"/>
              <a:t>mov cr1, 0x1</a:t>
            </a:r>
            <a:endParaRPr lang="he-IL" sz="1400" dirty="0"/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2682184C-1570-491D-9E52-26E69C73A61E}"/>
              </a:ext>
            </a:extLst>
          </p:cNvPr>
          <p:cNvSpPr txBox="1"/>
          <p:nvPr/>
        </p:nvSpPr>
        <p:spPr>
          <a:xfrm>
            <a:off x="3335949" y="4577366"/>
            <a:ext cx="1999997" cy="523220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sz="1400" dirty="0"/>
              <a:t>int *</a:t>
            </a:r>
            <a:r>
              <a:rPr lang="en-US" sz="1400" dirty="0" err="1"/>
              <a:t>fpga_reg</a:t>
            </a:r>
            <a:r>
              <a:rPr lang="en-US" sz="1400" dirty="0"/>
              <a:t> = 0x1000;</a:t>
            </a:r>
          </a:p>
          <a:p>
            <a:pPr algn="l" rtl="0"/>
            <a:r>
              <a:rPr lang="en-US" sz="1400" dirty="0"/>
              <a:t>Int </a:t>
            </a:r>
            <a:r>
              <a:rPr lang="en-US" sz="1400" dirty="0" err="1"/>
              <a:t>ver</a:t>
            </a:r>
            <a:r>
              <a:rPr lang="en-US" sz="1400" dirty="0"/>
              <a:t> = *</a:t>
            </a:r>
            <a:r>
              <a:rPr lang="en-US" sz="1400" dirty="0" err="1"/>
              <a:t>fpga_reg</a:t>
            </a:r>
            <a:r>
              <a:rPr lang="en-US" sz="1400" dirty="0"/>
              <a:t>;</a:t>
            </a:r>
            <a:endParaRPr lang="he-IL" sz="1400" dirty="0"/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F8DA00DD-4387-49DA-8FB0-4922A61C5C00}"/>
              </a:ext>
            </a:extLst>
          </p:cNvPr>
          <p:cNvSpPr txBox="1"/>
          <p:nvPr/>
        </p:nvSpPr>
        <p:spPr>
          <a:xfrm>
            <a:off x="4024717" y="4164468"/>
            <a:ext cx="1297993" cy="307777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txBody>
          <a:bodyPr wrap="square" rtlCol="1">
            <a:spAutoFit/>
          </a:bodyPr>
          <a:lstStyle/>
          <a:p>
            <a:pPr algn="ctr" rtl="0"/>
            <a:r>
              <a:rPr lang="en-US" sz="1400" dirty="0"/>
              <a:t>cli</a:t>
            </a:r>
            <a:endParaRPr lang="he-IL" sz="1400" dirty="0"/>
          </a:p>
        </p:txBody>
      </p:sp>
      <p:pic>
        <p:nvPicPr>
          <p:cNvPr id="31" name="גרפיקה 30" descr="חץ ימינה קו מיתאר">
            <a:extLst>
              <a:ext uri="{FF2B5EF4-FFF2-40B4-BE49-F238E27FC236}">
                <a16:creationId xmlns:a16="http://schemas.microsoft.com/office/drawing/2014/main" id="{775FF051-1779-43A9-BF2F-52311FC3B3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27770" flipH="1">
            <a:off x="5366149" y="5350548"/>
            <a:ext cx="504334" cy="440367"/>
          </a:xfrm>
          <a:prstGeom prst="rect">
            <a:avLst/>
          </a:prstGeom>
        </p:spPr>
      </p:pic>
      <p:pic>
        <p:nvPicPr>
          <p:cNvPr id="32" name="גרפיקה 31" descr="חץ ימינה קו מיתאר">
            <a:extLst>
              <a:ext uri="{FF2B5EF4-FFF2-40B4-BE49-F238E27FC236}">
                <a16:creationId xmlns:a16="http://schemas.microsoft.com/office/drawing/2014/main" id="{4CED284E-3C8D-4F29-B33D-AF934A6B8A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373396" y="5612836"/>
            <a:ext cx="504334" cy="440367"/>
          </a:xfrm>
          <a:prstGeom prst="rect">
            <a:avLst/>
          </a:prstGeom>
        </p:spPr>
      </p:pic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6EBBEC8C-DE98-4F81-A84C-4337D3E6F229}"/>
              </a:ext>
            </a:extLst>
          </p:cNvPr>
          <p:cNvSpPr txBox="1"/>
          <p:nvPr/>
        </p:nvSpPr>
        <p:spPr>
          <a:xfrm>
            <a:off x="4014490" y="5238712"/>
            <a:ext cx="1297993" cy="307777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dirty="0"/>
              <a:t>mov cr1, 0x1</a:t>
            </a:r>
            <a:endParaRPr lang="he-IL" sz="1400" dirty="0"/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E2B21EE3-C1A8-4CA2-B209-94E45EACC2C6}"/>
              </a:ext>
            </a:extLst>
          </p:cNvPr>
          <p:cNvSpPr txBox="1"/>
          <p:nvPr/>
        </p:nvSpPr>
        <p:spPr>
          <a:xfrm>
            <a:off x="3322713" y="6105521"/>
            <a:ext cx="1999997" cy="523220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sz="1400" dirty="0"/>
              <a:t>int *</a:t>
            </a:r>
            <a:r>
              <a:rPr lang="en-US" sz="1400" dirty="0" err="1"/>
              <a:t>fpga_reg</a:t>
            </a:r>
            <a:r>
              <a:rPr lang="en-US" sz="1400" dirty="0"/>
              <a:t> = 0x1000;</a:t>
            </a:r>
          </a:p>
          <a:p>
            <a:pPr algn="l" rtl="0"/>
            <a:r>
              <a:rPr lang="en-US" sz="1400" dirty="0"/>
              <a:t>Int </a:t>
            </a:r>
            <a:r>
              <a:rPr lang="en-US" sz="1400" dirty="0" err="1"/>
              <a:t>ver</a:t>
            </a:r>
            <a:r>
              <a:rPr lang="en-US" sz="1400" dirty="0"/>
              <a:t> = *</a:t>
            </a:r>
            <a:r>
              <a:rPr lang="en-US" sz="1400" dirty="0" err="1"/>
              <a:t>fpga_reg</a:t>
            </a:r>
            <a:r>
              <a:rPr lang="en-US" sz="1400" dirty="0"/>
              <a:t>;</a:t>
            </a:r>
            <a:endParaRPr lang="he-IL" sz="1400" dirty="0"/>
          </a:p>
        </p:txBody>
      </p: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93199E28-AF43-46E6-A9DB-8979B9F18F2C}"/>
              </a:ext>
            </a:extLst>
          </p:cNvPr>
          <p:cNvSpPr txBox="1"/>
          <p:nvPr/>
        </p:nvSpPr>
        <p:spPr>
          <a:xfrm>
            <a:off x="4011481" y="5692623"/>
            <a:ext cx="1297993" cy="307777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txBody>
          <a:bodyPr wrap="square" rtlCol="1">
            <a:spAutoFit/>
          </a:bodyPr>
          <a:lstStyle/>
          <a:p>
            <a:pPr algn="ctr" rtl="0"/>
            <a:r>
              <a:rPr lang="en-US" sz="1400" dirty="0"/>
              <a:t>cli</a:t>
            </a:r>
            <a:endParaRPr lang="he-IL" sz="1400" dirty="0"/>
          </a:p>
        </p:txBody>
      </p:sp>
      <p:pic>
        <p:nvPicPr>
          <p:cNvPr id="36" name="גרפיקה 35" descr="חץ ימינה קו מיתאר">
            <a:extLst>
              <a:ext uri="{FF2B5EF4-FFF2-40B4-BE49-F238E27FC236}">
                <a16:creationId xmlns:a16="http://schemas.microsoft.com/office/drawing/2014/main" id="{54FEB35E-2F5E-4EBB-BA1B-F2224AB3CF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260638" flipH="1">
            <a:off x="5387443" y="5916827"/>
            <a:ext cx="504334" cy="440367"/>
          </a:xfrm>
          <a:prstGeom prst="rect">
            <a:avLst/>
          </a:prstGeom>
        </p:spPr>
      </p:pic>
      <p:pic>
        <p:nvPicPr>
          <p:cNvPr id="38" name="גרפיקה 37" descr="תיבת סימון עם v עם מילוי מלא">
            <a:extLst>
              <a:ext uri="{FF2B5EF4-FFF2-40B4-BE49-F238E27FC236}">
                <a16:creationId xmlns:a16="http://schemas.microsoft.com/office/drawing/2014/main" id="{1D124E11-2233-4041-934A-18A65B2DF2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5414" y="3570054"/>
            <a:ext cx="564783" cy="564783"/>
          </a:xfrm>
          <a:prstGeom prst="rect">
            <a:avLst/>
          </a:prstGeom>
        </p:spPr>
      </p:pic>
      <p:pic>
        <p:nvPicPr>
          <p:cNvPr id="39" name="גרפיקה 38" descr="תיבת סימון עם v עם מילוי מלא">
            <a:extLst>
              <a:ext uri="{FF2B5EF4-FFF2-40B4-BE49-F238E27FC236}">
                <a16:creationId xmlns:a16="http://schemas.microsoft.com/office/drawing/2014/main" id="{93F33B55-1FE3-490C-84E1-FBB57CC61A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5415" y="4044873"/>
            <a:ext cx="564783" cy="564783"/>
          </a:xfrm>
          <a:prstGeom prst="rect">
            <a:avLst/>
          </a:prstGeom>
        </p:spPr>
      </p:pic>
      <p:pic>
        <p:nvPicPr>
          <p:cNvPr id="40" name="גרפיקה 39" descr="תיבת סימון עם v עם מילוי מלא">
            <a:extLst>
              <a:ext uri="{FF2B5EF4-FFF2-40B4-BE49-F238E27FC236}">
                <a16:creationId xmlns:a16="http://schemas.microsoft.com/office/drawing/2014/main" id="{B7721C34-4347-49E9-8C00-C968423707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99959" y="4525048"/>
            <a:ext cx="564783" cy="564783"/>
          </a:xfrm>
          <a:prstGeom prst="rect">
            <a:avLst/>
          </a:prstGeom>
        </p:spPr>
      </p:pic>
      <p:pic>
        <p:nvPicPr>
          <p:cNvPr id="42" name="גרפיקה 41" descr="תיבת סימון עם x עם מילוי מלא">
            <a:extLst>
              <a:ext uri="{FF2B5EF4-FFF2-40B4-BE49-F238E27FC236}">
                <a16:creationId xmlns:a16="http://schemas.microsoft.com/office/drawing/2014/main" id="{2D9280A1-407A-46E9-8A9F-9C90AC13754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1427" y="5152719"/>
            <a:ext cx="539904" cy="539904"/>
          </a:xfrm>
          <a:prstGeom prst="rect">
            <a:avLst/>
          </a:prstGeom>
        </p:spPr>
      </p:pic>
      <p:pic>
        <p:nvPicPr>
          <p:cNvPr id="43" name="גרפיקה 42" descr="תיבת סימון עם x עם מילוי מלא">
            <a:extLst>
              <a:ext uri="{FF2B5EF4-FFF2-40B4-BE49-F238E27FC236}">
                <a16:creationId xmlns:a16="http://schemas.microsoft.com/office/drawing/2014/main" id="{218D5DC5-68CE-492E-B4EF-AC60CE419E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4472" y="5612836"/>
            <a:ext cx="539904" cy="539904"/>
          </a:xfrm>
          <a:prstGeom prst="rect">
            <a:avLst/>
          </a:prstGeom>
        </p:spPr>
      </p:pic>
      <p:pic>
        <p:nvPicPr>
          <p:cNvPr id="44" name="גרפיקה 43" descr="תיבת סימון עם x עם מילוי מלא">
            <a:extLst>
              <a:ext uri="{FF2B5EF4-FFF2-40B4-BE49-F238E27FC236}">
                <a16:creationId xmlns:a16="http://schemas.microsoft.com/office/drawing/2014/main" id="{E7276A65-92DE-47D5-BB07-4A0BFE9B34A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24123" y="6088837"/>
            <a:ext cx="539904" cy="53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2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7B14771-85D6-426E-AAF8-DB255B37E267}"/>
              </a:ext>
            </a:extLst>
          </p:cNvPr>
          <p:cNvSpPr txBox="1"/>
          <p:nvPr/>
        </p:nvSpPr>
        <p:spPr>
          <a:xfrm>
            <a:off x="796954" y="377505"/>
            <a:ext cx="1082179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/>
              <a:t>איך דווקא הקוד של מערכת ההפעלה מקבל פריבילגיות גבוהות???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78D2A44-FA4A-4899-9362-D4D287F785C9}"/>
              </a:ext>
            </a:extLst>
          </p:cNvPr>
          <p:cNvSpPr txBox="1"/>
          <p:nvPr/>
        </p:nvSpPr>
        <p:spPr>
          <a:xfrm>
            <a:off x="4790114" y="1385410"/>
            <a:ext cx="3305262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/>
              <a:t>תשובה: רגיסטר </a:t>
            </a:r>
            <a:r>
              <a:rPr lang="en-US" sz="3200" dirty="0"/>
              <a:t>CS</a:t>
            </a:r>
            <a:endParaRPr lang="he-IL" sz="3200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7FD56609-3A84-4749-B326-ADE9147D23CE}"/>
              </a:ext>
            </a:extLst>
          </p:cNvPr>
          <p:cNvSpPr/>
          <p:nvPr/>
        </p:nvSpPr>
        <p:spPr>
          <a:xfrm>
            <a:off x="1384184" y="2869035"/>
            <a:ext cx="6811860" cy="738231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99047024-9598-42B2-BF82-7C3E6FA9AB68}"/>
              </a:ext>
            </a:extLst>
          </p:cNvPr>
          <p:cNvCxnSpPr/>
          <p:nvPr/>
        </p:nvCxnSpPr>
        <p:spPr>
          <a:xfrm>
            <a:off x="7491369" y="2869037"/>
            <a:ext cx="0" cy="729840"/>
          </a:xfrm>
          <a:prstGeom prst="line">
            <a:avLst/>
          </a:prstGeom>
          <a:ln w="12700">
            <a:solidFill>
              <a:srgbClr val="4A8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>
            <a:extLst>
              <a:ext uri="{FF2B5EF4-FFF2-40B4-BE49-F238E27FC236}">
                <a16:creationId xmlns:a16="http://schemas.microsoft.com/office/drawing/2014/main" id="{ED565C0B-1C32-48B2-85EB-B3235520E274}"/>
              </a:ext>
            </a:extLst>
          </p:cNvPr>
          <p:cNvCxnSpPr/>
          <p:nvPr/>
        </p:nvCxnSpPr>
        <p:spPr>
          <a:xfrm>
            <a:off x="6754536" y="2869035"/>
            <a:ext cx="0" cy="729840"/>
          </a:xfrm>
          <a:prstGeom prst="line">
            <a:avLst/>
          </a:prstGeom>
          <a:ln w="12700">
            <a:solidFill>
              <a:srgbClr val="4A8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F6F42731-442D-4792-A772-020680EA7A28}"/>
              </a:ext>
            </a:extLst>
          </p:cNvPr>
          <p:cNvSpPr txBox="1"/>
          <p:nvPr/>
        </p:nvSpPr>
        <p:spPr>
          <a:xfrm>
            <a:off x="6950978" y="3049289"/>
            <a:ext cx="34394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0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F727FB9-FC6D-43F6-BAB5-E4A8B9DA1929}"/>
              </a:ext>
            </a:extLst>
          </p:cNvPr>
          <p:cNvSpPr txBox="1"/>
          <p:nvPr/>
        </p:nvSpPr>
        <p:spPr>
          <a:xfrm>
            <a:off x="7687812" y="3049288"/>
            <a:ext cx="34394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0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6C83E369-2230-4CDF-BAFB-0FD27F3B2EF7}"/>
              </a:ext>
            </a:extLst>
          </p:cNvPr>
          <p:cNvSpPr/>
          <p:nvPr/>
        </p:nvSpPr>
        <p:spPr>
          <a:xfrm>
            <a:off x="1384184" y="4002947"/>
            <a:ext cx="6811860" cy="738231"/>
          </a:xfrm>
          <a:prstGeom prst="rect">
            <a:avLst/>
          </a:prstGeom>
          <a:solidFill>
            <a:schemeClr val="bg1"/>
          </a:solidFill>
          <a:ln>
            <a:solidFill>
              <a:srgbClr val="4A852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cxnSp>
        <p:nvCxnSpPr>
          <p:cNvPr id="17" name="מחבר ישר 16">
            <a:extLst>
              <a:ext uri="{FF2B5EF4-FFF2-40B4-BE49-F238E27FC236}">
                <a16:creationId xmlns:a16="http://schemas.microsoft.com/office/drawing/2014/main" id="{B90C03BD-DB97-4A16-8ADE-2FA17FA9F4D9}"/>
              </a:ext>
            </a:extLst>
          </p:cNvPr>
          <p:cNvCxnSpPr/>
          <p:nvPr/>
        </p:nvCxnSpPr>
        <p:spPr>
          <a:xfrm>
            <a:off x="7491369" y="4002949"/>
            <a:ext cx="0" cy="729840"/>
          </a:xfrm>
          <a:prstGeom prst="line">
            <a:avLst/>
          </a:prstGeom>
          <a:ln w="12700">
            <a:solidFill>
              <a:srgbClr val="4A8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069C460F-44A1-435A-A705-D5F4FA357B62}"/>
              </a:ext>
            </a:extLst>
          </p:cNvPr>
          <p:cNvCxnSpPr/>
          <p:nvPr/>
        </p:nvCxnSpPr>
        <p:spPr>
          <a:xfrm>
            <a:off x="6754536" y="4002947"/>
            <a:ext cx="0" cy="729840"/>
          </a:xfrm>
          <a:prstGeom prst="line">
            <a:avLst/>
          </a:prstGeom>
          <a:ln w="12700">
            <a:solidFill>
              <a:srgbClr val="4A85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AE7C9BDB-0E8A-4588-9BB9-2D4296722AE7}"/>
              </a:ext>
            </a:extLst>
          </p:cNvPr>
          <p:cNvSpPr txBox="1"/>
          <p:nvPr/>
        </p:nvSpPr>
        <p:spPr>
          <a:xfrm>
            <a:off x="6950978" y="4183201"/>
            <a:ext cx="34394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1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9FCA49B0-D62E-417D-BFA4-C13729981E78}"/>
              </a:ext>
            </a:extLst>
          </p:cNvPr>
          <p:cNvSpPr txBox="1"/>
          <p:nvPr/>
        </p:nvSpPr>
        <p:spPr>
          <a:xfrm>
            <a:off x="7687812" y="4183200"/>
            <a:ext cx="34394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1</a:t>
            </a:r>
          </a:p>
        </p:txBody>
      </p:sp>
      <p:pic>
        <p:nvPicPr>
          <p:cNvPr id="21" name="תמונה 20">
            <a:extLst>
              <a:ext uri="{FF2B5EF4-FFF2-40B4-BE49-F238E27FC236}">
                <a16:creationId xmlns:a16="http://schemas.microsoft.com/office/drawing/2014/main" id="{3DCF83B4-2BCB-41EF-AF0E-205218C0C0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3" t="8572" r="22290" b="73876"/>
          <a:stretch/>
        </p:blipFill>
        <p:spPr>
          <a:xfrm rot="7042020" flipV="1">
            <a:off x="8545491" y="2912810"/>
            <a:ext cx="641093" cy="734621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6538185F-D3C2-444A-97AC-3F82D27FB6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3" t="8572" r="22290" b="73876"/>
          <a:stretch/>
        </p:blipFill>
        <p:spPr>
          <a:xfrm rot="7042020" flipV="1">
            <a:off x="8545492" y="4046722"/>
            <a:ext cx="641093" cy="734621"/>
          </a:xfrm>
          <a:prstGeom prst="rect">
            <a:avLst/>
          </a:prstGeom>
        </p:spPr>
      </p:pic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DE6DB832-8A8F-49D8-B392-5A8157328352}"/>
              </a:ext>
            </a:extLst>
          </p:cNvPr>
          <p:cNvSpPr txBox="1"/>
          <p:nvPr/>
        </p:nvSpPr>
        <p:spPr>
          <a:xfrm>
            <a:off x="9266880" y="3095454"/>
            <a:ext cx="171065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הרשאות מלאות</a:t>
            </a: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92E74DA-537F-48E4-B560-074495C0C7F9}"/>
              </a:ext>
            </a:extLst>
          </p:cNvPr>
          <p:cNvSpPr txBox="1"/>
          <p:nvPr/>
        </p:nvSpPr>
        <p:spPr>
          <a:xfrm>
            <a:off x="9266880" y="4229366"/>
            <a:ext cx="171065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מעט הרשאות</a:t>
            </a:r>
          </a:p>
        </p:txBody>
      </p:sp>
    </p:spTree>
    <p:extLst>
      <p:ext uri="{BB962C8B-B14F-4D97-AF65-F5344CB8AC3E}">
        <p14:creationId xmlns:p14="http://schemas.microsoft.com/office/powerpoint/2010/main" val="412876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12" grpId="0"/>
      <p:bldP spid="15" grpId="0"/>
      <p:bldP spid="16" grpId="0" animBg="1"/>
      <p:bldP spid="19" grpId="0"/>
      <p:bldP spid="20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9BA18E-2994-4AF8-AA5B-FD25ECF1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908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>
                <a:latin typeface="+mn-lt"/>
                <a:cs typeface="+mn-cs"/>
              </a:rPr>
              <a:t>טבלת הפסיקות </a:t>
            </a:r>
            <a:br>
              <a:rPr lang="he-IL" dirty="0">
                <a:latin typeface="+mn-lt"/>
                <a:cs typeface="+mn-cs"/>
              </a:rPr>
            </a:br>
            <a:r>
              <a:rPr lang="he-IL" sz="2800" dirty="0">
                <a:latin typeface="+mn-lt"/>
                <a:cs typeface="+mn-cs"/>
              </a:rPr>
              <a:t>הדרך </a:t>
            </a:r>
            <a:r>
              <a:rPr lang="he-IL" sz="2800" b="1" u="sng" dirty="0">
                <a:latin typeface="+mn-lt"/>
                <a:cs typeface="+mn-cs"/>
              </a:rPr>
              <a:t>היחידה</a:t>
            </a:r>
            <a:r>
              <a:rPr lang="he-IL" sz="2800" dirty="0">
                <a:latin typeface="+mn-lt"/>
                <a:cs typeface="+mn-cs"/>
              </a:rPr>
              <a:t> דרכה ניתן להריץ קוד של מערכת ההפעלה לינוקס כשאפליקציות רצות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C9C1F9-0DFE-4A17-BC8E-04B37B909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436" y="3818113"/>
            <a:ext cx="5714901" cy="1057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89983-0FD9-47B7-82E1-C3585907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48" y="2784107"/>
            <a:ext cx="6238875" cy="3125281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E63A717F-38C6-4C0A-B5C3-7FE2D3225F9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3" t="8572" r="22290" b="73876"/>
          <a:stretch/>
        </p:blipFill>
        <p:spPr>
          <a:xfrm rot="770445" flipV="1">
            <a:off x="198009" y="4197536"/>
            <a:ext cx="943850" cy="1081547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0B32F9E-3D7D-4AEF-B509-59AE7A485EB5}"/>
              </a:ext>
            </a:extLst>
          </p:cNvPr>
          <p:cNvSpPr txBox="1"/>
          <p:nvPr/>
        </p:nvSpPr>
        <p:spPr>
          <a:xfrm>
            <a:off x="100663" y="3441255"/>
            <a:ext cx="175329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chemeClr val="accent2">
                    <a:lumMod val="75000"/>
                  </a:schemeClr>
                </a:solidFill>
              </a:rPr>
              <a:t>רגיסטר המצביע לטבלת הפסיקות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C5A49E59-91B6-4793-8DDA-9F287FDDE8B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3" t="8572" r="22290" b="73876"/>
          <a:stretch/>
        </p:blipFill>
        <p:spPr>
          <a:xfrm rot="770445" flipV="1">
            <a:off x="4704656" y="2223453"/>
            <a:ext cx="641093" cy="734621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C0D3308E-1745-4702-B3BF-3A53412BA6CC}"/>
              </a:ext>
            </a:extLst>
          </p:cNvPr>
          <p:cNvSpPr txBox="1"/>
          <p:nvPr/>
        </p:nvSpPr>
        <p:spPr>
          <a:xfrm>
            <a:off x="3642407" y="1538293"/>
            <a:ext cx="270614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chemeClr val="accent1">
                    <a:lumMod val="50000"/>
                  </a:schemeClr>
                </a:solidFill>
              </a:rPr>
              <a:t>מ"ה מקצה זיכרון וממלאת את טבלת הפסיקות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BAF7D2BE-D2E0-4AA9-A028-EEBC3C856BBF}"/>
              </a:ext>
            </a:extLst>
          </p:cNvPr>
          <p:cNvSpPr/>
          <p:nvPr/>
        </p:nvSpPr>
        <p:spPr>
          <a:xfrm>
            <a:off x="3758268" y="1489859"/>
            <a:ext cx="2491530" cy="741613"/>
          </a:xfrm>
          <a:prstGeom prst="roundRect">
            <a:avLst>
              <a:gd name="adj" fmla="val 1214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F8B7A4EE-6F39-4762-94B4-D812B00E90E3}"/>
              </a:ext>
            </a:extLst>
          </p:cNvPr>
          <p:cNvSpPr/>
          <p:nvPr/>
        </p:nvSpPr>
        <p:spPr>
          <a:xfrm>
            <a:off x="89628" y="3438788"/>
            <a:ext cx="1753299" cy="741613"/>
          </a:xfrm>
          <a:prstGeom prst="roundRect">
            <a:avLst>
              <a:gd name="adj" fmla="val 12142"/>
            </a:avLst>
          </a:prstGeom>
          <a:noFill/>
          <a:ln>
            <a:solidFill>
              <a:srgbClr val="BE51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DCB97022-FADF-41DF-AEA0-46FDA91D357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3" t="8572" r="22290" b="73876"/>
          <a:stretch/>
        </p:blipFill>
        <p:spPr>
          <a:xfrm rot="11557832" flipV="1">
            <a:off x="7633814" y="4799512"/>
            <a:ext cx="641093" cy="734621"/>
          </a:xfrm>
          <a:prstGeom prst="rect">
            <a:avLst/>
          </a:prstGeom>
        </p:spPr>
      </p:pic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6207934F-412A-480F-B240-72747D91C22E}"/>
              </a:ext>
            </a:extLst>
          </p:cNvPr>
          <p:cNvSpPr/>
          <p:nvPr/>
        </p:nvSpPr>
        <p:spPr>
          <a:xfrm>
            <a:off x="6968293" y="5618520"/>
            <a:ext cx="2231472" cy="741613"/>
          </a:xfrm>
          <a:prstGeom prst="roundRect">
            <a:avLst>
              <a:gd name="adj" fmla="val 12142"/>
            </a:avLst>
          </a:prstGeom>
          <a:noFill/>
          <a:ln>
            <a:solidFill>
              <a:srgbClr val="4A85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4A8522"/>
              </a:solidFill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E891A824-B2EC-4033-8156-0BB2D6EBC47B}"/>
              </a:ext>
            </a:extLst>
          </p:cNvPr>
          <p:cNvSpPr txBox="1"/>
          <p:nvPr/>
        </p:nvSpPr>
        <p:spPr>
          <a:xfrm>
            <a:off x="6968293" y="5692137"/>
            <a:ext cx="223147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rgbClr val="4A8522"/>
                </a:solidFill>
              </a:rPr>
              <a:t>הערך שהחומרה צריכה לכתוב לרגיסטר </a:t>
            </a:r>
            <a:r>
              <a:rPr lang="en-US" dirty="0">
                <a:solidFill>
                  <a:srgbClr val="4A8522"/>
                </a:solidFill>
              </a:rPr>
              <a:t>CS</a:t>
            </a:r>
            <a:endParaRPr lang="he-IL" dirty="0">
              <a:solidFill>
                <a:srgbClr val="4A8522"/>
              </a:solidFill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CE845275-6396-4684-8484-2D10BE4FF12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93" t="8572" r="22290" b="73876"/>
          <a:stretch/>
        </p:blipFill>
        <p:spPr>
          <a:xfrm rot="11582627" flipV="1">
            <a:off x="9417418" y="4597003"/>
            <a:ext cx="715689" cy="820101"/>
          </a:xfrm>
          <a:prstGeom prst="rect">
            <a:avLst/>
          </a:prstGeom>
        </p:spPr>
      </p:pic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FFA7EDD0-A28B-49B8-99A9-16084BB722B7}"/>
              </a:ext>
            </a:extLst>
          </p:cNvPr>
          <p:cNvSpPr/>
          <p:nvPr/>
        </p:nvSpPr>
        <p:spPr>
          <a:xfrm>
            <a:off x="9518298" y="5618520"/>
            <a:ext cx="2231472" cy="741613"/>
          </a:xfrm>
          <a:prstGeom prst="roundRect">
            <a:avLst>
              <a:gd name="adj" fmla="val 12142"/>
            </a:avLst>
          </a:prstGeom>
          <a:noFill/>
          <a:ln>
            <a:solidFill>
              <a:srgbClr val="4A85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4A8522"/>
              </a:solidFill>
            </a:endParaRP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94364946-68A4-4592-AFB7-A83B057497E7}"/>
              </a:ext>
            </a:extLst>
          </p:cNvPr>
          <p:cNvSpPr txBox="1"/>
          <p:nvPr/>
        </p:nvSpPr>
        <p:spPr>
          <a:xfrm>
            <a:off x="9518298" y="5692137"/>
            <a:ext cx="223147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rgbClr val="4A8522"/>
                </a:solidFill>
              </a:rPr>
              <a:t>האם אפליקציה יכולה ליזום את הפסיקה</a:t>
            </a:r>
          </a:p>
        </p:txBody>
      </p:sp>
    </p:spTree>
    <p:extLst>
      <p:ext uri="{BB962C8B-B14F-4D97-AF65-F5344CB8AC3E}">
        <p14:creationId xmlns:p14="http://schemas.microsoft.com/office/powerpoint/2010/main" val="49294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480</Words>
  <Application>Microsoft Office PowerPoint</Application>
  <PresentationFormat>מסך רחב</PresentationFormat>
  <Paragraphs>92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מצגת של PowerPoint‏</vt:lpstr>
      <vt:lpstr>מנגנון הפעולה ממבט של תוכנה</vt:lpstr>
      <vt:lpstr>קריאה/כתיבה סינכרונית</vt:lpstr>
      <vt:lpstr>קריאה/כתיבה אסינכרונית</vt:lpstr>
      <vt:lpstr>קריאה/כתיבה אסינכרונית בשילוב DMA</vt:lpstr>
      <vt:lpstr>איך כותבים קוד שפונה לחומרה?</vt:lpstr>
      <vt:lpstr>גישת המעבד(CPU) להתקני קלט/פלט</vt:lpstr>
      <vt:lpstr>נסו לפתור את המשימה</vt:lpstr>
      <vt:lpstr>המשך הניסיון</vt:lpstr>
      <vt:lpstr>מצגת של PowerPoint‏</vt:lpstr>
      <vt:lpstr>מצגת של PowerPoint‏</vt:lpstr>
      <vt:lpstr>טבלת הפסיקות  הדרך היחידה דרכה ניתן להריץ קוד של מערכת ההפעלה לינוקס כשאפליקציות רצות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Roi Fridman</cp:lastModifiedBy>
  <cp:revision>43</cp:revision>
  <dcterms:created xsi:type="dcterms:W3CDTF">2021-04-08T08:06:15Z</dcterms:created>
  <dcterms:modified xsi:type="dcterms:W3CDTF">2026-06-09T20:30:44Z</dcterms:modified>
</cp:coreProperties>
</file>