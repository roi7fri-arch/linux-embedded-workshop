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960" r:id="rId1"/>
    <p:sldMasterId id="2147483972" r:id="rId2"/>
  </p:sldMasterIdLst>
  <p:notesMasterIdLst>
    <p:notesMasterId r:id="rId30"/>
  </p:notesMasterIdLst>
  <p:sldIdLst>
    <p:sldId id="327" r:id="rId3"/>
    <p:sldId id="355" r:id="rId4"/>
    <p:sldId id="329" r:id="rId5"/>
    <p:sldId id="357" r:id="rId6"/>
    <p:sldId id="263" r:id="rId7"/>
    <p:sldId id="325" r:id="rId8"/>
    <p:sldId id="342" r:id="rId9"/>
    <p:sldId id="326" r:id="rId10"/>
    <p:sldId id="341" r:id="rId11"/>
    <p:sldId id="321" r:id="rId12"/>
    <p:sldId id="271" r:id="rId13"/>
    <p:sldId id="343" r:id="rId14"/>
    <p:sldId id="333" r:id="rId15"/>
    <p:sldId id="270" r:id="rId16"/>
    <p:sldId id="385" r:id="rId17"/>
    <p:sldId id="386" r:id="rId18"/>
    <p:sldId id="340" r:id="rId19"/>
    <p:sldId id="332" r:id="rId20"/>
    <p:sldId id="318" r:id="rId21"/>
    <p:sldId id="274" r:id="rId22"/>
    <p:sldId id="315" r:id="rId23"/>
    <p:sldId id="275" r:id="rId24"/>
    <p:sldId id="356" r:id="rId25"/>
    <p:sldId id="364" r:id="rId26"/>
    <p:sldId id="264" r:id="rId27"/>
    <p:sldId id="384" r:id="rId28"/>
    <p:sldId id="26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B3252E-2BFA-452C-8D2A-6DD5929023F5}" v="119" dt="2022-11-28T08:57:13.521"/>
    <p1510:client id="{83315D4E-68D6-48E4-8C31-6D42B353A848}" v="1" dt="2022-12-05T06:51:42.074"/>
    <p1510:client id="{ABD17BCF-6E59-41F4-A3AD-9F2B21D4BEC7}" v="9" dt="2022-12-05T06:45:02.5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E9639D4-E3E2-4D34-9284-5A2195B3D0D7}" styleName="סגנון בהיר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סגנון ביניים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57" autoAdjust="0"/>
  </p:normalViewPr>
  <p:slideViewPr>
    <p:cSldViewPr snapToGrid="0">
      <p:cViewPr varScale="1">
        <p:scale>
          <a:sx n="130" d="100"/>
          <a:sy n="130" d="100"/>
        </p:scale>
        <p:origin x="2680"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I FRIEDMAN" userId="S::roifr@rafael.co.il::e151349f-86c1-452e-b81b-4c9e72634829" providerId="AD" clId="Web-{50B3252E-2BFA-452C-8D2A-6DD5929023F5}"/>
    <pc:docChg chg="addSld modSld">
      <pc:chgData name="ROI FRIEDMAN" userId="S::roifr@rafael.co.il::e151349f-86c1-452e-b81b-4c9e72634829" providerId="AD" clId="Web-{50B3252E-2BFA-452C-8D2A-6DD5929023F5}" dt="2022-11-28T08:57:13.021" v="71" actId="20577"/>
      <pc:docMkLst>
        <pc:docMk/>
      </pc:docMkLst>
      <pc:sldChg chg="addSp delSp modSp add replId">
        <pc:chgData name="ROI FRIEDMAN" userId="S::roifr@rafael.co.il::e151349f-86c1-452e-b81b-4c9e72634829" providerId="AD" clId="Web-{50B3252E-2BFA-452C-8D2A-6DD5929023F5}" dt="2022-11-28T08:57:13.021" v="71" actId="20577"/>
        <pc:sldMkLst>
          <pc:docMk/>
          <pc:sldMk cId="225829316" sldId="357"/>
        </pc:sldMkLst>
        <pc:spChg chg="add del mod">
          <ac:chgData name="ROI FRIEDMAN" userId="S::roifr@rafael.co.il::e151349f-86c1-452e-b81b-4c9e72634829" providerId="AD" clId="Web-{50B3252E-2BFA-452C-8D2A-6DD5929023F5}" dt="2022-11-28T08:53:05.557" v="38"/>
          <ac:spMkLst>
            <pc:docMk/>
            <pc:sldMk cId="225829316" sldId="357"/>
            <ac:spMk id="4" creationId="{88888D13-84ED-0756-315C-4234E15E8FA9}"/>
          </ac:spMkLst>
        </pc:spChg>
        <pc:spChg chg="add del mod">
          <ac:chgData name="ROI FRIEDMAN" userId="S::roifr@rafael.co.il::e151349f-86c1-452e-b81b-4c9e72634829" providerId="AD" clId="Web-{50B3252E-2BFA-452C-8D2A-6DD5929023F5}" dt="2022-11-28T08:43:22.548" v="9"/>
          <ac:spMkLst>
            <pc:docMk/>
            <pc:sldMk cId="225829316" sldId="357"/>
            <ac:spMk id="6" creationId="{BAA01F75-51F0-A296-5B4C-49EBE89C08BC}"/>
          </ac:spMkLst>
        </pc:spChg>
        <pc:spChg chg="add mod">
          <ac:chgData name="ROI FRIEDMAN" userId="S::roifr@rafael.co.il::e151349f-86c1-452e-b81b-4c9e72634829" providerId="AD" clId="Web-{50B3252E-2BFA-452C-8D2A-6DD5929023F5}" dt="2022-11-28T08:43:44.424" v="12"/>
          <ac:spMkLst>
            <pc:docMk/>
            <pc:sldMk cId="225829316" sldId="357"/>
            <ac:spMk id="7" creationId="{8CA6F862-F5CF-A26F-9D76-40916F39FD73}"/>
          </ac:spMkLst>
        </pc:spChg>
        <pc:spChg chg="add mod">
          <ac:chgData name="ROI FRIEDMAN" userId="S::roifr@rafael.co.il::e151349f-86c1-452e-b81b-4c9e72634829" providerId="AD" clId="Web-{50B3252E-2BFA-452C-8D2A-6DD5929023F5}" dt="2022-11-28T08:57:13.021" v="71" actId="20577"/>
          <ac:spMkLst>
            <pc:docMk/>
            <pc:sldMk cId="225829316" sldId="357"/>
            <ac:spMk id="8" creationId="{E7206BFD-41EA-123F-D4A3-33C488B2CDA2}"/>
          </ac:spMkLst>
        </pc:spChg>
        <pc:picChg chg="add mod ord">
          <ac:chgData name="ROI FRIEDMAN" userId="S::roifr@rafael.co.il::e151349f-86c1-452e-b81b-4c9e72634829" providerId="AD" clId="Web-{50B3252E-2BFA-452C-8D2A-6DD5929023F5}" dt="2022-11-28T08:54:24.936" v="44" actId="1076"/>
          <ac:picMkLst>
            <pc:docMk/>
            <pc:sldMk cId="225829316" sldId="357"/>
            <ac:picMk id="9" creationId="{BFC56F2B-07AA-02A4-F929-0B68899ACE08}"/>
          </ac:picMkLst>
        </pc:picChg>
        <pc:picChg chg="del">
          <ac:chgData name="ROI FRIEDMAN" userId="S::roifr@rafael.co.il::e151349f-86c1-452e-b81b-4c9e72634829" providerId="AD" clId="Web-{50B3252E-2BFA-452C-8D2A-6DD5929023F5}" dt="2022-11-28T08:42:00.232" v="1"/>
          <ac:picMkLst>
            <pc:docMk/>
            <pc:sldMk cId="225829316" sldId="357"/>
            <ac:picMk id="10" creationId="{65A2DE57-06A7-479B-9229-CF1936403510}"/>
          </ac:picMkLst>
        </pc:picChg>
      </pc:sldChg>
    </pc:docChg>
  </pc:docChgLst>
  <pc:docChgLst>
    <pc:chgData name="ROI FRIEDMAN" userId="S::roifr@rafael.co.il::e151349f-86c1-452e-b81b-4c9e72634829" providerId="AD" clId="Web-{ABD17BCF-6E59-41F4-A3AD-9F2B21D4BEC7}"/>
    <pc:docChg chg="delSld">
      <pc:chgData name="ROI FRIEDMAN" userId="S::roifr@rafael.co.il::e151349f-86c1-452e-b81b-4c9e72634829" providerId="AD" clId="Web-{ABD17BCF-6E59-41F4-A3AD-9F2B21D4BEC7}" dt="2022-12-05T06:45:02.522" v="8"/>
      <pc:docMkLst>
        <pc:docMk/>
      </pc:docMkLst>
      <pc:sldChg chg="del">
        <pc:chgData name="ROI FRIEDMAN" userId="S::roifr@rafael.co.il::e151349f-86c1-452e-b81b-4c9e72634829" providerId="AD" clId="Web-{ABD17BCF-6E59-41F4-A3AD-9F2B21D4BEC7}" dt="2022-12-05T06:45:02.522" v="8"/>
        <pc:sldMkLst>
          <pc:docMk/>
          <pc:sldMk cId="1330556662" sldId="276"/>
        </pc:sldMkLst>
      </pc:sldChg>
      <pc:sldChg chg="del">
        <pc:chgData name="ROI FRIEDMAN" userId="S::roifr@rafael.co.il::e151349f-86c1-452e-b81b-4c9e72634829" providerId="AD" clId="Web-{ABD17BCF-6E59-41F4-A3AD-9F2B21D4BEC7}" dt="2022-12-05T06:45:02.506" v="4"/>
        <pc:sldMkLst>
          <pc:docMk/>
          <pc:sldMk cId="4109671044" sldId="277"/>
        </pc:sldMkLst>
      </pc:sldChg>
      <pc:sldChg chg="del">
        <pc:chgData name="ROI FRIEDMAN" userId="S::roifr@rafael.co.il::e151349f-86c1-452e-b81b-4c9e72634829" providerId="AD" clId="Web-{ABD17BCF-6E59-41F4-A3AD-9F2B21D4BEC7}" dt="2022-12-05T06:45:02.522" v="6"/>
        <pc:sldMkLst>
          <pc:docMk/>
          <pc:sldMk cId="3032021439" sldId="284"/>
        </pc:sldMkLst>
      </pc:sldChg>
      <pc:sldChg chg="del">
        <pc:chgData name="ROI FRIEDMAN" userId="S::roifr@rafael.co.il::e151349f-86c1-452e-b81b-4c9e72634829" providerId="AD" clId="Web-{ABD17BCF-6E59-41F4-A3AD-9F2B21D4BEC7}" dt="2022-12-05T06:45:02.506" v="1"/>
        <pc:sldMkLst>
          <pc:docMk/>
          <pc:sldMk cId="3273174766" sldId="287"/>
        </pc:sldMkLst>
      </pc:sldChg>
      <pc:sldChg chg="del">
        <pc:chgData name="ROI FRIEDMAN" userId="S::roifr@rafael.co.il::e151349f-86c1-452e-b81b-4c9e72634829" providerId="AD" clId="Web-{ABD17BCF-6E59-41F4-A3AD-9F2B21D4BEC7}" dt="2022-12-05T06:45:02.506" v="0"/>
        <pc:sldMkLst>
          <pc:docMk/>
          <pc:sldMk cId="3636298214" sldId="289"/>
        </pc:sldMkLst>
      </pc:sldChg>
      <pc:sldChg chg="del">
        <pc:chgData name="ROI FRIEDMAN" userId="S::roifr@rafael.co.il::e151349f-86c1-452e-b81b-4c9e72634829" providerId="AD" clId="Web-{ABD17BCF-6E59-41F4-A3AD-9F2B21D4BEC7}" dt="2022-12-05T06:45:02.522" v="7"/>
        <pc:sldMkLst>
          <pc:docMk/>
          <pc:sldMk cId="3323215039" sldId="322"/>
        </pc:sldMkLst>
      </pc:sldChg>
      <pc:sldChg chg="del">
        <pc:chgData name="ROI FRIEDMAN" userId="S::roifr@rafael.co.il::e151349f-86c1-452e-b81b-4c9e72634829" providerId="AD" clId="Web-{ABD17BCF-6E59-41F4-A3AD-9F2B21D4BEC7}" dt="2022-12-05T06:45:02.506" v="5"/>
        <pc:sldMkLst>
          <pc:docMk/>
          <pc:sldMk cId="1284553677" sldId="324"/>
        </pc:sldMkLst>
      </pc:sldChg>
      <pc:sldChg chg="del">
        <pc:chgData name="ROI FRIEDMAN" userId="S::roifr@rafael.co.il::e151349f-86c1-452e-b81b-4c9e72634829" providerId="AD" clId="Web-{ABD17BCF-6E59-41F4-A3AD-9F2B21D4BEC7}" dt="2022-12-05T06:45:02.506" v="2"/>
        <pc:sldMkLst>
          <pc:docMk/>
          <pc:sldMk cId="1213219876" sldId="345"/>
        </pc:sldMkLst>
      </pc:sldChg>
      <pc:sldChg chg="del">
        <pc:chgData name="ROI FRIEDMAN" userId="S::roifr@rafael.co.il::e151349f-86c1-452e-b81b-4c9e72634829" providerId="AD" clId="Web-{ABD17BCF-6E59-41F4-A3AD-9F2B21D4BEC7}" dt="2022-12-05T06:45:02.506" v="3"/>
        <pc:sldMkLst>
          <pc:docMk/>
          <pc:sldMk cId="1949735499" sldId="354"/>
        </pc:sldMkLst>
      </pc:sldChg>
    </pc:docChg>
  </pc:docChgLst>
  <pc:docChgLst>
    <pc:chgData name="ROI FRIEDMAN" userId="S::roifr@rafael.co.il::e151349f-86c1-452e-b81b-4c9e72634829" providerId="AD" clId="Web-{83315D4E-68D6-48E4-8C31-6D42B353A848}"/>
    <pc:docChg chg="delSld">
      <pc:chgData name="ROI FRIEDMAN" userId="S::roifr@rafael.co.il::e151349f-86c1-452e-b81b-4c9e72634829" providerId="AD" clId="Web-{83315D4E-68D6-48E4-8C31-6D42B353A848}" dt="2022-12-05T06:51:42.074" v="0"/>
      <pc:docMkLst>
        <pc:docMk/>
      </pc:docMkLst>
      <pc:sldChg chg="del">
        <pc:chgData name="ROI FRIEDMAN" userId="S::roifr@rafael.co.il::e151349f-86c1-452e-b81b-4c9e72634829" providerId="AD" clId="Web-{83315D4E-68D6-48E4-8C31-6D42B353A848}" dt="2022-12-05T06:51:42.074" v="0"/>
        <pc:sldMkLst>
          <pc:docMk/>
          <pc:sldMk cId="342967374"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E9A386-374F-46B8-905A-6C0BF92B68B0}" type="datetimeFigureOut">
              <a:rPr lang="en-US" smtClean="0"/>
              <a:pPr/>
              <a:t>6/17/2026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525A9A-2399-4ACF-975E-77FD324B061A}" type="slidenum">
              <a:rPr lang="en-US" smtClean="0"/>
              <a:pPr/>
              <a:t>‹#›</a:t>
            </a:fld>
            <a:endParaRPr lang="en-US"/>
          </a:p>
        </p:txBody>
      </p:sp>
    </p:spTree>
    <p:extLst>
      <p:ext uri="{BB962C8B-B14F-4D97-AF65-F5344CB8AC3E}">
        <p14:creationId xmlns:p14="http://schemas.microsoft.com/office/powerpoint/2010/main" val="3554189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4525A9A-2399-4ACF-975E-77FD324B061A}" type="slidenum">
              <a:rPr lang="en-US" smtClean="0"/>
              <a:pPr/>
              <a:t>4</a:t>
            </a:fld>
            <a:endParaRPr lang="en-US"/>
          </a:p>
        </p:txBody>
      </p:sp>
    </p:spTree>
    <p:extLst>
      <p:ext uri="{BB962C8B-B14F-4D97-AF65-F5344CB8AC3E}">
        <p14:creationId xmlns:p14="http://schemas.microsoft.com/office/powerpoint/2010/main" val="343505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במקרה של הצלחה תמיד יוחזרו ערכים שונים לאב ולבן, כי ה-</a:t>
            </a:r>
            <a:r>
              <a:rPr lang="en-US"/>
              <a:t>PID</a:t>
            </a:r>
            <a:r>
              <a:rPr lang="he-IL"/>
              <a:t> של הבן שונה מ-0 (המזהה הזה תפוס ע"י </a:t>
            </a:r>
            <a:r>
              <a:rPr lang="en-US"/>
              <a:t>idle</a:t>
            </a:r>
            <a:r>
              <a:rPr lang="he-IL"/>
              <a:t>).</a:t>
            </a:r>
            <a:endParaRPr lang="en-US"/>
          </a:p>
        </p:txBody>
      </p:sp>
      <p:sp>
        <p:nvSpPr>
          <p:cNvPr id="4" name="Slide Number Placeholder 3"/>
          <p:cNvSpPr>
            <a:spLocks noGrp="1"/>
          </p:cNvSpPr>
          <p:nvPr>
            <p:ph type="sldNum" sz="quarter" idx="10"/>
          </p:nvPr>
        </p:nvSpPr>
        <p:spPr/>
        <p:txBody>
          <a:bodyPr/>
          <a:lstStyle/>
          <a:p>
            <a:fld id="{6D30C751-40F2-4005-87DC-CB865DCC51F4}" type="slidenum">
              <a:rPr lang="he-IL" altLang="en-US" smtClean="0"/>
              <a:pPr/>
              <a:t>5</a:t>
            </a:fld>
            <a:endParaRPr lang="en-US" altLang="en-US"/>
          </a:p>
        </p:txBody>
      </p:sp>
    </p:spTree>
    <p:extLst>
      <p:ext uri="{BB962C8B-B14F-4D97-AF65-F5344CB8AC3E}">
        <p14:creationId xmlns:p14="http://schemas.microsoft.com/office/powerpoint/2010/main" val="3032841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525A9A-2399-4ACF-975E-77FD324B061A}" type="slidenum">
              <a:rPr lang="en-US" smtClean="0"/>
              <a:pPr/>
              <a:t>6</a:t>
            </a:fld>
            <a:endParaRPr lang="en-US"/>
          </a:p>
        </p:txBody>
      </p:sp>
    </p:spTree>
    <p:extLst>
      <p:ext uri="{BB962C8B-B14F-4D97-AF65-F5344CB8AC3E}">
        <p14:creationId xmlns:p14="http://schemas.microsoft.com/office/powerpoint/2010/main" val="1221428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תשובה: השאלה נועדה לבלבל, כי שתי התשובות נכונות.</a:t>
            </a:r>
          </a:p>
          <a:p>
            <a:pPr algn="r" rtl="1"/>
            <a:r>
              <a:rPr lang="he-IL"/>
              <a:t>לכל אחד מהתהליכים עותק נפרד של </a:t>
            </a:r>
            <a:r>
              <a:rPr lang="en-US"/>
              <a:t>x</a:t>
            </a:r>
            <a:r>
              <a:rPr lang="he-IL"/>
              <a:t>, ולכן ערך אחר של </a:t>
            </a:r>
            <a:r>
              <a:rPr lang="en-US"/>
              <a:t>x</a:t>
            </a:r>
            <a:r>
              <a:rPr lang="he-IL"/>
              <a:t>.</a:t>
            </a:r>
            <a:endParaRPr lang="en-US"/>
          </a:p>
        </p:txBody>
      </p:sp>
      <p:sp>
        <p:nvSpPr>
          <p:cNvPr id="4" name="Slide Number Placeholder 3"/>
          <p:cNvSpPr>
            <a:spLocks noGrp="1"/>
          </p:cNvSpPr>
          <p:nvPr>
            <p:ph type="sldNum" sz="quarter" idx="10"/>
          </p:nvPr>
        </p:nvSpPr>
        <p:spPr/>
        <p:txBody>
          <a:bodyPr/>
          <a:lstStyle/>
          <a:p>
            <a:fld id="{94525A9A-2399-4ACF-975E-77FD324B061A}" type="slidenum">
              <a:rPr lang="en-US" smtClean="0"/>
              <a:pPr/>
              <a:t>8</a:t>
            </a:fld>
            <a:endParaRPr lang="en-US"/>
          </a:p>
        </p:txBody>
      </p:sp>
    </p:spTree>
    <p:extLst>
      <p:ext uri="{BB962C8B-B14F-4D97-AF65-F5344CB8AC3E}">
        <p14:creationId xmlns:p14="http://schemas.microsoft.com/office/powerpoint/2010/main" val="3976835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r" rtl="1">
              <a:buAutoNum type="arabicParenR"/>
            </a:pPr>
            <a:r>
              <a:rPr lang="he-IL" b="0" baseline="0" dirty="0"/>
              <a:t>להסביר על שיטת הפעולה של מערכת ההפעלה </a:t>
            </a:r>
            <a:r>
              <a:rPr lang="en-US" b="0" baseline="0" dirty="0"/>
              <a:t>COW</a:t>
            </a:r>
            <a:r>
              <a:rPr lang="he-IL" b="0" baseline="0" dirty="0"/>
              <a:t>. מסמנים את כל הדפים של האבא כ-</a:t>
            </a:r>
            <a:r>
              <a:rPr lang="en-US" b="0" baseline="0" dirty="0"/>
              <a:t>read only</a:t>
            </a:r>
            <a:r>
              <a:rPr lang="he-IL" b="0" baseline="0" dirty="0"/>
              <a:t> ורק כשאחד מהם מנסה לגשת לכתיבה מקצים ומסדרים.</a:t>
            </a:r>
          </a:p>
          <a:p>
            <a:pPr marL="228600" indent="-228600" algn="r" rtl="1">
              <a:buAutoNum type="arabicParenR"/>
            </a:pPr>
            <a:r>
              <a:rPr lang="he-IL" b="0" baseline="0" dirty="0"/>
              <a:t>מספר הבנים שניתן ליצור מוגבל וניתן לראותו ע"י </a:t>
            </a:r>
            <a:r>
              <a:rPr lang="en-US" b="0" baseline="0" dirty="0" err="1"/>
              <a:t>ulimit</a:t>
            </a:r>
            <a:r>
              <a:rPr lang="he-IL" b="0" baseline="0" dirty="0"/>
              <a:t>. (ניתן לעדכן מספר זה להיות אחר) מונע נזק כשמבצעים </a:t>
            </a:r>
            <a:r>
              <a:rPr lang="en-US" b="0" baseline="0" dirty="0"/>
              <a:t>fork bomb</a:t>
            </a:r>
            <a:r>
              <a:rPr lang="he-IL" b="0" baseline="0" dirty="0"/>
              <a:t> (לא יגמר מאגר ה-</a:t>
            </a:r>
            <a:r>
              <a:rPr lang="en-US" b="0" baseline="0" dirty="0" err="1"/>
              <a:t>pid</a:t>
            </a:r>
            <a:r>
              <a:rPr lang="he-IL" b="0" baseline="0" dirty="0"/>
              <a:t> לדוגמא)</a:t>
            </a:r>
            <a:endParaRPr lang="en-US" b="0" baseline="0" dirty="0"/>
          </a:p>
        </p:txBody>
      </p:sp>
      <p:sp>
        <p:nvSpPr>
          <p:cNvPr id="4" name="Slide Number Placeholder 3"/>
          <p:cNvSpPr>
            <a:spLocks noGrp="1"/>
          </p:cNvSpPr>
          <p:nvPr>
            <p:ph type="sldNum" sz="quarter" idx="10"/>
          </p:nvPr>
        </p:nvSpPr>
        <p:spPr/>
        <p:txBody>
          <a:bodyPr/>
          <a:lstStyle/>
          <a:p>
            <a:fld id="{94525A9A-2399-4ACF-975E-77FD324B061A}" type="slidenum">
              <a:rPr lang="en-US" smtClean="0"/>
              <a:pPr/>
              <a:t>9</a:t>
            </a:fld>
            <a:endParaRPr lang="en-US"/>
          </a:p>
        </p:txBody>
      </p:sp>
    </p:spTree>
    <p:extLst>
      <p:ext uri="{BB962C8B-B14F-4D97-AF65-F5344CB8AC3E}">
        <p14:creationId xmlns:p14="http://schemas.microsoft.com/office/powerpoint/2010/main" val="1740824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Advanced</a:t>
            </a:r>
            <a:r>
              <a:rPr lang="en-US" b="0" baseline="0"/>
              <a:t> Note: today, </a:t>
            </a:r>
            <a:r>
              <a:rPr lang="en-US" b="0" baseline="0" err="1"/>
              <a:t>printf</a:t>
            </a:r>
            <a:r>
              <a:rPr lang="en-US" b="0" baseline="0"/>
              <a:t>() is thread safe, i.e., a lock protects the internal STDOUT from corruption and promises that no thread/process interrupts another when it is pushing strings to the buffer. Therefore, only </a:t>
            </a:r>
            <a:r>
              <a:rPr lang="en-US" b="0" baseline="0" err="1"/>
              <a:t>hellohello</a:t>
            </a:r>
            <a:r>
              <a:rPr lang="en-US" b="0" baseline="0"/>
              <a:t> is a possible outcome. </a:t>
            </a:r>
            <a:endParaRPr lang="en-US" b="0"/>
          </a:p>
        </p:txBody>
      </p:sp>
      <p:sp>
        <p:nvSpPr>
          <p:cNvPr id="4" name="Slide Number Placeholder 3"/>
          <p:cNvSpPr>
            <a:spLocks noGrp="1"/>
          </p:cNvSpPr>
          <p:nvPr>
            <p:ph type="sldNum" sz="quarter" idx="10"/>
          </p:nvPr>
        </p:nvSpPr>
        <p:spPr/>
        <p:txBody>
          <a:bodyPr/>
          <a:lstStyle/>
          <a:p>
            <a:fld id="{94525A9A-2399-4ACF-975E-77FD324B061A}" type="slidenum">
              <a:rPr lang="en-US" smtClean="0"/>
              <a:pPr/>
              <a:t>10</a:t>
            </a:fld>
            <a:endParaRPr lang="en-US"/>
          </a:p>
        </p:txBody>
      </p:sp>
    </p:spTree>
    <p:extLst>
      <p:ext uri="{BB962C8B-B14F-4D97-AF65-F5344CB8AC3E}">
        <p14:creationId xmlns:p14="http://schemas.microsoft.com/office/powerpoint/2010/main" val="3248177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תשובה:</a:t>
            </a:r>
          </a:p>
          <a:p>
            <a:pPr algn="r" rtl="1"/>
            <a:r>
              <a:rPr lang="he-IL" dirty="0"/>
              <a:t>   </a:t>
            </a:r>
            <a:r>
              <a:rPr lang="en-US" altLang="en-US" sz="1200" dirty="0">
                <a:latin typeface="Courier New" panose="02070309020205020404" pitchFamily="49" charset="0"/>
                <a:cs typeface="Courier New" panose="02070309020205020404" pitchFamily="49" charset="0"/>
              </a:rPr>
              <a:t>while (wait(NULL) != -1);</a:t>
            </a:r>
            <a:endParaRPr lang="he-IL" altLang="en-US" sz="1200" dirty="0">
              <a:latin typeface="Courier New" panose="02070309020205020404" pitchFamily="49" charset="0"/>
              <a:cs typeface="Courier New" panose="02070309020205020404" pitchFamily="49" charset="0"/>
            </a:endParaRPr>
          </a:p>
          <a:p>
            <a:pPr algn="r" rtl="1"/>
            <a:endParaRPr lang="he-IL" altLang="en-US" sz="1200" dirty="0">
              <a:latin typeface="Courier New" panose="02070309020205020404" pitchFamily="49" charset="0"/>
              <a:cs typeface="Courier New" panose="02070309020205020404" pitchFamily="49" charset="0"/>
            </a:endParaRPr>
          </a:p>
          <a:p>
            <a:pPr algn="r" rtl="1"/>
            <a:r>
              <a:rPr lang="he-IL" altLang="en-US" sz="1200" dirty="0">
                <a:latin typeface="Courier New" panose="02070309020205020404" pitchFamily="49" charset="0"/>
                <a:cs typeface="Courier New" panose="02070309020205020404" pitchFamily="49" charset="0"/>
              </a:rPr>
              <a:t>קריאת המערכת </a:t>
            </a:r>
            <a:r>
              <a:rPr lang="en-US" altLang="en-US" sz="1200" dirty="0">
                <a:latin typeface="Courier New" panose="02070309020205020404" pitchFamily="49" charset="0"/>
                <a:cs typeface="Courier New" panose="02070309020205020404" pitchFamily="49" charset="0"/>
              </a:rPr>
              <a:t>wait</a:t>
            </a:r>
            <a:r>
              <a:rPr lang="he-IL" altLang="en-US" sz="1200" dirty="0">
                <a:latin typeface="Courier New" panose="02070309020205020404" pitchFamily="49" charset="0"/>
                <a:cs typeface="Courier New" panose="02070309020205020404" pitchFamily="49" charset="0"/>
              </a:rPr>
              <a:t> אחראית על שחרור המשאב שהוקצה בקריאת המערכת </a:t>
            </a:r>
            <a:r>
              <a:rPr lang="en-US" altLang="en-US" sz="1200" dirty="0">
                <a:latin typeface="Courier New" panose="02070309020205020404" pitchFamily="49" charset="0"/>
                <a:cs typeface="Courier New" panose="02070309020205020404" pitchFamily="49" charset="0"/>
              </a:rPr>
              <a:t>fork</a:t>
            </a:r>
            <a:r>
              <a:rPr lang="he-IL" altLang="en-US" sz="1200" dirty="0">
                <a:latin typeface="Courier New" panose="02070309020205020404" pitchFamily="49" charset="0"/>
                <a:cs typeface="Courier New" panose="02070309020205020404" pitchFamily="49" charset="0"/>
              </a:rPr>
              <a:t>.</a:t>
            </a:r>
          </a:p>
          <a:p>
            <a:pPr algn="r" rtl="1"/>
            <a:r>
              <a:rPr lang="he-IL" altLang="en-US" sz="1200" dirty="0">
                <a:latin typeface="Courier New" panose="02070309020205020404" pitchFamily="49" charset="0"/>
                <a:cs typeface="Courier New" panose="02070309020205020404" pitchFamily="49" charset="0"/>
              </a:rPr>
              <a:t>נוח לזכור את ההקבלה: </a:t>
            </a:r>
            <a:r>
              <a:rPr lang="en-US" altLang="en-US" sz="1200" dirty="0">
                <a:latin typeface="Courier New" panose="02070309020205020404" pitchFamily="49" charset="0"/>
                <a:cs typeface="Courier New" panose="02070309020205020404" pitchFamily="49" charset="0"/>
              </a:rPr>
              <a:t>fork </a:t>
            </a:r>
            <a:r>
              <a:rPr lang="en-US" altLang="en-US" sz="1200" dirty="0">
                <a:latin typeface="Courier New" panose="02070309020205020404" pitchFamily="49" charset="0"/>
                <a:cs typeface="Courier New" panose="02070309020205020404" pitchFamily="49" charset="0"/>
                <a:sym typeface="Wingdings" panose="05000000000000000000" pitchFamily="2" charset="2"/>
              </a:rPr>
              <a:t> malloc   ,   wait  free</a:t>
            </a:r>
            <a:r>
              <a:rPr lang="he-IL" altLang="en-US" sz="1200" dirty="0">
                <a:latin typeface="Courier New" panose="02070309020205020404" pitchFamily="49" charset="0"/>
                <a:cs typeface="Courier New" panose="02070309020205020404" pitchFamily="49" charset="0"/>
                <a:sym typeface="Wingdings" panose="05000000000000000000" pitchFamily="2" charset="2"/>
              </a:rPr>
              <a:t> .</a:t>
            </a:r>
          </a:p>
          <a:p>
            <a:pPr algn="r" rtl="1"/>
            <a:endParaRPr lang="he-IL" altLang="en-US" sz="1200" dirty="0">
              <a:latin typeface="Courier New" panose="02070309020205020404" pitchFamily="49" charset="0"/>
              <a:cs typeface="Courier New" panose="02070309020205020404" pitchFamily="49" charset="0"/>
              <a:sym typeface="Wingdings" panose="05000000000000000000" pitchFamily="2" charset="2"/>
            </a:endParaRPr>
          </a:p>
          <a:p>
            <a:pPr algn="r" rtl="1"/>
            <a:r>
              <a:rPr lang="he-IL" altLang="en-US" sz="1200" dirty="0">
                <a:latin typeface="Courier New" panose="02070309020205020404" pitchFamily="49" charset="0"/>
                <a:cs typeface="Courier New" panose="02070309020205020404" pitchFamily="49" charset="0"/>
                <a:sym typeface="Wingdings" panose="05000000000000000000" pitchFamily="2" charset="2"/>
              </a:rPr>
              <a:t>2) ערך הסיום של הבן מכיל בביטים הנמוכים את ערך הסיום במידה והבן סיים מרצונו לרוץ ובביטים הגבוהים את הערך סיום במידה ומערכת ההפעלה החליטה להרוג אותו (לדוגמא כי ביצע גישה לא חוקית)</a:t>
            </a:r>
            <a:endParaRPr lang="en-US" altLang="en-US" sz="120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94525A9A-2399-4ACF-975E-77FD324B061A}" type="slidenum">
              <a:rPr lang="en-US" smtClean="0"/>
              <a:pPr/>
              <a:t>11</a:t>
            </a:fld>
            <a:endParaRPr lang="en-US"/>
          </a:p>
        </p:txBody>
      </p:sp>
    </p:spTree>
    <p:extLst>
      <p:ext uri="{BB962C8B-B14F-4D97-AF65-F5344CB8AC3E}">
        <p14:creationId xmlns:p14="http://schemas.microsoft.com/office/powerpoint/2010/main" val="3550155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10"/>
          </p:nvPr>
        </p:nvSpPr>
        <p:spPr/>
        <p:txBody>
          <a:bodyPr/>
          <a:lstStyle/>
          <a:p>
            <a:fld id="{94525A9A-2399-4ACF-975E-77FD324B061A}" type="slidenum">
              <a:rPr lang="en-US" smtClean="0"/>
              <a:pPr/>
              <a:t>12</a:t>
            </a:fld>
            <a:endParaRPr lang="en-US"/>
          </a:p>
        </p:txBody>
      </p:sp>
    </p:spTree>
    <p:extLst>
      <p:ext uri="{BB962C8B-B14F-4D97-AF65-F5344CB8AC3E}">
        <p14:creationId xmlns:p14="http://schemas.microsoft.com/office/powerpoint/2010/main" val="3754882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 Enable</a:t>
            </a:r>
            <a:r>
              <a:rPr lang="en-US" baseline="0"/>
              <a:t> the father process the option to check-up on the son’s exit reasons and internal information. </a:t>
            </a:r>
            <a:endParaRPr lang="en-US"/>
          </a:p>
        </p:txBody>
      </p:sp>
      <p:sp>
        <p:nvSpPr>
          <p:cNvPr id="4" name="Slide Number Placeholder 3"/>
          <p:cNvSpPr>
            <a:spLocks noGrp="1"/>
          </p:cNvSpPr>
          <p:nvPr>
            <p:ph type="sldNum" sz="quarter" idx="10"/>
          </p:nvPr>
        </p:nvSpPr>
        <p:spPr/>
        <p:txBody>
          <a:bodyPr/>
          <a:lstStyle/>
          <a:p>
            <a:fld id="{94525A9A-2399-4ACF-975E-77FD324B061A}" type="slidenum">
              <a:rPr lang="en-US" smtClean="0"/>
              <a:pPr/>
              <a:t>13</a:t>
            </a:fld>
            <a:endParaRPr lang="en-US"/>
          </a:p>
        </p:txBody>
      </p:sp>
    </p:spTree>
    <p:extLst>
      <p:ext uri="{BB962C8B-B14F-4D97-AF65-F5344CB8AC3E}">
        <p14:creationId xmlns:p14="http://schemas.microsoft.com/office/powerpoint/2010/main" val="2948049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dirty="0">
                <a:latin typeface="Arial"/>
                <a:cs typeface="Arial"/>
              </a:rPr>
              <a:t>לכאורה, הסתדרנו עד היום גם בלי קריאת המערכת </a:t>
            </a:r>
            <a:r>
              <a:rPr lang="en-US" b="0" dirty="0">
                <a:latin typeface="Arial"/>
                <a:cs typeface="Arial"/>
              </a:rPr>
              <a:t>exit()</a:t>
            </a:r>
            <a:r>
              <a:rPr lang="he-IL" b="0" dirty="0">
                <a:latin typeface="Arial"/>
                <a:cs typeface="Arial"/>
              </a:rPr>
              <a:t> ופשוט סיימנו תהליכים באמצעות </a:t>
            </a:r>
            <a:r>
              <a:rPr lang="en-US" b="0" dirty="0">
                <a:latin typeface="Arial"/>
                <a:cs typeface="Arial"/>
              </a:rPr>
              <a:t>return</a:t>
            </a:r>
            <a:r>
              <a:rPr lang="he-IL" b="0" dirty="0">
                <a:latin typeface="Arial"/>
                <a:cs typeface="Arial"/>
              </a:rPr>
              <a:t> בסוף פונקציית ה-</a:t>
            </a:r>
            <a:r>
              <a:rPr lang="en-US" b="0" dirty="0">
                <a:latin typeface="Arial"/>
                <a:cs typeface="Arial"/>
              </a:rPr>
              <a:t>main()</a:t>
            </a:r>
            <a:r>
              <a:rPr lang="he-IL" b="0" dirty="0">
                <a:latin typeface="Arial"/>
                <a:cs typeface="Arial"/>
              </a:rPr>
              <a:t>.</a:t>
            </a:r>
          </a:p>
          <a:p>
            <a:pPr algn="r" rtl="1"/>
            <a:r>
              <a:rPr lang="he-IL" b="0" dirty="0">
                <a:latin typeface="Arial"/>
                <a:cs typeface="Arial"/>
              </a:rPr>
              <a:t>לכן חשוב להדגיש לסטודנטים ש-</a:t>
            </a:r>
            <a:r>
              <a:rPr lang="en-US" b="0" dirty="0">
                <a:latin typeface="Arial"/>
                <a:cs typeface="Arial"/>
              </a:rPr>
              <a:t>return</a:t>
            </a:r>
            <a:r>
              <a:rPr lang="he-IL" b="0" dirty="0">
                <a:latin typeface="Arial"/>
                <a:cs typeface="Arial"/>
              </a:rPr>
              <a:t> היא לא קסם, וחייבים את עזרת מערכת ההפעלה (באמצעות קריאת המערכת </a:t>
            </a:r>
            <a:r>
              <a:rPr lang="en-US" b="0" dirty="0">
                <a:latin typeface="Arial"/>
                <a:cs typeface="Arial"/>
              </a:rPr>
              <a:t>exit</a:t>
            </a:r>
            <a:r>
              <a:rPr lang="he-IL" b="0" dirty="0">
                <a:latin typeface="Arial"/>
                <a:cs typeface="Arial"/>
              </a:rPr>
              <a:t>) כדי לסיים תהליך.</a:t>
            </a:r>
          </a:p>
          <a:p>
            <a:pPr algn="r" rtl="1"/>
            <a:r>
              <a:rPr lang="he-IL" b="0" dirty="0">
                <a:latin typeface="Arial"/>
                <a:cs typeface="Arial"/>
              </a:rPr>
              <a:t>למה חייבים את עזרת מערכת ההפעלה? למשל כדי להעיר את תהליך האב שחיכה לתהליך שזה עתה מסתיים באמצעות </a:t>
            </a:r>
            <a:r>
              <a:rPr lang="en-US" b="0" dirty="0">
                <a:latin typeface="Arial"/>
                <a:cs typeface="Arial"/>
              </a:rPr>
              <a:t>exit</a:t>
            </a:r>
            <a:r>
              <a:rPr lang="he-IL" b="0" dirty="0">
                <a:latin typeface="Arial"/>
                <a:cs typeface="Arial"/>
              </a:rPr>
              <a:t>.</a:t>
            </a:r>
          </a:p>
          <a:p>
            <a:pPr algn="r" rtl="1"/>
            <a:endParaRPr lang="he-IL" b="0" dirty="0">
              <a:latin typeface="Arial"/>
              <a:cs typeface="Arial"/>
            </a:endParaRPr>
          </a:p>
          <a:p>
            <a:pPr algn="r" rtl="1"/>
            <a:r>
              <a:rPr lang="he-IL" b="0" dirty="0">
                <a:latin typeface="Arial"/>
                <a:cs typeface="Arial"/>
              </a:rPr>
              <a:t>הערה: יש עוד סיבה לשימוש ב-</a:t>
            </a:r>
            <a:r>
              <a:rPr lang="en-US" b="0" dirty="0">
                <a:latin typeface="Arial"/>
                <a:cs typeface="Arial"/>
              </a:rPr>
              <a:t>exit()</a:t>
            </a:r>
            <a:r>
              <a:rPr lang="he-IL" b="0" dirty="0">
                <a:latin typeface="Arial"/>
                <a:cs typeface="Arial"/>
              </a:rPr>
              <a:t>, והיא נוחות למפתח התוכנה.</a:t>
            </a:r>
          </a:p>
          <a:p>
            <a:pPr algn="r" rtl="1"/>
            <a:r>
              <a:rPr lang="en-US" b="0" dirty="0">
                <a:latin typeface="Arial"/>
                <a:cs typeface="Arial"/>
              </a:rPr>
              <a:t>exit()</a:t>
            </a:r>
            <a:r>
              <a:rPr lang="he-IL" b="0" dirty="0">
                <a:latin typeface="Arial"/>
                <a:cs typeface="Arial"/>
              </a:rPr>
              <a:t> מאפשרת לקוד שנמצא עמוק בתוך שרשרת קריאות לפונקציות לסיים את התהליך באופן </a:t>
            </a:r>
            <a:r>
              <a:rPr lang="he-IL" b="0" dirty="0" err="1">
                <a:latin typeface="Arial"/>
                <a:cs typeface="Arial"/>
              </a:rPr>
              <a:t>מיידי</a:t>
            </a:r>
            <a:r>
              <a:rPr lang="he-IL" b="0" dirty="0">
                <a:latin typeface="Arial"/>
                <a:cs typeface="Arial"/>
              </a:rPr>
              <a:t> במקום להחזיר ערכי שגיאה אחורה עד לפונקציית ה-</a:t>
            </a:r>
            <a:r>
              <a:rPr lang="en-US" b="0" dirty="0">
                <a:latin typeface="Arial"/>
                <a:cs typeface="Arial"/>
              </a:rPr>
              <a:t>main()</a:t>
            </a:r>
            <a:r>
              <a:rPr lang="he-IL" b="0" dirty="0">
                <a:latin typeface="Arial"/>
                <a:cs typeface="Arial"/>
              </a:rPr>
              <a:t>.</a:t>
            </a:r>
          </a:p>
        </p:txBody>
      </p:sp>
      <p:sp>
        <p:nvSpPr>
          <p:cNvPr id="4" name="Slide Number Placeholder 3"/>
          <p:cNvSpPr>
            <a:spLocks noGrp="1"/>
          </p:cNvSpPr>
          <p:nvPr>
            <p:ph type="sldNum" sz="quarter" idx="10"/>
          </p:nvPr>
        </p:nvSpPr>
        <p:spPr/>
        <p:txBody>
          <a:bodyPr/>
          <a:lstStyle/>
          <a:p>
            <a:fld id="{94525A9A-2399-4ACF-975E-77FD324B061A}" type="slidenum">
              <a:rPr lang="en-US" smtClean="0"/>
              <a:pPr/>
              <a:t>14</a:t>
            </a:fld>
            <a:endParaRPr lang="en-US"/>
          </a:p>
        </p:txBody>
      </p:sp>
    </p:spTree>
    <p:extLst>
      <p:ext uri="{BB962C8B-B14F-4D97-AF65-F5344CB8AC3E}">
        <p14:creationId xmlns:p14="http://schemas.microsoft.com/office/powerpoint/2010/main" val="3655758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r" rtl="1">
              <a:buAutoNum type="arabicParenR"/>
            </a:pPr>
            <a:r>
              <a:rPr lang="en-US" dirty="0"/>
              <a:t>GCC</a:t>
            </a:r>
            <a:r>
              <a:rPr lang="he-IL" dirty="0"/>
              <a:t>- </a:t>
            </a:r>
            <a:r>
              <a:rPr lang="en-US" dirty="0"/>
              <a:t>GNU Compiler Collection</a:t>
            </a:r>
            <a:r>
              <a:rPr lang="he-IL" dirty="0"/>
              <a:t> – מכיל קומפיילרים ל-</a:t>
            </a:r>
            <a:r>
              <a:rPr lang="en-US" dirty="0"/>
              <a:t>C</a:t>
            </a:r>
            <a:r>
              <a:rPr lang="he-IL" dirty="0"/>
              <a:t> ,</a:t>
            </a:r>
            <a:r>
              <a:rPr lang="en-US" dirty="0"/>
              <a:t>C++ </a:t>
            </a:r>
            <a:r>
              <a:rPr lang="he-IL" dirty="0"/>
              <a:t> , </a:t>
            </a:r>
            <a:r>
              <a:rPr lang="en-US" dirty="0"/>
              <a:t>Fortran</a:t>
            </a:r>
            <a:r>
              <a:rPr lang="he-IL" dirty="0"/>
              <a:t>, </a:t>
            </a:r>
            <a:r>
              <a:rPr lang="en-US" dirty="0"/>
              <a:t>java</a:t>
            </a:r>
            <a:r>
              <a:rPr lang="he-IL" dirty="0"/>
              <a:t>, </a:t>
            </a:r>
            <a:r>
              <a:rPr lang="en-US" dirty="0"/>
              <a:t>GO</a:t>
            </a:r>
            <a:r>
              <a:rPr lang="he-IL" dirty="0"/>
              <a:t> ועוד.</a:t>
            </a:r>
          </a:p>
          <a:p>
            <a:pPr marL="228600" indent="-228600" algn="r" rtl="1">
              <a:buAutoNum type="arabicParenR"/>
            </a:pPr>
            <a:r>
              <a:rPr lang="en-US" dirty="0"/>
              <a:t>ABI</a:t>
            </a:r>
            <a:r>
              <a:rPr lang="he-IL" dirty="0"/>
              <a:t> – קונבנציית העברת פרמטרים לפונקציות.</a:t>
            </a:r>
          </a:p>
          <a:p>
            <a:pPr marL="228600" indent="-228600" algn="r" rtl="1">
              <a:buAutoNum type="arabicParenR"/>
            </a:pPr>
            <a:r>
              <a:rPr lang="he-IL" dirty="0"/>
              <a:t>גם אם כותבים ב- </a:t>
            </a:r>
            <a:r>
              <a:rPr lang="en-US" dirty="0"/>
              <a:t>java</a:t>
            </a:r>
            <a:r>
              <a:rPr lang="he-IL" dirty="0"/>
              <a:t> או </a:t>
            </a:r>
            <a:r>
              <a:rPr lang="he-IL" dirty="0" err="1"/>
              <a:t>בפייתון</a:t>
            </a:r>
            <a:r>
              <a:rPr lang="he-IL" dirty="0"/>
              <a:t> בסוף יש שכבה שקוראת </a:t>
            </a:r>
            <a:r>
              <a:rPr lang="he-IL"/>
              <a:t>ל- </a:t>
            </a:r>
            <a:r>
              <a:rPr lang="en-US"/>
              <a:t>libc</a:t>
            </a:r>
            <a:endParaRPr lang="he-IL"/>
          </a:p>
        </p:txBody>
      </p:sp>
      <p:sp>
        <p:nvSpPr>
          <p:cNvPr id="4" name="Slide Number Placeholder 3"/>
          <p:cNvSpPr>
            <a:spLocks noGrp="1"/>
          </p:cNvSpPr>
          <p:nvPr>
            <p:ph type="sldNum" sz="quarter" idx="5"/>
          </p:nvPr>
        </p:nvSpPr>
        <p:spPr/>
        <p:txBody>
          <a:bodyPr/>
          <a:lstStyle/>
          <a:p>
            <a:fld id="{B80D6124-671F-49C6-8E3E-75F0C969CC58}" type="slidenum">
              <a:rPr lang="he-IL" smtClean="0"/>
              <a:t>16</a:t>
            </a:fld>
            <a:endParaRPr lang="he-IL"/>
          </a:p>
        </p:txBody>
      </p:sp>
    </p:spTree>
    <p:extLst>
      <p:ext uri="{BB962C8B-B14F-4D97-AF65-F5344CB8AC3E}">
        <p14:creationId xmlns:p14="http://schemas.microsoft.com/office/powerpoint/2010/main" val="778867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Answer</a:t>
            </a:r>
            <a:r>
              <a:rPr lang="en-US" baseline="0"/>
              <a:t>: </a:t>
            </a:r>
            <a:r>
              <a:rPr lang="en-US" baseline="0" err="1"/>
              <a:t>execv</a:t>
            </a:r>
            <a:r>
              <a:rPr lang="en-US" baseline="0"/>
              <a:t>() can receive an arbitrary number of parameters, so we need to specify to the program where is the last one. </a:t>
            </a:r>
            <a:endParaRPr lang="he-IL"/>
          </a:p>
          <a:p>
            <a:r>
              <a:rPr lang="en-US"/>
              <a:t>Note:</a:t>
            </a:r>
            <a:r>
              <a:rPr lang="en-US" baseline="0"/>
              <a:t> </a:t>
            </a:r>
            <a:r>
              <a:rPr lang="en-US" err="1"/>
              <a:t>execv</a:t>
            </a:r>
            <a:r>
              <a:rPr lang="en-US"/>
              <a:t>() is actually one</a:t>
            </a:r>
            <a:r>
              <a:rPr lang="en-US" baseline="0"/>
              <a:t> of a large family of execute functions. You can read more in the </a:t>
            </a:r>
            <a:r>
              <a:rPr lang="en-US" b="1" baseline="0"/>
              <a:t>man</a:t>
            </a:r>
            <a:r>
              <a:rPr lang="en-US" b="0" baseline="0"/>
              <a:t> pages:</a:t>
            </a:r>
          </a:p>
          <a:p>
            <a:r>
              <a:rPr lang="en-US"/>
              <a:t>https://linux.die.net/man/3/execv</a:t>
            </a:r>
          </a:p>
        </p:txBody>
      </p:sp>
      <p:sp>
        <p:nvSpPr>
          <p:cNvPr id="4" name="Slide Number Placeholder 3"/>
          <p:cNvSpPr>
            <a:spLocks noGrp="1"/>
          </p:cNvSpPr>
          <p:nvPr>
            <p:ph type="sldNum" sz="quarter" idx="10"/>
          </p:nvPr>
        </p:nvSpPr>
        <p:spPr/>
        <p:txBody>
          <a:bodyPr/>
          <a:lstStyle/>
          <a:p>
            <a:fld id="{94525A9A-2399-4ACF-975E-77FD324B061A}" type="slidenum">
              <a:rPr lang="en-US" smtClean="0"/>
              <a:pPr/>
              <a:t>17</a:t>
            </a:fld>
            <a:endParaRPr lang="en-US"/>
          </a:p>
        </p:txBody>
      </p:sp>
    </p:spTree>
    <p:extLst>
      <p:ext uri="{BB962C8B-B14F-4D97-AF65-F5344CB8AC3E}">
        <p14:creationId xmlns:p14="http://schemas.microsoft.com/office/powerpoint/2010/main" val="2892642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err="1"/>
              <a:t>Pids</a:t>
            </a:r>
            <a:r>
              <a:rPr lang="en-US" b="1"/>
              <a:t> are made sequentially:</a:t>
            </a:r>
            <a:r>
              <a:rPr lang="en-US" b="1" baseline="0"/>
              <a:t> 0,1,2,3…. </a:t>
            </a:r>
            <a:endParaRPr lang="en-US" b="1"/>
          </a:p>
          <a:p>
            <a:r>
              <a:rPr lang="en-US"/>
              <a:t>headers:</a:t>
            </a:r>
          </a:p>
          <a:p>
            <a:r>
              <a:rPr lang="en-US"/>
              <a:t>#include &lt;</a:t>
            </a:r>
            <a:r>
              <a:rPr lang="en-US" err="1"/>
              <a:t>stdio.h</a:t>
            </a:r>
            <a:r>
              <a:rPr lang="en-US"/>
              <a:t>&gt;</a:t>
            </a:r>
          </a:p>
          <a:p>
            <a:r>
              <a:rPr lang="en-US"/>
              <a:t>#include &lt;</a:t>
            </a:r>
            <a:r>
              <a:rPr lang="en-US" err="1"/>
              <a:t>unistd.h</a:t>
            </a:r>
            <a:r>
              <a:rPr lang="en-US"/>
              <a:t>&gt;</a:t>
            </a:r>
          </a:p>
          <a:p>
            <a:r>
              <a:rPr lang="en-US"/>
              <a:t>#include &lt;sys/</a:t>
            </a:r>
            <a:r>
              <a:rPr lang="en-US" err="1"/>
              <a:t>wait.h</a:t>
            </a:r>
            <a:r>
              <a:rPr lang="en-US"/>
              <a:t>&gt;</a:t>
            </a:r>
          </a:p>
        </p:txBody>
      </p:sp>
      <p:sp>
        <p:nvSpPr>
          <p:cNvPr id="4" name="Slide Number Placeholder 3"/>
          <p:cNvSpPr>
            <a:spLocks noGrp="1"/>
          </p:cNvSpPr>
          <p:nvPr>
            <p:ph type="sldNum" sz="quarter" idx="10"/>
          </p:nvPr>
        </p:nvSpPr>
        <p:spPr/>
        <p:txBody>
          <a:bodyPr/>
          <a:lstStyle/>
          <a:p>
            <a:fld id="{94525A9A-2399-4ACF-975E-77FD324B061A}" type="slidenum">
              <a:rPr lang="en-US" smtClean="0"/>
              <a:pPr/>
              <a:t>19</a:t>
            </a:fld>
            <a:endParaRPr lang="en-US"/>
          </a:p>
        </p:txBody>
      </p:sp>
    </p:spTree>
    <p:extLst>
      <p:ext uri="{BB962C8B-B14F-4D97-AF65-F5344CB8AC3E}">
        <p14:creationId xmlns:p14="http://schemas.microsoft.com/office/powerpoint/2010/main" val="3123934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5A12F82-3D7C-4572-A93F-573C69EFAEFE}" type="slidenum">
              <a:rPr lang="he-IL" altLang="en-US"/>
              <a:pPr eaLnBrk="1" hangingPunct="1"/>
              <a:t>20</a:t>
            </a:fld>
            <a:endParaRPr lang="en-US" alt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endParaRPr lang="en-US" altLang="en-US"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562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the online terminal and demonstrate the difference between:</a:t>
            </a:r>
          </a:p>
          <a:p>
            <a:r>
              <a:rPr lang="en-US"/>
              <a:t>&gt;&gt; sleep 20</a:t>
            </a:r>
          </a:p>
          <a:p>
            <a:r>
              <a:rPr lang="en-US"/>
              <a:t>&gt;&gt; sleep 20 &amp;</a:t>
            </a:r>
          </a:p>
        </p:txBody>
      </p:sp>
      <p:sp>
        <p:nvSpPr>
          <p:cNvPr id="4" name="Slide Number Placeholder 3"/>
          <p:cNvSpPr>
            <a:spLocks noGrp="1"/>
          </p:cNvSpPr>
          <p:nvPr>
            <p:ph type="sldNum" sz="quarter" idx="5"/>
          </p:nvPr>
        </p:nvSpPr>
        <p:spPr/>
        <p:txBody>
          <a:bodyPr/>
          <a:lstStyle/>
          <a:p>
            <a:fld id="{94525A9A-2399-4ACF-975E-77FD324B061A}" type="slidenum">
              <a:rPr lang="en-US" smtClean="0"/>
              <a:pPr/>
              <a:t>21</a:t>
            </a:fld>
            <a:endParaRPr lang="en-US"/>
          </a:p>
        </p:txBody>
      </p:sp>
    </p:spTree>
    <p:extLst>
      <p:ext uri="{BB962C8B-B14F-4D97-AF65-F5344CB8AC3E}">
        <p14:creationId xmlns:p14="http://schemas.microsoft.com/office/powerpoint/2010/main" val="4206389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gn="r" rtl="1">
              <a:buAutoNum type="arabicParenR"/>
            </a:pPr>
            <a:r>
              <a:rPr lang="he-IL" dirty="0"/>
              <a:t>אפשר להריץ </a:t>
            </a:r>
            <a:r>
              <a:rPr lang="en-US" dirty="0" err="1"/>
              <a:t>pstree</a:t>
            </a:r>
            <a:r>
              <a:rPr lang="he-IL" dirty="0"/>
              <a:t> ב- </a:t>
            </a:r>
            <a:r>
              <a:rPr lang="en-US" dirty="0"/>
              <a:t>ubuntu</a:t>
            </a:r>
            <a:r>
              <a:rPr lang="he-IL" dirty="0"/>
              <a:t> ולהראות את קישרי המשפחה.</a:t>
            </a:r>
          </a:p>
          <a:p>
            <a:pPr marL="228600" indent="-228600" algn="r" rtl="1">
              <a:buAutoNum type="arabicParenR"/>
            </a:pPr>
            <a:r>
              <a:rPr lang="he-IL" dirty="0"/>
              <a:t>להסביר על ההבדל בין מכונה וירטואלית לבין </a:t>
            </a:r>
            <a:r>
              <a:rPr lang="en-US" dirty="0"/>
              <a:t>QEMU emulator</a:t>
            </a:r>
            <a:r>
              <a:rPr lang="he-IL" dirty="0"/>
              <a:t> </a:t>
            </a:r>
            <a:r>
              <a:rPr lang="he-IL"/>
              <a:t>לקראת התרגיל</a:t>
            </a:r>
            <a:endParaRPr lang="en-US" dirty="0"/>
          </a:p>
        </p:txBody>
      </p:sp>
      <p:sp>
        <p:nvSpPr>
          <p:cNvPr id="4" name="Slide Number Placeholder 3"/>
          <p:cNvSpPr>
            <a:spLocks noGrp="1"/>
          </p:cNvSpPr>
          <p:nvPr>
            <p:ph type="sldNum" sz="quarter" idx="10"/>
          </p:nvPr>
        </p:nvSpPr>
        <p:spPr/>
        <p:txBody>
          <a:bodyPr/>
          <a:lstStyle/>
          <a:p>
            <a:fld id="{94525A9A-2399-4ACF-975E-77FD324B061A}" type="slidenum">
              <a:rPr lang="en-US" smtClean="0"/>
              <a:pPr/>
              <a:t>22</a:t>
            </a:fld>
            <a:endParaRPr lang="en-US"/>
          </a:p>
        </p:txBody>
      </p:sp>
    </p:spTree>
    <p:extLst>
      <p:ext uri="{BB962C8B-B14F-4D97-AF65-F5344CB8AC3E}">
        <p14:creationId xmlns:p14="http://schemas.microsoft.com/office/powerpoint/2010/main" val="3263903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a:p>
        </p:txBody>
      </p:sp>
      <p:sp>
        <p:nvSpPr>
          <p:cNvPr id="4" name="Slide Number Placeholder 3"/>
          <p:cNvSpPr>
            <a:spLocks noGrp="1"/>
          </p:cNvSpPr>
          <p:nvPr>
            <p:ph type="sldNum" sz="quarter" idx="10"/>
          </p:nvPr>
        </p:nvSpPr>
        <p:spPr/>
        <p:txBody>
          <a:bodyPr/>
          <a:lstStyle/>
          <a:p>
            <a:fld id="{94525A9A-2399-4ACF-975E-77FD324B061A}" type="slidenum">
              <a:rPr lang="en-US" smtClean="0"/>
              <a:pPr/>
              <a:t>25</a:t>
            </a:fld>
            <a:endParaRPr lang="en-US"/>
          </a:p>
        </p:txBody>
      </p:sp>
    </p:spTree>
    <p:extLst>
      <p:ext uri="{BB962C8B-B14F-4D97-AF65-F5344CB8AC3E}">
        <p14:creationId xmlns:p14="http://schemas.microsoft.com/office/powerpoint/2010/main" val="9824065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תשובה: מחסנית משתמש כמובן – קריאת המערכת נקראת מקוד משתמש ואסור</a:t>
            </a:r>
            <a:r>
              <a:rPr lang="he-IL" baseline="0"/>
              <a:t> לתת לה אפשרות לשלוט במיקום </a:t>
            </a:r>
            <a:r>
              <a:rPr lang="he-IL"/>
              <a:t>מחסנית הגרעין.</a:t>
            </a:r>
            <a:endParaRPr lang="en-US"/>
          </a:p>
        </p:txBody>
      </p:sp>
      <p:sp>
        <p:nvSpPr>
          <p:cNvPr id="4" name="Slide Number Placeholder 3"/>
          <p:cNvSpPr>
            <a:spLocks noGrp="1"/>
          </p:cNvSpPr>
          <p:nvPr>
            <p:ph type="sldNum" sz="quarter" idx="10"/>
          </p:nvPr>
        </p:nvSpPr>
        <p:spPr/>
        <p:txBody>
          <a:bodyPr/>
          <a:lstStyle/>
          <a:p>
            <a:fld id="{94525A9A-2399-4ACF-975E-77FD324B061A}" type="slidenum">
              <a:rPr lang="en-US" smtClean="0"/>
              <a:pPr/>
              <a:t>26</a:t>
            </a:fld>
            <a:endParaRPr lang="en-US"/>
          </a:p>
        </p:txBody>
      </p:sp>
    </p:spTree>
    <p:extLst>
      <p:ext uri="{BB962C8B-B14F-4D97-AF65-F5344CB8AC3E}">
        <p14:creationId xmlns:p14="http://schemas.microsoft.com/office/powerpoint/2010/main" val="2548298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228600" indent="-228600" algn="r" rtl="1">
              <a:buAutoNum type="arabicParenR"/>
            </a:pPr>
            <a:r>
              <a:rPr lang="he-IL"/>
              <a:t>בקוד </a:t>
            </a:r>
            <a:r>
              <a:rPr lang="he-IL" dirty="0" err="1"/>
              <a:t>הקרנל</a:t>
            </a:r>
            <a:r>
              <a:rPr lang="he-IL" dirty="0"/>
              <a:t> לא מבדילים בין תהליך לחוט ובעצם </a:t>
            </a:r>
            <a:r>
              <a:rPr lang="he-IL" dirty="0" err="1"/>
              <a:t>בקרנל</a:t>
            </a:r>
            <a:r>
              <a:rPr lang="he-IL" dirty="0"/>
              <a:t> שניהם מיוצגים ע"י אותו מבנה נתונים ונקראים </a:t>
            </a:r>
            <a:r>
              <a:rPr lang="en-US" dirty="0"/>
              <a:t>task</a:t>
            </a:r>
            <a:r>
              <a:rPr lang="he-IL" dirty="0"/>
              <a:t>-ים</a:t>
            </a:r>
            <a:r>
              <a:rPr lang="he-IL"/>
              <a:t>! </a:t>
            </a:r>
            <a:endParaRPr lang="en-US"/>
          </a:p>
          <a:p>
            <a:pPr marL="228600" indent="-228600" algn="r" rtl="1">
              <a:buAutoNum type="arabicParenR"/>
            </a:pPr>
            <a:r>
              <a:rPr lang="he-IL"/>
              <a:t>יש עוד הרבה דגלים ל- </a:t>
            </a:r>
            <a:r>
              <a:rPr lang="en-US"/>
              <a:t>clone</a:t>
            </a:r>
            <a:r>
              <a:rPr lang="he-IL"/>
              <a:t> שמאפשרים יצירת תהליכי בן מכל מיני סוגים, בין היתר דגלים הקשורים ל- </a:t>
            </a:r>
            <a:r>
              <a:rPr lang="en-US"/>
              <a:t>namespace</a:t>
            </a:r>
            <a:r>
              <a:rPr lang="he-IL"/>
              <a:t> שמהווים בסיס ליצירת </a:t>
            </a:r>
            <a:r>
              <a:rPr lang="en-US"/>
              <a:t>containers</a:t>
            </a:r>
            <a:endParaRPr lang="he-IL" dirty="0"/>
          </a:p>
        </p:txBody>
      </p:sp>
      <p:sp>
        <p:nvSpPr>
          <p:cNvPr id="4" name="מציין מיקום של מספר שקופית 3"/>
          <p:cNvSpPr>
            <a:spLocks noGrp="1"/>
          </p:cNvSpPr>
          <p:nvPr>
            <p:ph type="sldNum" sz="quarter" idx="5"/>
          </p:nvPr>
        </p:nvSpPr>
        <p:spPr/>
        <p:txBody>
          <a:bodyPr/>
          <a:lstStyle/>
          <a:p>
            <a:fld id="{94525A9A-2399-4ACF-975E-77FD324B061A}" type="slidenum">
              <a:rPr lang="en-US" smtClean="0"/>
              <a:pPr/>
              <a:t>27</a:t>
            </a:fld>
            <a:endParaRPr lang="en-US"/>
          </a:p>
        </p:txBody>
      </p:sp>
    </p:spTree>
    <p:extLst>
      <p:ext uri="{BB962C8B-B14F-4D97-AF65-F5344CB8AC3E}">
        <p14:creationId xmlns:p14="http://schemas.microsoft.com/office/powerpoint/2010/main" val="1899939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lgn="r" rtl="1">
              <a:defRPr sz="5400"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r" rtl="1">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lgn="r" rtl="1">
              <a:defRPr/>
            </a:lvl1pPr>
          </a:lstStyle>
          <a:p>
            <a:endParaRPr lang="en-US"/>
          </a:p>
        </p:txBody>
      </p:sp>
      <p:sp>
        <p:nvSpPr>
          <p:cNvPr id="5" name="Footer Placeholder 4"/>
          <p:cNvSpPr>
            <a:spLocks noGrp="1"/>
          </p:cNvSpPr>
          <p:nvPr>
            <p:ph type="ftr" sz="quarter" idx="11"/>
          </p:nvPr>
        </p:nvSpPr>
        <p:spPr/>
        <p:txBody>
          <a:bodyPr/>
          <a:lstStyle>
            <a:lvl1pPr algn="r" rtl="1">
              <a:defRPr/>
            </a:lvl1pPr>
          </a:lstStyle>
          <a:p>
            <a:r>
              <a:rPr lang="he-IL"/>
              <a:t>מערכות הפעלה - תרגול 2</a:t>
            </a:r>
            <a:endParaRPr lang="en-US"/>
          </a:p>
        </p:txBody>
      </p:sp>
      <p:sp>
        <p:nvSpPr>
          <p:cNvPr id="6" name="Slide Number Placeholder 5"/>
          <p:cNvSpPr>
            <a:spLocks noGrp="1"/>
          </p:cNvSpPr>
          <p:nvPr>
            <p:ph type="sldNum" sz="quarter" idx="12"/>
          </p:nvPr>
        </p:nvSpPr>
        <p:spPr/>
        <p:txBody>
          <a:bodyPr/>
          <a:lstStyle>
            <a:lvl1pPr algn="r" rtl="1">
              <a:defRPr/>
            </a:lvl1p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pPr algn="r"/>
            <a:r>
              <a:rPr lang="he-IL"/>
              <a:t>מערכות הפעלה - תרגול 2</a:t>
            </a:r>
            <a:endParaRPr lang="en-US"/>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pPr algn="r"/>
            <a:r>
              <a:rPr lang="he-IL"/>
              <a:t>מערכות הפעלה - תרגול 2</a:t>
            </a:r>
            <a:endParaRPr lang="en-US"/>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pPr algn="r"/>
            <a:r>
              <a:rPr lang="he-IL"/>
              <a:t>מערכות הפעלה - תרגול 2</a:t>
            </a:r>
            <a:endParaRPr lang="en-US"/>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lgn="r" rtl="1">
              <a:defRPr sz="5400"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r" rtl="1">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lgn="r" rtl="1">
              <a:defRPr/>
            </a:lvl1pPr>
          </a:lstStyle>
          <a:p>
            <a:endParaRPr lang="en-US"/>
          </a:p>
        </p:txBody>
      </p:sp>
      <p:sp>
        <p:nvSpPr>
          <p:cNvPr id="5" name="Footer Placeholder 4"/>
          <p:cNvSpPr>
            <a:spLocks noGrp="1"/>
          </p:cNvSpPr>
          <p:nvPr>
            <p:ph type="ftr" sz="quarter" idx="11"/>
          </p:nvPr>
        </p:nvSpPr>
        <p:spPr/>
        <p:txBody>
          <a:bodyPr/>
          <a:lstStyle>
            <a:lvl1pPr algn="r" rtl="1">
              <a:defRPr/>
            </a:lvl1pPr>
          </a:lstStyle>
          <a:p>
            <a:r>
              <a:rPr lang="he-IL"/>
              <a:t>מערכות הפעלה - תרגול 2</a:t>
            </a:r>
            <a:endParaRPr lang="en-US"/>
          </a:p>
        </p:txBody>
      </p:sp>
      <p:sp>
        <p:nvSpPr>
          <p:cNvPr id="6" name="Slide Number Placeholder 5"/>
          <p:cNvSpPr>
            <a:spLocks noGrp="1"/>
          </p:cNvSpPr>
          <p:nvPr>
            <p:ph type="sldNum" sz="quarter" idx="12"/>
          </p:nvPr>
        </p:nvSpPr>
        <p:spPr/>
        <p:txBody>
          <a:bodyPr/>
          <a:lstStyle>
            <a:lvl1pPr algn="r" rtl="1">
              <a:defRPr/>
            </a:lvl1pPr>
          </a:lstStyle>
          <a:p>
            <a:fld id="{0CFEC368-1D7A-4F81-ABF6-AE0E36BAF64C}"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2483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4238200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41736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40580097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pPr algn="r"/>
            <a:r>
              <a:rPr lang="he-IL"/>
              <a:t>מערכות הפעלה - תרגול 2</a:t>
            </a:r>
            <a:endParaRPr lang="en-US"/>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760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pPr algn="r"/>
            <a:r>
              <a:rPr lang="he-IL"/>
              <a:t>מערכות הפעלה - תרגול 2</a:t>
            </a:r>
            <a:endParaRPr lang="en-US"/>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1459814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pPr algn="r"/>
            <a:r>
              <a:rPr lang="he-IL"/>
              <a:t>מערכות הפעלה - תרגול 2</a:t>
            </a:r>
            <a:endParaRPr lang="en-US"/>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35644686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5205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pPr algn="r"/>
            <a:r>
              <a:rPr lang="he-IL"/>
              <a:t>מערכות הפעלה - תרגול 2</a:t>
            </a:r>
            <a:endParaRPr lang="en-US"/>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18934347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5681331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pPr algn="r"/>
            <a:r>
              <a:rPr lang="he-IL"/>
              <a:t>מערכות הפעלה - תרגול 2</a:t>
            </a:r>
            <a:endParaRPr lang="en-US"/>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extLst>
      <p:ext uri="{BB962C8B-B14F-4D97-AF65-F5344CB8AC3E}">
        <p14:creationId xmlns:p14="http://schemas.microsoft.com/office/powerpoint/2010/main" val="30016772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457200"/>
            <a:ext cx="82296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p:cNvSpPr>
            <a:spLocks noGrp="1" noChangeArrowheads="1"/>
          </p:cNvSpPr>
          <p:nvPr>
            <p:ph type="ftr" sz="quarter" idx="10"/>
          </p:nvPr>
        </p:nvSpPr>
        <p:spPr>
          <a:ln/>
        </p:spPr>
        <p:txBody>
          <a:bodyPr/>
          <a:lstStyle>
            <a:lvl1pPr>
              <a:defRPr/>
            </a:lvl1pPr>
          </a:lstStyle>
          <a:p>
            <a:pPr>
              <a:defRPr/>
            </a:pPr>
            <a:r>
              <a:rPr lang="he-IL"/>
              <a:t>מערכות הפעלה - תרגול 2</a:t>
            </a: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EC3D4168-B19F-4812-8C24-2B04C8270799}" type="slidenum">
              <a:rPr lang="ar-SA"/>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84263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r" rtl="1">
              <a:defRPr sz="1200">
                <a:solidFill>
                  <a:srgbClr val="FFFFFF"/>
                </a:solidFill>
              </a:defRPr>
            </a:lvl1pPr>
          </a:lstStyle>
          <a:p>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r" rtl="1">
              <a:defRPr sz="1200">
                <a:solidFill>
                  <a:srgbClr val="FFFFFF"/>
                </a:solidFill>
              </a:defRPr>
            </a:lvl1pPr>
          </a:lstStyle>
          <a:p>
            <a:r>
              <a:rPr lang="he-IL"/>
              <a:t>מערכות הפעלה - תרגול 2</a:t>
            </a:r>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r" rtl="1">
              <a:defRPr sz="1400" b="1">
                <a:solidFill>
                  <a:srgbClr val="FFFFFF"/>
                </a:solidFill>
              </a:defRPr>
            </a:lvl1pPr>
          </a:lstStyle>
          <a:p>
            <a:fld id="{0CFEC368-1D7A-4F81-ABF6-AE0E36BAF64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dt="0"/>
  <p:txStyles>
    <p:titleStyle>
      <a:lvl1pPr algn="r" defTabSz="914400" rtl="1"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r" defTabSz="914400" rtl="1"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r" defTabSz="914400" rtl="1"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r" defTabSz="914400" rtl="1"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r" defTabSz="914400" rtl="1"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r" defTabSz="914400" rtl="1"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r" rtl="1">
              <a:defRPr sz="1200">
                <a:solidFill>
                  <a:srgbClr val="FFFFFF"/>
                </a:solidFill>
              </a:defRPr>
            </a:lvl1pPr>
          </a:lstStyle>
          <a:p>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r" rtl="1">
              <a:defRPr sz="1200">
                <a:solidFill>
                  <a:srgbClr val="FFFFFF"/>
                </a:solidFill>
              </a:defRPr>
            </a:lvl1pPr>
          </a:lstStyle>
          <a:p>
            <a:r>
              <a:rPr lang="he-IL"/>
              <a:t>מערכות הפעלה - תרגול 2</a:t>
            </a:r>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r" rtl="1">
              <a:defRPr sz="1400" b="1">
                <a:solidFill>
                  <a:srgbClr val="FFFFFF"/>
                </a:solidFill>
              </a:defRPr>
            </a:lvl1pPr>
          </a:lstStyle>
          <a:p>
            <a:fld id="{0CFEC368-1D7A-4F81-ABF6-AE0E36BAF64C}" type="slidenum">
              <a:rPr lang="en-US" smtClean="0"/>
              <a:pPr/>
              <a:t>‹#›</a:t>
            </a:fld>
            <a:endParaRPr lang="en-US"/>
          </a:p>
        </p:txBody>
      </p:sp>
    </p:spTree>
    <p:extLst>
      <p:ext uri="{BB962C8B-B14F-4D97-AF65-F5344CB8AC3E}">
        <p14:creationId xmlns:p14="http://schemas.microsoft.com/office/powerpoint/2010/main" val="1829586136"/>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Lst>
  <p:hf hdr="0" dt="0"/>
  <p:txStyles>
    <p:titleStyle>
      <a:lvl1pPr algn="r" defTabSz="914400" rtl="1"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r" defTabSz="914400" rtl="1"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r" defTabSz="914400" rtl="1"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r" defTabSz="914400" rtl="1"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r" defTabSz="914400" rtl="1"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r" defTabSz="914400" rtl="1"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tutorialspoint.com/unix_terminal_online.ph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he-IL" dirty="0"/>
              <a:t>תהליכים בלינוקס</a:t>
            </a:r>
            <a:endParaRPr lang="en-US" dirty="0"/>
          </a:p>
        </p:txBody>
      </p:sp>
      <p:sp>
        <p:nvSpPr>
          <p:cNvPr id="3" name="Subtitle 2"/>
          <p:cNvSpPr>
            <a:spLocks noGrp="1"/>
          </p:cNvSpPr>
          <p:nvPr>
            <p:ph type="subTitle" idx="1"/>
          </p:nvPr>
        </p:nvSpPr>
        <p:spPr/>
        <p:txBody>
          <a:bodyPr>
            <a:normAutofit/>
          </a:bodyPr>
          <a:lstStyle/>
          <a:p>
            <a:r>
              <a:rPr lang="he-IL" dirty="0"/>
              <a:t>קריאות מערכת לעבודה עם תהליכים</a:t>
            </a:r>
          </a:p>
          <a:p>
            <a:r>
              <a:rPr lang="he-IL" dirty="0"/>
              <a:t>ניהול תהליכים בגרעין לינוקס</a:t>
            </a:r>
          </a:p>
          <a:p>
            <a:r>
              <a:rPr lang="he-IL" dirty="0"/>
              <a:t>תורי תהליכים</a:t>
            </a:r>
            <a:endParaRPr lang="he-IL" alt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1</a:t>
            </a:fld>
            <a:endParaRPr lang="en-US" dirty="0"/>
          </a:p>
        </p:txBody>
      </p:sp>
    </p:spTree>
    <p:extLst>
      <p:ext uri="{BB962C8B-B14F-4D97-AF65-F5344CB8AC3E}">
        <p14:creationId xmlns:p14="http://schemas.microsoft.com/office/powerpoint/2010/main" val="2542881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8018"/>
          </a:xfrm>
        </p:spPr>
        <p:txBody>
          <a:bodyPr>
            <a:normAutofit fontScale="90000"/>
          </a:bodyPr>
          <a:lstStyle/>
          <a:p>
            <a:pPr algn="ctr"/>
            <a:r>
              <a:rPr lang="he-IL" dirty="0"/>
              <a:t>תוכנית, תהליך וניהול התהליך</a:t>
            </a:r>
          </a:p>
        </p:txBody>
      </p:sp>
      <p:sp>
        <p:nvSpPr>
          <p:cNvPr id="5" name="Slide Number Placeholder 4"/>
          <p:cNvSpPr>
            <a:spLocks noGrp="1"/>
          </p:cNvSpPr>
          <p:nvPr>
            <p:ph type="sldNum" sz="quarter" idx="12"/>
          </p:nvPr>
        </p:nvSpPr>
        <p:spPr/>
        <p:txBody>
          <a:bodyPr/>
          <a:lstStyle/>
          <a:p>
            <a:fld id="{0CFEC368-1D7A-4F81-ABF6-AE0E36BAF64C}" type="slidenum">
              <a:rPr lang="en-US" smtClean="0"/>
              <a:pPr/>
              <a:t>2</a:t>
            </a:fld>
            <a:endParaRPr lang="en-US" dirty="0"/>
          </a:p>
        </p:txBody>
      </p:sp>
      <p:sp>
        <p:nvSpPr>
          <p:cNvPr id="6" name="Content Placeholder 2">
            <a:extLst>
              <a:ext uri="{FF2B5EF4-FFF2-40B4-BE49-F238E27FC236}">
                <a16:creationId xmlns:a16="http://schemas.microsoft.com/office/drawing/2014/main" id="{1F6349F7-A565-4219-8BCC-8907C51B7C3A}"/>
              </a:ext>
            </a:extLst>
          </p:cNvPr>
          <p:cNvSpPr>
            <a:spLocks noGrp="1"/>
          </p:cNvSpPr>
          <p:nvPr>
            <p:ph sz="half" idx="4294967295"/>
          </p:nvPr>
        </p:nvSpPr>
        <p:spPr>
          <a:xfrm>
            <a:off x="6400800" y="1457036"/>
            <a:ext cx="2595418" cy="2410691"/>
          </a:xfrm>
          <a:prstGeom prst="rect">
            <a:avLst/>
          </a:prstGeom>
          <a:ln>
            <a:solidFill>
              <a:srgbClr val="00B0F0"/>
            </a:solidFill>
          </a:ln>
        </p:spPr>
        <p:txBody>
          <a:bodyPr>
            <a:normAutofit/>
          </a:bodyPr>
          <a:lstStyle/>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#include &lt;stdio.h&gt;</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int main()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unsigned char ch;</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printf(“Hello World\n”);</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ch = getchar();</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while(1)</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printf(“char is %c”,ch);</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sleep(1);</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return 0;</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a:t>
            </a:r>
          </a:p>
        </p:txBody>
      </p:sp>
      <p:sp>
        <p:nvSpPr>
          <p:cNvPr id="7" name="TextBox 6"/>
          <p:cNvSpPr txBox="1"/>
          <p:nvPr/>
        </p:nvSpPr>
        <p:spPr>
          <a:xfrm>
            <a:off x="217055" y="2175224"/>
            <a:ext cx="919018" cy="369332"/>
          </a:xfrm>
          <a:prstGeom prst="rect">
            <a:avLst/>
          </a:prstGeom>
          <a:noFill/>
        </p:spPr>
        <p:txBody>
          <a:bodyPr wrap="square" rtlCol="1">
            <a:spAutoFit/>
          </a:bodyPr>
          <a:lstStyle/>
          <a:p>
            <a:r>
              <a:rPr lang="en-US" dirty="0"/>
              <a:t>current</a:t>
            </a:r>
            <a:endParaRPr lang="he-IL" dirty="0"/>
          </a:p>
        </p:txBody>
      </p:sp>
      <p:sp>
        <p:nvSpPr>
          <p:cNvPr id="8" name="Content Placeholder 2">
            <a:extLst>
              <a:ext uri="{FF2B5EF4-FFF2-40B4-BE49-F238E27FC236}">
                <a16:creationId xmlns:a16="http://schemas.microsoft.com/office/drawing/2014/main" id="{1F6349F7-A565-4219-8BCC-8907C51B7C3A}"/>
              </a:ext>
            </a:extLst>
          </p:cNvPr>
          <p:cNvSpPr>
            <a:spLocks noGrp="1"/>
          </p:cNvSpPr>
          <p:nvPr>
            <p:ph sz="half" idx="4294967295"/>
          </p:nvPr>
        </p:nvSpPr>
        <p:spPr>
          <a:xfrm>
            <a:off x="1380835" y="2244435"/>
            <a:ext cx="2969492" cy="2410691"/>
          </a:xfrm>
          <a:prstGeom prst="rect">
            <a:avLst/>
          </a:prstGeom>
          <a:ln>
            <a:solidFill>
              <a:srgbClr val="00B0F0"/>
            </a:solidFill>
          </a:ln>
        </p:spPr>
        <p:txBody>
          <a:bodyPr>
            <a:normAutofit lnSpcReduction="10000"/>
          </a:bodyPr>
          <a:lstStyle/>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sturct task_struct{</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int pid;</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unsigned long state;</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int prio;</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unsigned long policy;</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struct task_struct* parent;</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srtuct list_head tasks;</a:t>
            </a:r>
          </a:p>
          <a:p>
            <a:pPr marL="0" indent="0" algn="l" rtl="0">
              <a:buFont typeface="Wingdings" panose="05000000000000000000" pitchFamily="2" charset="2"/>
              <a:buNone/>
            </a:pPr>
            <a:r>
              <a:rPr lang="en-US" sz="1000" dirty="0">
                <a:latin typeface="Courier New" panose="02070309020205020404" pitchFamily="49" charset="0"/>
                <a:cs typeface="Courier New" panose="02070309020205020404" pitchFamily="49" charset="0"/>
              </a:rPr>
              <a:t>    struct list_head sibling;</a:t>
            </a:r>
            <a:endParaRPr lang="en-US" altLang="en-US" sz="1000" dirty="0">
              <a:latin typeface="Courier New" panose="02070309020205020404" pitchFamily="49" charset="0"/>
              <a:cs typeface="Courier New" panose="02070309020205020404" pitchFamily="49" charset="0"/>
            </a:endParaRPr>
          </a:p>
          <a:p>
            <a:pPr marL="0" indent="0" algn="l" rtl="0">
              <a:buFont typeface="Wingdings" panose="05000000000000000000" pitchFamily="2" charset="2"/>
              <a:buNone/>
            </a:pPr>
            <a:r>
              <a:rPr lang="en-US" sz="1000" dirty="0"/>
              <a:t>         </a:t>
            </a:r>
            <a:r>
              <a:rPr lang="en-US" sz="1000" dirty="0">
                <a:latin typeface="Courier New" panose="02070309020205020404" pitchFamily="49" charset="0"/>
                <a:cs typeface="Courier New" panose="02070309020205020404" pitchFamily="49" charset="0"/>
              </a:rPr>
              <a:t>struct thread_struct thread;</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struct files_struct* files;</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a:t>
            </a:r>
          </a:p>
        </p:txBody>
      </p:sp>
      <p:cxnSp>
        <p:nvCxnSpPr>
          <p:cNvPr id="10" name="Straight Arrow Connector 9"/>
          <p:cNvCxnSpPr/>
          <p:nvPr/>
        </p:nvCxnSpPr>
        <p:spPr>
          <a:xfrm>
            <a:off x="1006764" y="2359890"/>
            <a:ext cx="443345" cy="0"/>
          </a:xfrm>
          <a:prstGeom prst="straightConnector1">
            <a:avLst/>
          </a:prstGeom>
          <a:ln w="28575">
            <a:solidFill>
              <a:srgbClr val="FF339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2225964" y="3943927"/>
            <a:ext cx="1293092" cy="1079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4"/>
          <p:cNvGraphicFramePr>
            <a:graphicFrameLocks noGrp="1"/>
          </p:cNvGraphicFramePr>
          <p:nvPr>
            <p:extLst>
              <p:ext uri="{D42A27DB-BD31-4B8C-83A1-F6EECF244321}">
                <p14:modId xmlns:p14="http://schemas.microsoft.com/office/powerpoint/2010/main" val="1703940371"/>
              </p:ext>
            </p:extLst>
          </p:nvPr>
        </p:nvGraphicFramePr>
        <p:xfrm>
          <a:off x="1496292" y="5264727"/>
          <a:ext cx="1108365" cy="1280160"/>
        </p:xfrm>
        <a:graphic>
          <a:graphicData uri="http://schemas.openxmlformats.org/drawingml/2006/table">
            <a:tbl>
              <a:tblPr rtl="1">
                <a:tableStyleId>{5C22544A-7EE6-4342-B048-85BDC9FD1C3A}</a:tableStyleId>
              </a:tblPr>
              <a:tblGrid>
                <a:gridCol w="1108365">
                  <a:extLst>
                    <a:ext uri="{9D8B030D-6E8A-4147-A177-3AD203B41FA5}">
                      <a16:colId xmlns:a16="http://schemas.microsoft.com/office/drawing/2014/main" val="20000"/>
                    </a:ext>
                  </a:extLst>
                </a:gridCol>
              </a:tblGrid>
              <a:tr h="206279">
                <a:tc>
                  <a:txBody>
                    <a:bodyPr/>
                    <a:lstStyle/>
                    <a:p>
                      <a:pPr rtl="1"/>
                      <a:r>
                        <a:rPr lang="en-US" sz="800" dirty="0"/>
                        <a:t>stdin</a:t>
                      </a:r>
                      <a:endParaRPr lang="he-IL" sz="800" dirty="0"/>
                    </a:p>
                  </a:txBody>
                  <a:tcPr/>
                </a:tc>
                <a:extLst>
                  <a:ext uri="{0D108BD9-81ED-4DB2-BD59-A6C34878D82A}">
                    <a16:rowId xmlns:a16="http://schemas.microsoft.com/office/drawing/2014/main" val="10000"/>
                  </a:ext>
                </a:extLst>
              </a:tr>
              <a:tr h="206279">
                <a:tc>
                  <a:txBody>
                    <a:bodyPr/>
                    <a:lstStyle/>
                    <a:p>
                      <a:pPr rtl="1"/>
                      <a:r>
                        <a:rPr lang="en-US" sz="800" dirty="0"/>
                        <a:t>stdout</a:t>
                      </a:r>
                      <a:endParaRPr lang="he-IL" sz="800" dirty="0"/>
                    </a:p>
                  </a:txBody>
                  <a:tcPr/>
                </a:tc>
                <a:extLst>
                  <a:ext uri="{0D108BD9-81ED-4DB2-BD59-A6C34878D82A}">
                    <a16:rowId xmlns:a16="http://schemas.microsoft.com/office/drawing/2014/main" val="10001"/>
                  </a:ext>
                </a:extLst>
              </a:tr>
              <a:tr h="206279">
                <a:tc>
                  <a:txBody>
                    <a:bodyPr/>
                    <a:lstStyle/>
                    <a:p>
                      <a:pPr rtl="1"/>
                      <a:r>
                        <a:rPr lang="en-US" sz="800" dirty="0"/>
                        <a:t>stderror</a:t>
                      </a:r>
                      <a:endParaRPr lang="he-IL" sz="800" dirty="0"/>
                    </a:p>
                  </a:txBody>
                  <a:tcPr/>
                </a:tc>
                <a:extLst>
                  <a:ext uri="{0D108BD9-81ED-4DB2-BD59-A6C34878D82A}">
                    <a16:rowId xmlns:a16="http://schemas.microsoft.com/office/drawing/2014/main" val="10002"/>
                  </a:ext>
                </a:extLst>
              </a:tr>
              <a:tr h="206279">
                <a:tc>
                  <a:txBody>
                    <a:bodyPr/>
                    <a:lstStyle/>
                    <a:p>
                      <a:pPr rtl="1"/>
                      <a:r>
                        <a:rPr lang="en-US" sz="800" dirty="0"/>
                        <a:t>HW1.txt</a:t>
                      </a:r>
                      <a:endParaRPr lang="he-IL" sz="800" dirty="0"/>
                    </a:p>
                  </a:txBody>
                  <a:tcPr/>
                </a:tc>
                <a:extLst>
                  <a:ext uri="{0D108BD9-81ED-4DB2-BD59-A6C34878D82A}">
                    <a16:rowId xmlns:a16="http://schemas.microsoft.com/office/drawing/2014/main" val="10003"/>
                  </a:ext>
                </a:extLst>
              </a:tr>
              <a:tr h="206279">
                <a:tc>
                  <a:txBody>
                    <a:bodyPr/>
                    <a:lstStyle/>
                    <a:p>
                      <a:pPr rtl="1"/>
                      <a:r>
                        <a:rPr lang="en-US" sz="800" dirty="0"/>
                        <a:t>params.ini</a:t>
                      </a:r>
                      <a:endParaRPr lang="he-IL" sz="800" dirty="0"/>
                    </a:p>
                  </a:txBody>
                  <a:tcPr/>
                </a:tc>
                <a:extLst>
                  <a:ext uri="{0D108BD9-81ED-4DB2-BD59-A6C34878D82A}">
                    <a16:rowId xmlns:a16="http://schemas.microsoft.com/office/drawing/2014/main" val="10004"/>
                  </a:ext>
                </a:extLst>
              </a:tr>
              <a:tr h="206279">
                <a:tc>
                  <a:txBody>
                    <a:bodyPr/>
                    <a:lstStyle/>
                    <a:p>
                      <a:pPr rtl="1"/>
                      <a:endParaRPr lang="he-IL" sz="800" dirty="0"/>
                    </a:p>
                  </a:txBody>
                  <a:tcPr/>
                </a:tc>
                <a:extLst>
                  <a:ext uri="{0D108BD9-81ED-4DB2-BD59-A6C34878D82A}">
                    <a16:rowId xmlns:a16="http://schemas.microsoft.com/office/drawing/2014/main" val="10005"/>
                  </a:ext>
                </a:extLst>
              </a:tr>
            </a:tbl>
          </a:graphicData>
        </a:graphic>
      </p:graphicFrame>
      <p:sp>
        <p:nvSpPr>
          <p:cNvPr id="16" name="TextBox 15"/>
          <p:cNvSpPr txBox="1"/>
          <p:nvPr/>
        </p:nvSpPr>
        <p:spPr>
          <a:xfrm>
            <a:off x="1122217" y="5023086"/>
            <a:ext cx="1874983" cy="261610"/>
          </a:xfrm>
          <a:prstGeom prst="rect">
            <a:avLst/>
          </a:prstGeom>
          <a:noFill/>
        </p:spPr>
        <p:txBody>
          <a:bodyPr wrap="square" rtlCol="1">
            <a:spAutoFit/>
          </a:bodyPr>
          <a:lstStyle/>
          <a:p>
            <a:r>
              <a:rPr lang="en-US" sz="1100" b="1" dirty="0"/>
              <a:t>FDT -file descriptor table</a:t>
            </a:r>
            <a:endParaRPr lang="he-IL" sz="1100" dirty="0"/>
          </a:p>
        </p:txBody>
      </p:sp>
      <p:graphicFrame>
        <p:nvGraphicFramePr>
          <p:cNvPr id="18" name="Table 17"/>
          <p:cNvGraphicFramePr>
            <a:graphicFrameLocks noGrp="1"/>
          </p:cNvGraphicFramePr>
          <p:nvPr>
            <p:extLst>
              <p:ext uri="{D42A27DB-BD31-4B8C-83A1-F6EECF244321}">
                <p14:modId xmlns:p14="http://schemas.microsoft.com/office/powerpoint/2010/main" val="4254943958"/>
              </p:ext>
            </p:extLst>
          </p:nvPr>
        </p:nvGraphicFramePr>
        <p:xfrm>
          <a:off x="3519056" y="5284696"/>
          <a:ext cx="1967344" cy="1402080"/>
        </p:xfrm>
        <a:graphic>
          <a:graphicData uri="http://schemas.openxmlformats.org/drawingml/2006/table">
            <a:tbl>
              <a:tblPr rtl="1">
                <a:tableStyleId>{5C22544A-7EE6-4342-B048-85BDC9FD1C3A}</a:tableStyleId>
              </a:tblPr>
              <a:tblGrid>
                <a:gridCol w="1967344">
                  <a:extLst>
                    <a:ext uri="{9D8B030D-6E8A-4147-A177-3AD203B41FA5}">
                      <a16:colId xmlns:a16="http://schemas.microsoft.com/office/drawing/2014/main" val="20000"/>
                    </a:ext>
                  </a:extLst>
                </a:gridCol>
              </a:tblGrid>
              <a:tr h="206279">
                <a:tc>
                  <a:txBody>
                    <a:bodyPr/>
                    <a:lstStyle/>
                    <a:p>
                      <a:pPr algn="r" rtl="1"/>
                      <a:r>
                        <a:rPr lang="he-IL" sz="800" dirty="0"/>
                        <a:t>הכתובת</a:t>
                      </a:r>
                      <a:r>
                        <a:rPr lang="he-IL" sz="800" baseline="0" dirty="0"/>
                        <a:t> שאליה המעבד צריך לקפוץ לאחר שתהליך זה ייבחר לריצה</a:t>
                      </a:r>
                      <a:endParaRPr lang="he-IL" sz="800" dirty="0"/>
                    </a:p>
                  </a:txBody>
                  <a:tcPr/>
                </a:tc>
                <a:extLst>
                  <a:ext uri="{0D108BD9-81ED-4DB2-BD59-A6C34878D82A}">
                    <a16:rowId xmlns:a16="http://schemas.microsoft.com/office/drawing/2014/main" val="10000"/>
                  </a:ext>
                </a:extLst>
              </a:tr>
              <a:tr h="206279">
                <a:tc>
                  <a:txBody>
                    <a:bodyPr/>
                    <a:lstStyle/>
                    <a:p>
                      <a:pPr algn="just" rtl="1"/>
                      <a:r>
                        <a:rPr lang="he-IL" sz="800" dirty="0"/>
                        <a:t>כתובת</a:t>
                      </a:r>
                      <a:r>
                        <a:rPr lang="he-IL" sz="800" baseline="0" dirty="0"/>
                        <a:t> של האיבר האחרון במחסנית</a:t>
                      </a:r>
                      <a:endParaRPr lang="he-IL" sz="800" dirty="0"/>
                    </a:p>
                  </a:txBody>
                  <a:tcPr/>
                </a:tc>
                <a:extLst>
                  <a:ext uri="{0D108BD9-81ED-4DB2-BD59-A6C34878D82A}">
                    <a16:rowId xmlns:a16="http://schemas.microsoft.com/office/drawing/2014/main" val="10001"/>
                  </a:ext>
                </a:extLst>
              </a:tr>
              <a:tr h="206279">
                <a:tc>
                  <a:txBody>
                    <a:bodyPr/>
                    <a:lstStyle/>
                    <a:p>
                      <a:pPr algn="ctr" rtl="1"/>
                      <a:endParaRPr lang="he-IL" sz="800" b="1" dirty="0"/>
                    </a:p>
                  </a:txBody>
                  <a:tcPr/>
                </a:tc>
                <a:extLst>
                  <a:ext uri="{0D108BD9-81ED-4DB2-BD59-A6C34878D82A}">
                    <a16:rowId xmlns:a16="http://schemas.microsoft.com/office/drawing/2014/main" val="10002"/>
                  </a:ext>
                </a:extLst>
              </a:tr>
              <a:tr h="206279">
                <a:tc>
                  <a:txBody>
                    <a:bodyPr/>
                    <a:lstStyle/>
                    <a:p>
                      <a:pPr rtl="1"/>
                      <a:endParaRPr lang="he-IL" sz="800" dirty="0"/>
                    </a:p>
                  </a:txBody>
                  <a:tcPr/>
                </a:tc>
                <a:extLst>
                  <a:ext uri="{0D108BD9-81ED-4DB2-BD59-A6C34878D82A}">
                    <a16:rowId xmlns:a16="http://schemas.microsoft.com/office/drawing/2014/main" val="10003"/>
                  </a:ext>
                </a:extLst>
              </a:tr>
              <a:tr h="206279">
                <a:tc>
                  <a:txBody>
                    <a:bodyPr/>
                    <a:lstStyle/>
                    <a:p>
                      <a:pPr rtl="1"/>
                      <a:endParaRPr lang="he-IL" sz="800" dirty="0"/>
                    </a:p>
                  </a:txBody>
                  <a:tcPr/>
                </a:tc>
                <a:extLst>
                  <a:ext uri="{0D108BD9-81ED-4DB2-BD59-A6C34878D82A}">
                    <a16:rowId xmlns:a16="http://schemas.microsoft.com/office/drawing/2014/main" val="10004"/>
                  </a:ext>
                </a:extLst>
              </a:tr>
              <a:tr h="206279">
                <a:tc>
                  <a:txBody>
                    <a:bodyPr/>
                    <a:lstStyle/>
                    <a:p>
                      <a:pPr rtl="1"/>
                      <a:endParaRPr lang="he-IL" sz="800" dirty="0"/>
                    </a:p>
                  </a:txBody>
                  <a:tcPr/>
                </a:tc>
                <a:extLst>
                  <a:ext uri="{0D108BD9-81ED-4DB2-BD59-A6C34878D82A}">
                    <a16:rowId xmlns:a16="http://schemas.microsoft.com/office/drawing/2014/main" val="10005"/>
                  </a:ext>
                </a:extLst>
              </a:tr>
            </a:tbl>
          </a:graphicData>
        </a:graphic>
      </p:graphicFrame>
      <p:cxnSp>
        <p:nvCxnSpPr>
          <p:cNvPr id="20" name="Straight Arrow Connector 19"/>
          <p:cNvCxnSpPr/>
          <p:nvPr/>
        </p:nvCxnSpPr>
        <p:spPr>
          <a:xfrm>
            <a:off x="3943927" y="3722255"/>
            <a:ext cx="628073" cy="1300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85311" y="5023086"/>
            <a:ext cx="1874983" cy="261610"/>
          </a:xfrm>
          <a:prstGeom prst="rect">
            <a:avLst/>
          </a:prstGeom>
          <a:noFill/>
        </p:spPr>
        <p:txBody>
          <a:bodyPr wrap="square" rtlCol="1">
            <a:spAutoFit/>
          </a:bodyPr>
          <a:lstStyle/>
          <a:p>
            <a:r>
              <a:rPr lang="en-US" sz="1100" b="1" dirty="0"/>
              <a:t>struct  thread_struct</a:t>
            </a:r>
            <a:endParaRPr lang="he-IL" sz="1100" dirty="0"/>
          </a:p>
        </p:txBody>
      </p:sp>
      <p:sp>
        <p:nvSpPr>
          <p:cNvPr id="23" name="Oval 22"/>
          <p:cNvSpPr/>
          <p:nvPr/>
        </p:nvSpPr>
        <p:spPr>
          <a:xfrm flipH="1">
            <a:off x="4406208" y="5902035"/>
            <a:ext cx="45719" cy="4571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chemeClr val="tx1"/>
              </a:solidFill>
            </a:endParaRPr>
          </a:p>
        </p:txBody>
      </p:sp>
      <p:sp>
        <p:nvSpPr>
          <p:cNvPr id="28" name="Oval 27"/>
          <p:cNvSpPr/>
          <p:nvPr/>
        </p:nvSpPr>
        <p:spPr>
          <a:xfrm flipH="1">
            <a:off x="4406208" y="6128325"/>
            <a:ext cx="45719" cy="4571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chemeClr val="tx1"/>
              </a:solidFill>
            </a:endParaRPr>
          </a:p>
        </p:txBody>
      </p:sp>
      <p:sp>
        <p:nvSpPr>
          <p:cNvPr id="33" name="Content Placeholder 2">
            <a:extLst>
              <a:ext uri="{FF2B5EF4-FFF2-40B4-BE49-F238E27FC236}">
                <a16:creationId xmlns:a16="http://schemas.microsoft.com/office/drawing/2014/main" id="{1F6349F7-A565-4219-8BCC-8907C51B7C3A}"/>
              </a:ext>
            </a:extLst>
          </p:cNvPr>
          <p:cNvSpPr>
            <a:spLocks noGrp="1"/>
          </p:cNvSpPr>
          <p:nvPr>
            <p:ph sz="half" idx="4294967295"/>
          </p:nvPr>
        </p:nvSpPr>
        <p:spPr>
          <a:xfrm>
            <a:off x="6400800" y="4253345"/>
            <a:ext cx="2595418" cy="2410691"/>
          </a:xfrm>
          <a:prstGeom prst="rect">
            <a:avLst/>
          </a:prstGeom>
          <a:ln>
            <a:solidFill>
              <a:srgbClr val="00B0F0"/>
            </a:solidFill>
          </a:ln>
        </p:spPr>
        <p:txBody>
          <a:bodyPr>
            <a:normAutofit/>
          </a:bodyPr>
          <a:lstStyle/>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#include &lt;stdio.h&gt;</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int main()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unsigned char ch;</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printf(“Hello World\n”);</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ch = getchar();</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while(1)</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printf(“char is %c”,ch);</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sleep(1);</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    return 0;</a:t>
            </a:r>
          </a:p>
          <a:p>
            <a:pPr marL="0" indent="0" algn="l" rtl="0">
              <a:buFont typeface="Wingdings" panose="05000000000000000000" pitchFamily="2" charset="2"/>
              <a:buNone/>
            </a:pPr>
            <a:r>
              <a:rPr lang="en-US" altLang="en-US" sz="1000" dirty="0">
                <a:latin typeface="Courier New" panose="02070309020205020404" pitchFamily="49" charset="0"/>
                <a:cs typeface="Courier New" panose="02070309020205020404" pitchFamily="49" charset="0"/>
              </a:rPr>
              <a:t>}</a:t>
            </a:r>
          </a:p>
        </p:txBody>
      </p:sp>
      <p:sp>
        <p:nvSpPr>
          <p:cNvPr id="35" name="TextBox 34"/>
          <p:cNvSpPr txBox="1"/>
          <p:nvPr/>
        </p:nvSpPr>
        <p:spPr>
          <a:xfrm>
            <a:off x="5698839" y="1630658"/>
            <a:ext cx="775851" cy="307777"/>
          </a:xfrm>
          <a:prstGeom prst="rect">
            <a:avLst/>
          </a:prstGeom>
          <a:noFill/>
        </p:spPr>
        <p:txBody>
          <a:bodyPr wrap="square" rtlCol="1">
            <a:spAutoFit/>
          </a:bodyPr>
          <a:lstStyle/>
          <a:p>
            <a:r>
              <a:rPr lang="en-US" sz="1400" dirty="0">
                <a:solidFill>
                  <a:srgbClr val="FF0000"/>
                </a:solidFill>
              </a:rPr>
              <a:t>0x2000</a:t>
            </a:r>
            <a:endParaRPr lang="he-IL" sz="1400" dirty="0">
              <a:solidFill>
                <a:srgbClr val="FF0000"/>
              </a:solidFill>
            </a:endParaRPr>
          </a:p>
        </p:txBody>
      </p:sp>
      <p:sp>
        <p:nvSpPr>
          <p:cNvPr id="36" name="TextBox 35"/>
          <p:cNvSpPr txBox="1"/>
          <p:nvPr/>
        </p:nvSpPr>
        <p:spPr>
          <a:xfrm>
            <a:off x="5694222" y="4423769"/>
            <a:ext cx="775851" cy="307777"/>
          </a:xfrm>
          <a:prstGeom prst="rect">
            <a:avLst/>
          </a:prstGeom>
          <a:noFill/>
        </p:spPr>
        <p:txBody>
          <a:bodyPr wrap="square" rtlCol="1">
            <a:spAutoFit/>
          </a:bodyPr>
          <a:lstStyle/>
          <a:p>
            <a:r>
              <a:rPr lang="en-US" sz="1400" dirty="0">
                <a:solidFill>
                  <a:srgbClr val="FF0000"/>
                </a:solidFill>
              </a:rPr>
              <a:t>0x5000</a:t>
            </a:r>
            <a:endParaRPr lang="he-IL" sz="1400" dirty="0">
              <a:solidFill>
                <a:srgbClr val="FF0000"/>
              </a:solidFill>
            </a:endParaRPr>
          </a:p>
        </p:txBody>
      </p:sp>
      <p:sp>
        <p:nvSpPr>
          <p:cNvPr id="37" name="TextBox 36"/>
          <p:cNvSpPr txBox="1"/>
          <p:nvPr/>
        </p:nvSpPr>
        <p:spPr>
          <a:xfrm>
            <a:off x="6470073" y="1161656"/>
            <a:ext cx="1519382" cy="276999"/>
          </a:xfrm>
          <a:prstGeom prst="rect">
            <a:avLst/>
          </a:prstGeom>
          <a:noFill/>
          <a:ln>
            <a:solidFill>
              <a:schemeClr val="tx1"/>
            </a:solidFill>
            <a:prstDash val="lgDashDot"/>
          </a:ln>
        </p:spPr>
        <p:txBody>
          <a:bodyPr wrap="square" rtlCol="1">
            <a:spAutoFit/>
          </a:bodyPr>
          <a:lstStyle/>
          <a:p>
            <a:r>
              <a:rPr lang="en-US" sz="1200" b="1" dirty="0"/>
              <a:t>./</a:t>
            </a:r>
            <a:r>
              <a:rPr lang="en-US" sz="1200" b="1" dirty="0" err="1"/>
              <a:t>test.bin</a:t>
            </a:r>
            <a:endParaRPr lang="he-IL" sz="1200" b="1" dirty="0"/>
          </a:p>
        </p:txBody>
      </p:sp>
      <p:sp>
        <p:nvSpPr>
          <p:cNvPr id="38" name="TextBox 37"/>
          <p:cNvSpPr txBox="1"/>
          <p:nvPr/>
        </p:nvSpPr>
        <p:spPr>
          <a:xfrm>
            <a:off x="6507019" y="3943927"/>
            <a:ext cx="1519382" cy="276999"/>
          </a:xfrm>
          <a:prstGeom prst="rect">
            <a:avLst/>
          </a:prstGeom>
          <a:noFill/>
          <a:ln>
            <a:solidFill>
              <a:schemeClr val="tx1"/>
            </a:solidFill>
            <a:prstDash val="lgDashDot"/>
          </a:ln>
        </p:spPr>
        <p:txBody>
          <a:bodyPr wrap="square" rtlCol="1">
            <a:spAutoFit/>
          </a:bodyPr>
          <a:lstStyle/>
          <a:p>
            <a:r>
              <a:rPr lang="en-US" sz="1200" b="1" dirty="0"/>
              <a:t>./</a:t>
            </a:r>
            <a:r>
              <a:rPr lang="en-US" sz="1200" b="1" dirty="0" err="1"/>
              <a:t>test.bin</a:t>
            </a:r>
            <a:endParaRPr lang="he-IL" sz="1200" b="1" dirty="0"/>
          </a:p>
        </p:txBody>
      </p:sp>
    </p:spTree>
    <p:extLst>
      <p:ext uri="{BB962C8B-B14F-4D97-AF65-F5344CB8AC3E}">
        <p14:creationId xmlns:p14="http://schemas.microsoft.com/office/powerpoint/2010/main" val="329901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קריאות מערכת</a:t>
            </a:r>
            <a:br>
              <a:rPr lang="he-IL" dirty="0"/>
            </a:br>
            <a:r>
              <a:rPr lang="he-IL" dirty="0"/>
              <a:t>לעבודה עם תהליכים</a:t>
            </a:r>
            <a:endParaRPr lang="en-US" dirty="0"/>
          </a:p>
        </p:txBody>
      </p:sp>
      <p:sp>
        <p:nvSpPr>
          <p:cNvPr id="3" name="Text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3</a:t>
            </a:fld>
            <a:endParaRPr lang="en-US" dirty="0"/>
          </a:p>
        </p:txBody>
      </p:sp>
    </p:spTree>
    <p:extLst>
      <p:ext uri="{BB962C8B-B14F-4D97-AF65-F5344CB8AC3E}">
        <p14:creationId xmlns:p14="http://schemas.microsoft.com/office/powerpoint/2010/main" val="749316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Idle</a:t>
            </a:r>
            <a:r>
              <a:rPr lang="he-IL"/>
              <a:t> בסביבת </a:t>
            </a:r>
            <a:r>
              <a:rPr lang="en-US"/>
              <a:t>Windows</a:t>
            </a:r>
          </a:p>
        </p:txBody>
      </p:sp>
      <p:sp>
        <p:nvSpPr>
          <p:cNvPr id="5" name="Slide Number Placeholder 4"/>
          <p:cNvSpPr>
            <a:spLocks noGrp="1"/>
          </p:cNvSpPr>
          <p:nvPr>
            <p:ph type="sldNum" sz="quarter" idx="12"/>
          </p:nvPr>
        </p:nvSpPr>
        <p:spPr/>
        <p:txBody>
          <a:bodyPr/>
          <a:lstStyle/>
          <a:p>
            <a:fld id="{0CFEC368-1D7A-4F81-ABF6-AE0E36BAF64C}" type="slidenum">
              <a:rPr lang="en-US" smtClean="0"/>
              <a:pPr/>
              <a:t>4</a:t>
            </a:fld>
            <a:endParaRPr lang="en-US"/>
          </a:p>
        </p:txBody>
      </p:sp>
      <p:pic>
        <p:nvPicPr>
          <p:cNvPr id="9" name="Picture 10" descr="A picture containing bird, sky, outdoor, flying&#10;&#10;Description automatically generated">
            <a:extLst>
              <a:ext uri="{FF2B5EF4-FFF2-40B4-BE49-F238E27FC236}">
                <a16:creationId xmlns:a16="http://schemas.microsoft.com/office/drawing/2014/main" id="{BFC56F2B-07AA-02A4-F929-0B68899ACE08}"/>
              </a:ext>
            </a:extLst>
          </p:cNvPr>
          <p:cNvPicPr>
            <a:picLocks noGrp="1" noChangeAspect="1"/>
          </p:cNvPicPr>
          <p:nvPr>
            <p:ph idx="1"/>
          </p:nvPr>
        </p:nvPicPr>
        <p:blipFill>
          <a:blip r:embed="rId3"/>
          <a:stretch>
            <a:fillRect/>
          </a:stretch>
        </p:blipFill>
        <p:spPr>
          <a:xfrm>
            <a:off x="1053950" y="1638785"/>
            <a:ext cx="7215673" cy="4511935"/>
          </a:xfrm>
        </p:spPr>
      </p:pic>
      <p:sp>
        <p:nvSpPr>
          <p:cNvPr id="7" name="Rectangle 6">
            <a:extLst>
              <a:ext uri="{FF2B5EF4-FFF2-40B4-BE49-F238E27FC236}">
                <a16:creationId xmlns:a16="http://schemas.microsoft.com/office/drawing/2014/main" id="{8CA6F862-F5CF-A26F-9D76-40916F39FD73}"/>
              </a:ext>
            </a:extLst>
          </p:cNvPr>
          <p:cNvSpPr/>
          <p:nvPr/>
        </p:nvSpPr>
        <p:spPr>
          <a:xfrm>
            <a:off x="3872204" y="598714"/>
            <a:ext cx="4789714" cy="8553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7206BFD-41EA-123F-D4A3-33C488B2CDA2}"/>
              </a:ext>
            </a:extLst>
          </p:cNvPr>
          <p:cNvSpPr txBox="1"/>
          <p:nvPr/>
        </p:nvSpPr>
        <p:spPr>
          <a:xfrm>
            <a:off x="4307633" y="746450"/>
            <a:ext cx="401993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3000" dirty="0">
                <a:solidFill>
                  <a:schemeClr val="tx2"/>
                </a:solidFill>
                <a:cs typeface="Arial"/>
              </a:rPr>
              <a:t>? </a:t>
            </a:r>
            <a:r>
              <a:rPr lang="en-US" sz="3000" dirty="0" err="1">
                <a:solidFill>
                  <a:schemeClr val="tx2"/>
                </a:solidFill>
                <a:cs typeface="Arial"/>
              </a:rPr>
              <a:t>איך</a:t>
            </a:r>
            <a:r>
              <a:rPr lang="en-US" sz="3000" dirty="0">
                <a:solidFill>
                  <a:schemeClr val="tx2"/>
                </a:solidFill>
                <a:cs typeface="Arial"/>
              </a:rPr>
              <a:t> </a:t>
            </a:r>
            <a:r>
              <a:rPr lang="en-US" sz="3000" dirty="0" err="1">
                <a:solidFill>
                  <a:schemeClr val="tx2"/>
                </a:solidFill>
                <a:cs typeface="Arial"/>
              </a:rPr>
              <a:t>תהליך</a:t>
            </a:r>
            <a:r>
              <a:rPr lang="en-US" sz="3000" dirty="0">
                <a:solidFill>
                  <a:schemeClr val="tx2"/>
                </a:solidFill>
                <a:cs typeface="Arial"/>
              </a:rPr>
              <a:t> </a:t>
            </a:r>
            <a:r>
              <a:rPr lang="en-US" sz="3000" dirty="0" err="1">
                <a:solidFill>
                  <a:schemeClr val="tx2"/>
                </a:solidFill>
                <a:cs typeface="Arial"/>
              </a:rPr>
              <a:t>מגיע</a:t>
            </a:r>
            <a:r>
              <a:rPr lang="en-US" sz="3000" dirty="0">
                <a:solidFill>
                  <a:schemeClr val="tx2"/>
                </a:solidFill>
                <a:cs typeface="Arial"/>
              </a:rPr>
              <a:t> </a:t>
            </a:r>
            <a:r>
              <a:rPr lang="en-US" sz="3000" dirty="0" err="1">
                <a:solidFill>
                  <a:schemeClr val="tx2"/>
                </a:solidFill>
                <a:cs typeface="Arial"/>
              </a:rPr>
              <a:t>לעולם</a:t>
            </a:r>
          </a:p>
        </p:txBody>
      </p:sp>
    </p:spTree>
    <p:extLst>
      <p:ext uri="{BB962C8B-B14F-4D97-AF65-F5344CB8AC3E}">
        <p14:creationId xmlns:p14="http://schemas.microsoft.com/office/powerpoint/2010/main" val="22582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he-IL" altLang="en-US" dirty="0"/>
              <a:t>קריאת המערכת </a:t>
            </a:r>
            <a:r>
              <a:rPr lang="en-US" altLang="en-US" dirty="0"/>
              <a:t>fork()</a:t>
            </a:r>
            <a:endParaRPr lang="he-IL" altLang="en-US" dirty="0"/>
          </a:p>
        </p:txBody>
      </p:sp>
      <p:sp>
        <p:nvSpPr>
          <p:cNvPr id="27652" name="Rectangle 3"/>
          <p:cNvSpPr>
            <a:spLocks noGrp="1" noChangeArrowheads="1"/>
          </p:cNvSpPr>
          <p:nvPr>
            <p:ph idx="1"/>
          </p:nvPr>
        </p:nvSpPr>
        <p:spPr/>
        <p:txBody>
          <a:bodyPr>
            <a:normAutofit/>
          </a:bodyPr>
          <a:lstStyle/>
          <a:p>
            <a:pPr marL="0" indent="0" algn="l" rtl="0">
              <a:buNone/>
            </a:pPr>
            <a:r>
              <a:rPr lang="en-US" altLang="en-US" dirty="0" err="1">
                <a:latin typeface="Courier New" panose="02070309020205020404" pitchFamily="49" charset="0"/>
                <a:cs typeface="Courier New" panose="02070309020205020404" pitchFamily="49" charset="0"/>
              </a:rPr>
              <a:t>pid_t</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fork</a:t>
            </a:r>
            <a:r>
              <a:rPr lang="en-US" altLang="en-US" dirty="0">
                <a:latin typeface="Courier New" panose="02070309020205020404" pitchFamily="49" charset="0"/>
                <a:cs typeface="Courier New" panose="02070309020205020404" pitchFamily="49" charset="0"/>
              </a:rPr>
              <a:t>();</a:t>
            </a:r>
          </a:p>
          <a:p>
            <a:endParaRPr lang="he-IL" altLang="en-US" dirty="0"/>
          </a:p>
          <a:p>
            <a:r>
              <a:rPr lang="he-IL" altLang="en-US" u="sng" dirty="0"/>
              <a:t>פעולה:</a:t>
            </a:r>
            <a:r>
              <a:rPr lang="he-IL" altLang="en-US" dirty="0"/>
              <a:t> מעתיקה את תהליך האב לתהליך הבן וחוזרת בשני התהליכים.</a:t>
            </a:r>
          </a:p>
          <a:p>
            <a:pPr lvl="1"/>
            <a:r>
              <a:rPr lang="he-IL" altLang="en-US" b="1" dirty="0"/>
              <a:t>קוד זהה </a:t>
            </a:r>
            <a:r>
              <a:rPr lang="he-IL" altLang="en-US" dirty="0"/>
              <a:t>(ומיקום בקוד).</a:t>
            </a:r>
          </a:p>
          <a:p>
            <a:pPr lvl="1"/>
            <a:r>
              <a:rPr lang="he-IL" altLang="en-US" b="1" dirty="0"/>
              <a:t>זיכרון זהה </a:t>
            </a:r>
            <a:r>
              <a:rPr lang="he-IL" altLang="en-US" dirty="0"/>
              <a:t>(משתנים וערכיהם, גם במחסנית וגם בערימה).</a:t>
            </a:r>
          </a:p>
          <a:p>
            <a:pPr lvl="1"/>
            <a:r>
              <a:rPr lang="he-IL" altLang="en-US" b="1" dirty="0"/>
              <a:t>סביבה זהה </a:t>
            </a:r>
            <a:r>
              <a:rPr lang="he-IL" altLang="en-US" dirty="0"/>
              <a:t>(קבצים פתוחים, ספריית עבודה נוכחית).</a:t>
            </a:r>
          </a:p>
          <a:p>
            <a:pPr lvl="1"/>
            <a:r>
              <a:rPr lang="he-IL" altLang="en-US" dirty="0"/>
              <a:t>אבל, תהליך הבן הוא תהליך נפרד מתהליך האב, לכן יש לו </a:t>
            </a:r>
            <a:r>
              <a:rPr lang="en-US" altLang="en-US" b="1" dirty="0"/>
              <a:t>PID</a:t>
            </a:r>
            <a:r>
              <a:rPr lang="he-IL" altLang="en-US" b="1" dirty="0"/>
              <a:t> משלו</a:t>
            </a:r>
            <a:r>
              <a:rPr lang="he-IL" altLang="en-US" dirty="0"/>
              <a:t>.</a:t>
            </a:r>
          </a:p>
          <a:p>
            <a:r>
              <a:rPr lang="he-IL" altLang="en-US" u="sng" dirty="0"/>
              <a:t>פרמטרים:</a:t>
            </a:r>
            <a:r>
              <a:rPr lang="he-IL" altLang="en-US" dirty="0"/>
              <a:t> אין.</a:t>
            </a:r>
          </a:p>
          <a:p>
            <a:r>
              <a:rPr lang="he-IL" altLang="en-US" u="sng" dirty="0"/>
              <a:t>ערך מוחזר:</a:t>
            </a:r>
          </a:p>
          <a:p>
            <a:pPr lvl="1"/>
            <a:r>
              <a:rPr lang="he-IL" altLang="en-US" dirty="0"/>
              <a:t>במקרה של כישלון: </a:t>
            </a:r>
            <a:r>
              <a:rPr lang="en-US" altLang="en-US" dirty="0"/>
              <a:t>-1</a:t>
            </a:r>
            <a:r>
              <a:rPr lang="he-IL" altLang="en-US" dirty="0"/>
              <a:t> לאב (אין בן).</a:t>
            </a:r>
          </a:p>
          <a:p>
            <a:pPr lvl="1"/>
            <a:r>
              <a:rPr lang="he-IL" altLang="en-US" dirty="0"/>
              <a:t>במקרה של הצלחה: לבן מוחזר </a:t>
            </a:r>
            <a:r>
              <a:rPr lang="he-IL" altLang="en-US" b="1" dirty="0"/>
              <a:t>0</a:t>
            </a:r>
            <a:r>
              <a:rPr lang="he-IL" altLang="en-US" dirty="0"/>
              <a:t> ולאב מוחזר ה-</a:t>
            </a:r>
            <a:r>
              <a:rPr lang="en-US" altLang="en-US" b="1" dirty="0" err="1"/>
              <a:t>pid</a:t>
            </a:r>
            <a:r>
              <a:rPr lang="he-IL" altLang="en-US" b="1" dirty="0"/>
              <a:t> של הבן</a:t>
            </a:r>
            <a:r>
              <a:rPr lang="he-IL" altLang="en-US" dirty="0"/>
              <a:t>.</a:t>
            </a:r>
          </a:p>
        </p:txBody>
      </p:sp>
      <p:sp>
        <p:nvSpPr>
          <p:cNvPr id="5" name="Slide Number Placeholder 4"/>
          <p:cNvSpPr>
            <a:spLocks noGrp="1"/>
          </p:cNvSpPr>
          <p:nvPr>
            <p:ph type="sldNum" sz="quarter" idx="12"/>
          </p:nvPr>
        </p:nvSpPr>
        <p:spPr/>
        <p:txBody>
          <a:bodyPr/>
          <a:lstStyle/>
          <a:p>
            <a:fld id="{0CFEC368-1D7A-4F81-ABF6-AE0E36BAF64C}" type="slidenum">
              <a:rPr lang="en-US" smtClean="0"/>
              <a:pPr/>
              <a:t>5</a:t>
            </a:fld>
            <a:endParaRPr lang="en-US"/>
          </a:p>
        </p:txBody>
      </p:sp>
      <p:sp>
        <p:nvSpPr>
          <p:cNvPr id="6" name="Rounded Rectangular Callout 5">
            <a:extLst>
              <a:ext uri="{FF2B5EF4-FFF2-40B4-BE49-F238E27FC236}">
                <a16:creationId xmlns:a16="http://schemas.microsoft.com/office/drawing/2014/main" id="{34709024-D9B9-49EB-B844-4BEF377B8881}"/>
              </a:ext>
            </a:extLst>
          </p:cNvPr>
          <p:cNvSpPr/>
          <p:nvPr/>
        </p:nvSpPr>
        <p:spPr>
          <a:xfrm>
            <a:off x="457200" y="4921132"/>
            <a:ext cx="2332300" cy="914400"/>
          </a:xfrm>
          <a:prstGeom prst="wedgeRoundRectCallout">
            <a:avLst>
              <a:gd name="adj1" fmla="val 126481"/>
              <a:gd name="adj2" fmla="val 7154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r>
              <a:rPr lang="he-IL" dirty="0"/>
              <a:t>איך נוכל להבדיל בין אב לבן אם ה-</a:t>
            </a:r>
            <a:r>
              <a:rPr lang="en-US" dirty="0" err="1"/>
              <a:t>pid</a:t>
            </a:r>
            <a:r>
              <a:rPr lang="he-IL" dirty="0"/>
              <a:t> של הבן יוצא במקרה 0?</a:t>
            </a:r>
            <a:endParaRPr lang="en-US" dirty="0"/>
          </a:p>
        </p:txBody>
      </p:sp>
      <p:pic>
        <p:nvPicPr>
          <p:cNvPr id="2" name="תמונה 1">
            <a:extLst>
              <a:ext uri="{FF2B5EF4-FFF2-40B4-BE49-F238E27FC236}">
                <a16:creationId xmlns:a16="http://schemas.microsoft.com/office/drawing/2014/main" id="{78293558-5E86-D4FD-F629-EFD84E6E43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924" y="533400"/>
            <a:ext cx="779099" cy="679744"/>
          </a:xfrm>
          <a:prstGeom prst="rect">
            <a:avLst/>
          </a:prstGeom>
        </p:spPr>
      </p:pic>
    </p:spTree>
    <p:extLst>
      <p:ext uri="{BB962C8B-B14F-4D97-AF65-F5344CB8AC3E}">
        <p14:creationId xmlns:p14="http://schemas.microsoft.com/office/powerpoint/2010/main" val="262944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1476E16-A581-4A59-A9AB-36BC26B23F7B}"/>
              </a:ext>
            </a:extLst>
          </p:cNvPr>
          <p:cNvSpPr>
            <a:spLocks noGrp="1"/>
          </p:cNvSpPr>
          <p:nvPr>
            <p:ph type="title"/>
          </p:nvPr>
        </p:nvSpPr>
        <p:spPr/>
        <p:txBody>
          <a:bodyPr/>
          <a:lstStyle/>
          <a:p>
            <a:r>
              <a:rPr lang="he-IL" altLang="en-US" dirty="0"/>
              <a:t>לפני </a:t>
            </a:r>
            <a:r>
              <a:rPr lang="en-US" altLang="en-US" dirty="0"/>
              <a:t>fork()</a:t>
            </a:r>
          </a:p>
        </p:txBody>
      </p:sp>
      <p:sp>
        <p:nvSpPr>
          <p:cNvPr id="6" name="Text Placeholder 5">
            <a:extLst>
              <a:ext uri="{FF2B5EF4-FFF2-40B4-BE49-F238E27FC236}">
                <a16:creationId xmlns:a16="http://schemas.microsoft.com/office/drawing/2014/main" id="{8C979C06-3267-45A7-BEB0-B573B555FCC1}"/>
              </a:ext>
            </a:extLst>
          </p:cNvPr>
          <p:cNvSpPr>
            <a:spLocks noGrp="1"/>
          </p:cNvSpPr>
          <p:nvPr>
            <p:ph type="body" idx="1"/>
          </p:nvPr>
        </p:nvSpPr>
        <p:spPr/>
        <p:txBody>
          <a:bodyPr/>
          <a:lstStyle/>
          <a:p>
            <a:r>
              <a:rPr lang="en-US" dirty="0"/>
              <a:t>parent</a:t>
            </a:r>
          </a:p>
        </p:txBody>
      </p:sp>
      <p:sp>
        <p:nvSpPr>
          <p:cNvPr id="31747" name="Content Placeholder 2">
            <a:extLst>
              <a:ext uri="{FF2B5EF4-FFF2-40B4-BE49-F238E27FC236}">
                <a16:creationId xmlns:a16="http://schemas.microsoft.com/office/drawing/2014/main" id="{1F6349F7-A565-4219-8BCC-8907C51B7C3A}"/>
              </a:ext>
            </a:extLst>
          </p:cNvPr>
          <p:cNvSpPr>
            <a:spLocks noGrp="1"/>
          </p:cNvSpPr>
          <p:nvPr>
            <p:ph sz="half" idx="2"/>
          </p:nvPr>
        </p:nvSpPr>
        <p:spPr/>
        <p:txBody>
          <a:bodyPr>
            <a:normAutofit lnSpcReduction="10000"/>
          </a:bodyPr>
          <a:lstStyle/>
          <a:p>
            <a:pPr marL="0" indent="0" algn="l" rtl="0">
              <a:buFont typeface="Wingdings" panose="05000000000000000000" pitchFamily="2" charset="2"/>
              <a:buNone/>
            </a:pP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main()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x = 0;</a:t>
            </a:r>
          </a:p>
          <a:p>
            <a:pPr marL="0" indent="0" algn="l" rtl="0">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pid_t</a:t>
            </a:r>
            <a:r>
              <a:rPr lang="en-US" dirty="0">
                <a:latin typeface="Courier New" panose="02070309020205020404" pitchFamily="49" charset="0"/>
                <a:cs typeface="Courier New" panose="02070309020205020404" pitchFamily="49" charset="0"/>
              </a:rPr>
              <a:t> p </a:t>
            </a:r>
            <a:r>
              <a:rPr lang="en-US" altLang="en-US" dirty="0">
                <a:latin typeface="Courier New" panose="02070309020205020404" pitchFamily="49" charset="0"/>
                <a:cs typeface="Courier New" panose="02070309020205020404" pitchFamily="49" charset="0"/>
              </a:rPr>
              <a:t>= fork();</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if (p == 0)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x = 1;</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 else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x = 2;</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a:t>
            </a:r>
          </a:p>
        </p:txBody>
      </p:sp>
      <p:sp>
        <p:nvSpPr>
          <p:cNvPr id="7" name="Text Placeholder 6">
            <a:extLst>
              <a:ext uri="{FF2B5EF4-FFF2-40B4-BE49-F238E27FC236}">
                <a16:creationId xmlns:a16="http://schemas.microsoft.com/office/drawing/2014/main" id="{F2C60740-11C4-4329-B0E9-D612FA887024}"/>
              </a:ext>
            </a:extLst>
          </p:cNvPr>
          <p:cNvSpPr>
            <a:spLocks noGrp="1"/>
          </p:cNvSpPr>
          <p:nvPr>
            <p:ph type="body" sz="quarter" idx="3"/>
          </p:nvPr>
        </p:nvSpPr>
        <p:spPr/>
        <p:txBody>
          <a:bodyPr/>
          <a:lstStyle/>
          <a:p>
            <a:endParaRPr lang="en-US"/>
          </a:p>
        </p:txBody>
      </p:sp>
      <p:sp>
        <p:nvSpPr>
          <p:cNvPr id="4" name="Content Placeholder 3">
            <a:extLst>
              <a:ext uri="{FF2B5EF4-FFF2-40B4-BE49-F238E27FC236}">
                <a16:creationId xmlns:a16="http://schemas.microsoft.com/office/drawing/2014/main" id="{9D6B9CB4-DA7C-4F09-A025-3929A6042011}"/>
              </a:ext>
            </a:extLst>
          </p:cNvPr>
          <p:cNvSpPr>
            <a:spLocks noGrp="1"/>
          </p:cNvSpPr>
          <p:nvPr>
            <p:ph sz="quarter" idx="4"/>
          </p:nvPr>
        </p:nvSpPr>
        <p:spPr/>
        <p:txBody>
          <a:bodyPr>
            <a:normAutofit/>
          </a:bodyPr>
          <a:lstStyle/>
          <a:p>
            <a:pPr marL="0" indent="0" algn="l" rtl="0">
              <a:buFont typeface="Wingdings" panose="05000000000000000000" pitchFamily="2" charset="2"/>
              <a:buNone/>
            </a:pPr>
            <a:endParaRPr lang="en-US" altLang="en-US">
              <a:latin typeface="Courier New" panose="02070309020205020404" pitchFamily="49" charset="0"/>
              <a:cs typeface="Courier New" panose="02070309020205020404" pitchFamily="49" charset="0"/>
            </a:endParaRPr>
          </a:p>
        </p:txBody>
      </p:sp>
      <p:sp>
        <p:nvSpPr>
          <p:cNvPr id="5" name="Arrow: Right 4">
            <a:extLst>
              <a:ext uri="{FF2B5EF4-FFF2-40B4-BE49-F238E27FC236}">
                <a16:creationId xmlns:a16="http://schemas.microsoft.com/office/drawing/2014/main" id="{7798B284-16B9-429C-AD78-9E25E88D5CD2}"/>
              </a:ext>
            </a:extLst>
          </p:cNvPr>
          <p:cNvSpPr/>
          <p:nvPr/>
        </p:nvSpPr>
        <p:spPr>
          <a:xfrm>
            <a:off x="328773" y="3359644"/>
            <a:ext cx="513708" cy="215758"/>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מציין מיקום של מספר שקופית 2">
            <a:extLst>
              <a:ext uri="{FF2B5EF4-FFF2-40B4-BE49-F238E27FC236}">
                <a16:creationId xmlns:a16="http://schemas.microsoft.com/office/drawing/2014/main" id="{EB295C24-E183-49D6-B893-618FE8E35B3F}"/>
              </a:ext>
            </a:extLst>
          </p:cNvPr>
          <p:cNvSpPr>
            <a:spLocks noGrp="1"/>
          </p:cNvSpPr>
          <p:nvPr>
            <p:ph type="sldNum" sz="quarter" idx="12"/>
          </p:nvPr>
        </p:nvSpPr>
        <p:spPr/>
        <p:txBody>
          <a:bodyPr/>
          <a:lstStyle/>
          <a:p>
            <a:fld id="{0CFEC368-1D7A-4F81-ABF6-AE0E36BAF64C}" type="slidenum">
              <a:rPr lang="en-US" smtClean="0"/>
              <a:pPr/>
              <a:t>6</a:t>
            </a:fld>
            <a:endParaRPr lang="en-US"/>
          </a:p>
        </p:txBody>
      </p:sp>
    </p:spTree>
    <p:extLst>
      <p:ext uri="{BB962C8B-B14F-4D97-AF65-F5344CB8AC3E}">
        <p14:creationId xmlns:p14="http://schemas.microsoft.com/office/powerpoint/2010/main" val="169314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1476E16-A581-4A59-A9AB-36BC26B23F7B}"/>
              </a:ext>
            </a:extLst>
          </p:cNvPr>
          <p:cNvSpPr>
            <a:spLocks noGrp="1"/>
          </p:cNvSpPr>
          <p:nvPr>
            <p:ph type="title"/>
          </p:nvPr>
        </p:nvSpPr>
        <p:spPr/>
        <p:txBody>
          <a:bodyPr/>
          <a:lstStyle/>
          <a:p>
            <a:r>
              <a:rPr lang="he-IL" altLang="en-US"/>
              <a:t>אחרי </a:t>
            </a:r>
            <a:r>
              <a:rPr lang="en-US" altLang="en-US"/>
              <a:t>fork()</a:t>
            </a:r>
          </a:p>
        </p:txBody>
      </p:sp>
      <p:sp>
        <p:nvSpPr>
          <p:cNvPr id="6" name="Text Placeholder 5">
            <a:extLst>
              <a:ext uri="{FF2B5EF4-FFF2-40B4-BE49-F238E27FC236}">
                <a16:creationId xmlns:a16="http://schemas.microsoft.com/office/drawing/2014/main" id="{8C979C06-3267-45A7-BEB0-B573B555FCC1}"/>
              </a:ext>
            </a:extLst>
          </p:cNvPr>
          <p:cNvSpPr>
            <a:spLocks noGrp="1"/>
          </p:cNvSpPr>
          <p:nvPr>
            <p:ph type="body" idx="1"/>
          </p:nvPr>
        </p:nvSpPr>
        <p:spPr/>
        <p:txBody>
          <a:bodyPr/>
          <a:lstStyle/>
          <a:p>
            <a:r>
              <a:rPr lang="en-US"/>
              <a:t>parent</a:t>
            </a:r>
          </a:p>
        </p:txBody>
      </p:sp>
      <p:sp>
        <p:nvSpPr>
          <p:cNvPr id="31747" name="Content Placeholder 2">
            <a:extLst>
              <a:ext uri="{FF2B5EF4-FFF2-40B4-BE49-F238E27FC236}">
                <a16:creationId xmlns:a16="http://schemas.microsoft.com/office/drawing/2014/main" id="{1F6349F7-A565-4219-8BCC-8907C51B7C3A}"/>
              </a:ext>
            </a:extLst>
          </p:cNvPr>
          <p:cNvSpPr>
            <a:spLocks noGrp="1"/>
          </p:cNvSpPr>
          <p:nvPr>
            <p:ph sz="half" idx="2"/>
          </p:nvPr>
        </p:nvSpPr>
        <p:spPr/>
        <p:txBody>
          <a:bodyPr>
            <a:normAutofit lnSpcReduction="10000"/>
          </a:bodyPr>
          <a:lstStyle/>
          <a:p>
            <a:pPr marL="0" indent="0" algn="l" rtl="0">
              <a:buFont typeface="Wingdings" panose="05000000000000000000" pitchFamily="2" charset="2"/>
              <a:buNone/>
            </a:pP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main()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x = 0;</a:t>
            </a:r>
          </a:p>
          <a:p>
            <a:pPr marL="0" indent="0" algn="l" rtl="0">
              <a:buFont typeface="Wingdings" panose="05000000000000000000" pitchFamily="2" charset="2"/>
              <a:buNone/>
            </a:pPr>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pid_t</a:t>
            </a:r>
            <a:r>
              <a:rPr lang="en-US">
                <a:latin typeface="Courier New" panose="02070309020205020404" pitchFamily="49" charset="0"/>
                <a:cs typeface="Courier New" panose="02070309020205020404" pitchFamily="49" charset="0"/>
              </a:rPr>
              <a:t> p </a:t>
            </a:r>
            <a:r>
              <a:rPr lang="en-US" altLang="en-US">
                <a:latin typeface="Courier New" panose="02070309020205020404" pitchFamily="49" charset="0"/>
                <a:cs typeface="Courier New" panose="02070309020205020404" pitchFamily="49" charset="0"/>
              </a:rPr>
              <a:t>= fork();</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if (p == 0)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1;</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 else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2;</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a:t>
            </a:r>
          </a:p>
        </p:txBody>
      </p:sp>
      <p:sp>
        <p:nvSpPr>
          <p:cNvPr id="7" name="Text Placeholder 6">
            <a:extLst>
              <a:ext uri="{FF2B5EF4-FFF2-40B4-BE49-F238E27FC236}">
                <a16:creationId xmlns:a16="http://schemas.microsoft.com/office/drawing/2014/main" id="{F2C60740-11C4-4329-B0E9-D612FA887024}"/>
              </a:ext>
            </a:extLst>
          </p:cNvPr>
          <p:cNvSpPr>
            <a:spLocks noGrp="1"/>
          </p:cNvSpPr>
          <p:nvPr>
            <p:ph type="body" sz="quarter" idx="3"/>
          </p:nvPr>
        </p:nvSpPr>
        <p:spPr/>
        <p:txBody>
          <a:bodyPr/>
          <a:lstStyle/>
          <a:p>
            <a:r>
              <a:rPr lang="en-US"/>
              <a:t>son</a:t>
            </a:r>
          </a:p>
        </p:txBody>
      </p:sp>
      <p:sp>
        <p:nvSpPr>
          <p:cNvPr id="4" name="Content Placeholder 3">
            <a:extLst>
              <a:ext uri="{FF2B5EF4-FFF2-40B4-BE49-F238E27FC236}">
                <a16:creationId xmlns:a16="http://schemas.microsoft.com/office/drawing/2014/main" id="{9D6B9CB4-DA7C-4F09-A025-3929A6042011}"/>
              </a:ext>
            </a:extLst>
          </p:cNvPr>
          <p:cNvSpPr>
            <a:spLocks noGrp="1"/>
          </p:cNvSpPr>
          <p:nvPr>
            <p:ph sz="quarter" idx="4"/>
          </p:nvPr>
        </p:nvSpPr>
        <p:spPr/>
        <p:txBody>
          <a:bodyPr>
            <a:normAutofit lnSpcReduction="10000"/>
          </a:bodyPr>
          <a:lstStyle/>
          <a:p>
            <a:pPr marL="0" indent="0" algn="l" rtl="0">
              <a:buFont typeface="Wingdings" panose="05000000000000000000" pitchFamily="2" charset="2"/>
              <a:buNone/>
            </a:pP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main()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x = 0;</a:t>
            </a:r>
          </a:p>
          <a:p>
            <a:pPr marL="0" indent="0" algn="l" rtl="0">
              <a:buFont typeface="Wingdings" panose="05000000000000000000" pitchFamily="2" charset="2"/>
              <a:buNone/>
            </a:pPr>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pid_t</a:t>
            </a:r>
            <a:r>
              <a:rPr lang="en-US">
                <a:latin typeface="Courier New" panose="02070309020205020404" pitchFamily="49" charset="0"/>
                <a:cs typeface="Courier New" panose="02070309020205020404" pitchFamily="49" charset="0"/>
              </a:rPr>
              <a:t> p </a:t>
            </a:r>
            <a:r>
              <a:rPr lang="en-US" altLang="en-US">
                <a:latin typeface="Courier New" panose="02070309020205020404" pitchFamily="49" charset="0"/>
                <a:cs typeface="Courier New" panose="02070309020205020404" pitchFamily="49" charset="0"/>
              </a:rPr>
              <a:t>= fork();</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if (p == 0)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1;</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 else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2;</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a:t>
            </a:r>
          </a:p>
        </p:txBody>
      </p:sp>
      <p:grpSp>
        <p:nvGrpSpPr>
          <p:cNvPr id="2" name="Group 1">
            <a:extLst>
              <a:ext uri="{FF2B5EF4-FFF2-40B4-BE49-F238E27FC236}">
                <a16:creationId xmlns:a16="http://schemas.microsoft.com/office/drawing/2014/main" id="{F0717FD1-33BD-4498-A7C9-A38F805E51F4}"/>
              </a:ext>
            </a:extLst>
          </p:cNvPr>
          <p:cNvGrpSpPr/>
          <p:nvPr/>
        </p:nvGrpSpPr>
        <p:grpSpPr>
          <a:xfrm>
            <a:off x="328773" y="3742025"/>
            <a:ext cx="4814297" cy="215758"/>
            <a:chOff x="328773" y="3742025"/>
            <a:chExt cx="4814297" cy="215758"/>
          </a:xfrm>
        </p:grpSpPr>
        <p:sp>
          <p:nvSpPr>
            <p:cNvPr id="9" name="Arrow: Right 8">
              <a:extLst>
                <a:ext uri="{FF2B5EF4-FFF2-40B4-BE49-F238E27FC236}">
                  <a16:creationId xmlns:a16="http://schemas.microsoft.com/office/drawing/2014/main" id="{E5CC651C-C49E-4539-842E-167AA43078AA}"/>
                </a:ext>
              </a:extLst>
            </p:cNvPr>
            <p:cNvSpPr/>
            <p:nvPr/>
          </p:nvSpPr>
          <p:spPr>
            <a:xfrm>
              <a:off x="4629362" y="3742025"/>
              <a:ext cx="513708" cy="215758"/>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D7698238-0F28-4ADA-A008-6ED9B55B2F2E}"/>
                </a:ext>
              </a:extLst>
            </p:cNvPr>
            <p:cNvSpPr/>
            <p:nvPr/>
          </p:nvSpPr>
          <p:spPr>
            <a:xfrm>
              <a:off x="328773" y="3742025"/>
              <a:ext cx="513708" cy="215758"/>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
        <p:nvSpPr>
          <p:cNvPr id="5" name="מציין מיקום של מספר שקופית 4">
            <a:extLst>
              <a:ext uri="{FF2B5EF4-FFF2-40B4-BE49-F238E27FC236}">
                <a16:creationId xmlns:a16="http://schemas.microsoft.com/office/drawing/2014/main" id="{1212A9BB-8357-493F-A783-ABC4C90204CF}"/>
              </a:ext>
            </a:extLst>
          </p:cNvPr>
          <p:cNvSpPr>
            <a:spLocks noGrp="1"/>
          </p:cNvSpPr>
          <p:nvPr>
            <p:ph type="sldNum" sz="quarter" idx="12"/>
          </p:nvPr>
        </p:nvSpPr>
        <p:spPr/>
        <p:txBody>
          <a:bodyPr/>
          <a:lstStyle/>
          <a:p>
            <a:fld id="{0CFEC368-1D7A-4F81-ABF6-AE0E36BAF64C}" type="slidenum">
              <a:rPr lang="en-US" smtClean="0"/>
              <a:pPr/>
              <a:t>7</a:t>
            </a:fld>
            <a:endParaRPr lang="en-US"/>
          </a:p>
        </p:txBody>
      </p:sp>
    </p:spTree>
    <p:extLst>
      <p:ext uri="{BB962C8B-B14F-4D97-AF65-F5344CB8AC3E}">
        <p14:creationId xmlns:p14="http://schemas.microsoft.com/office/powerpoint/2010/main" val="784342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11476E16-A581-4A59-A9AB-36BC26B23F7B}"/>
              </a:ext>
            </a:extLst>
          </p:cNvPr>
          <p:cNvSpPr>
            <a:spLocks noGrp="1"/>
          </p:cNvSpPr>
          <p:nvPr>
            <p:ph type="title"/>
          </p:nvPr>
        </p:nvSpPr>
        <p:spPr/>
        <p:txBody>
          <a:bodyPr/>
          <a:lstStyle/>
          <a:p>
            <a:r>
              <a:rPr lang="he-IL" altLang="en-US" dirty="0"/>
              <a:t>קוד האב וקוד הבן מסתעפים</a:t>
            </a:r>
            <a:endParaRPr lang="en-US" altLang="en-US" dirty="0"/>
          </a:p>
        </p:txBody>
      </p:sp>
      <p:sp>
        <p:nvSpPr>
          <p:cNvPr id="6" name="Text Placeholder 5">
            <a:extLst>
              <a:ext uri="{FF2B5EF4-FFF2-40B4-BE49-F238E27FC236}">
                <a16:creationId xmlns:a16="http://schemas.microsoft.com/office/drawing/2014/main" id="{8C979C06-3267-45A7-BEB0-B573B555FCC1}"/>
              </a:ext>
            </a:extLst>
          </p:cNvPr>
          <p:cNvSpPr>
            <a:spLocks noGrp="1"/>
          </p:cNvSpPr>
          <p:nvPr>
            <p:ph type="body" idx="1"/>
          </p:nvPr>
        </p:nvSpPr>
        <p:spPr/>
        <p:txBody>
          <a:bodyPr/>
          <a:lstStyle/>
          <a:p>
            <a:r>
              <a:rPr lang="en-US"/>
              <a:t>parent</a:t>
            </a:r>
          </a:p>
        </p:txBody>
      </p:sp>
      <p:sp>
        <p:nvSpPr>
          <p:cNvPr id="31747" name="Content Placeholder 2">
            <a:extLst>
              <a:ext uri="{FF2B5EF4-FFF2-40B4-BE49-F238E27FC236}">
                <a16:creationId xmlns:a16="http://schemas.microsoft.com/office/drawing/2014/main" id="{1F6349F7-A565-4219-8BCC-8907C51B7C3A}"/>
              </a:ext>
            </a:extLst>
          </p:cNvPr>
          <p:cNvSpPr>
            <a:spLocks noGrp="1"/>
          </p:cNvSpPr>
          <p:nvPr>
            <p:ph sz="half" idx="2"/>
          </p:nvPr>
        </p:nvSpPr>
        <p:spPr/>
        <p:txBody>
          <a:bodyPr>
            <a:normAutofit lnSpcReduction="10000"/>
          </a:bodyPr>
          <a:lstStyle/>
          <a:p>
            <a:pPr marL="0" indent="0" algn="l" rtl="0">
              <a:buFont typeface="Wingdings" panose="05000000000000000000" pitchFamily="2" charset="2"/>
              <a:buNone/>
            </a:pP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main()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x = 0;</a:t>
            </a:r>
          </a:p>
          <a:p>
            <a:pPr marL="0" indent="0" algn="l" rtl="0">
              <a:buFont typeface="Wingdings" panose="05000000000000000000" pitchFamily="2" charset="2"/>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pid_t</a:t>
            </a:r>
            <a:r>
              <a:rPr lang="en-US" dirty="0">
                <a:latin typeface="Courier New" panose="02070309020205020404" pitchFamily="49" charset="0"/>
                <a:cs typeface="Courier New" panose="02070309020205020404" pitchFamily="49" charset="0"/>
              </a:rPr>
              <a:t> p </a:t>
            </a:r>
            <a:r>
              <a:rPr lang="en-US" altLang="en-US" dirty="0">
                <a:latin typeface="Courier New" panose="02070309020205020404" pitchFamily="49" charset="0"/>
                <a:cs typeface="Courier New" panose="02070309020205020404" pitchFamily="49" charset="0"/>
              </a:rPr>
              <a:t>= fork();</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if (p == 0)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x = 1;</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 else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x = 2;</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dirty="0">
                <a:latin typeface="Courier New" panose="02070309020205020404" pitchFamily="49" charset="0"/>
                <a:cs typeface="Courier New" panose="02070309020205020404" pitchFamily="49" charset="0"/>
              </a:rPr>
              <a:t>}</a:t>
            </a:r>
          </a:p>
        </p:txBody>
      </p:sp>
      <p:sp>
        <p:nvSpPr>
          <p:cNvPr id="7" name="Text Placeholder 6">
            <a:extLst>
              <a:ext uri="{FF2B5EF4-FFF2-40B4-BE49-F238E27FC236}">
                <a16:creationId xmlns:a16="http://schemas.microsoft.com/office/drawing/2014/main" id="{F2C60740-11C4-4329-B0E9-D612FA887024}"/>
              </a:ext>
            </a:extLst>
          </p:cNvPr>
          <p:cNvSpPr>
            <a:spLocks noGrp="1"/>
          </p:cNvSpPr>
          <p:nvPr>
            <p:ph type="body" sz="quarter" idx="3"/>
          </p:nvPr>
        </p:nvSpPr>
        <p:spPr/>
        <p:txBody>
          <a:bodyPr/>
          <a:lstStyle/>
          <a:p>
            <a:r>
              <a:rPr lang="en-US"/>
              <a:t>son</a:t>
            </a:r>
          </a:p>
        </p:txBody>
      </p:sp>
      <p:sp>
        <p:nvSpPr>
          <p:cNvPr id="4" name="Content Placeholder 3">
            <a:extLst>
              <a:ext uri="{FF2B5EF4-FFF2-40B4-BE49-F238E27FC236}">
                <a16:creationId xmlns:a16="http://schemas.microsoft.com/office/drawing/2014/main" id="{9D6B9CB4-DA7C-4F09-A025-3929A6042011}"/>
              </a:ext>
            </a:extLst>
          </p:cNvPr>
          <p:cNvSpPr>
            <a:spLocks noGrp="1"/>
          </p:cNvSpPr>
          <p:nvPr>
            <p:ph sz="quarter" idx="4"/>
          </p:nvPr>
        </p:nvSpPr>
        <p:spPr/>
        <p:txBody>
          <a:bodyPr>
            <a:normAutofit lnSpcReduction="10000"/>
          </a:bodyPr>
          <a:lstStyle/>
          <a:p>
            <a:pPr marL="0" indent="0" algn="l" rtl="0">
              <a:buFont typeface="Wingdings" panose="05000000000000000000" pitchFamily="2" charset="2"/>
              <a:buNone/>
            </a:pP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main()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r>
              <a:rPr lang="en-US" altLang="en-US" err="1">
                <a:latin typeface="Courier New" panose="02070309020205020404" pitchFamily="49" charset="0"/>
                <a:cs typeface="Courier New" panose="02070309020205020404" pitchFamily="49" charset="0"/>
              </a:rPr>
              <a:t>int</a:t>
            </a:r>
            <a:r>
              <a:rPr lang="en-US" altLang="en-US">
                <a:latin typeface="Courier New" panose="02070309020205020404" pitchFamily="49" charset="0"/>
                <a:cs typeface="Courier New" panose="02070309020205020404" pitchFamily="49" charset="0"/>
              </a:rPr>
              <a:t> x = 0;</a:t>
            </a:r>
          </a:p>
          <a:p>
            <a:pPr marL="0" indent="0" algn="l" rtl="0">
              <a:buFont typeface="Wingdings" panose="05000000000000000000" pitchFamily="2" charset="2"/>
              <a:buNone/>
            </a:pPr>
            <a:r>
              <a:rPr lang="en-US">
                <a:latin typeface="Courier New" panose="02070309020205020404" pitchFamily="49" charset="0"/>
                <a:cs typeface="Courier New" panose="02070309020205020404" pitchFamily="49" charset="0"/>
              </a:rPr>
              <a:t>  </a:t>
            </a:r>
            <a:r>
              <a:rPr lang="en-US" err="1">
                <a:latin typeface="Courier New" panose="02070309020205020404" pitchFamily="49" charset="0"/>
                <a:cs typeface="Courier New" panose="02070309020205020404" pitchFamily="49" charset="0"/>
              </a:rPr>
              <a:t>pid_t</a:t>
            </a:r>
            <a:r>
              <a:rPr lang="en-US">
                <a:latin typeface="Courier New" panose="02070309020205020404" pitchFamily="49" charset="0"/>
                <a:cs typeface="Courier New" panose="02070309020205020404" pitchFamily="49" charset="0"/>
              </a:rPr>
              <a:t> p </a:t>
            </a:r>
            <a:r>
              <a:rPr lang="en-US" altLang="en-US">
                <a:latin typeface="Courier New" panose="02070309020205020404" pitchFamily="49" charset="0"/>
                <a:cs typeface="Courier New" panose="02070309020205020404" pitchFamily="49" charset="0"/>
              </a:rPr>
              <a:t>= fork();</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if (p == 0)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1;</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 else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x = 2;</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  }</a:t>
            </a:r>
          </a:p>
          <a:p>
            <a:pPr marL="0" indent="0" algn="l" rtl="0">
              <a:buFont typeface="Wingdings" panose="05000000000000000000" pitchFamily="2" charset="2"/>
              <a:buNone/>
            </a:pPr>
            <a:r>
              <a:rPr lang="en-US" altLang="en-US">
                <a:latin typeface="Courier New" panose="02070309020205020404" pitchFamily="49" charset="0"/>
                <a:cs typeface="Courier New" panose="02070309020205020404" pitchFamily="49" charset="0"/>
              </a:rPr>
              <a:t>}</a:t>
            </a:r>
          </a:p>
        </p:txBody>
      </p:sp>
      <p:sp>
        <p:nvSpPr>
          <p:cNvPr id="5" name="Arrow: Right 4">
            <a:extLst>
              <a:ext uri="{FF2B5EF4-FFF2-40B4-BE49-F238E27FC236}">
                <a16:creationId xmlns:a16="http://schemas.microsoft.com/office/drawing/2014/main" id="{7798B284-16B9-429C-AD78-9E25E88D5CD2}"/>
              </a:ext>
            </a:extLst>
          </p:cNvPr>
          <p:cNvSpPr/>
          <p:nvPr/>
        </p:nvSpPr>
        <p:spPr>
          <a:xfrm>
            <a:off x="647270" y="4952131"/>
            <a:ext cx="513708" cy="215758"/>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E5CC651C-C49E-4539-842E-167AA43078AA}"/>
              </a:ext>
            </a:extLst>
          </p:cNvPr>
          <p:cNvSpPr/>
          <p:nvPr/>
        </p:nvSpPr>
        <p:spPr>
          <a:xfrm>
            <a:off x="4937587" y="4157190"/>
            <a:ext cx="513708" cy="215758"/>
          </a:xfrm>
          <a:prstGeom prs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004A7796-8D1F-4C16-A48A-000B7DB156FF}"/>
              </a:ext>
            </a:extLst>
          </p:cNvPr>
          <p:cNvGrpSpPr/>
          <p:nvPr/>
        </p:nvGrpSpPr>
        <p:grpSpPr>
          <a:xfrm>
            <a:off x="6577781" y="5475288"/>
            <a:ext cx="2109019" cy="914400"/>
            <a:chOff x="6577781" y="5475288"/>
            <a:chExt cx="2109019" cy="914400"/>
          </a:xfrm>
        </p:grpSpPr>
        <p:sp>
          <p:nvSpPr>
            <p:cNvPr id="12" name="Rounded Rectangular Callout 5">
              <a:extLst>
                <a:ext uri="{FF2B5EF4-FFF2-40B4-BE49-F238E27FC236}">
                  <a16:creationId xmlns:a16="http://schemas.microsoft.com/office/drawing/2014/main" id="{EEDCBFEF-8164-4CC5-8536-954ED142671C}"/>
                </a:ext>
              </a:extLst>
            </p:cNvPr>
            <p:cNvSpPr/>
            <p:nvPr/>
          </p:nvSpPr>
          <p:spPr>
            <a:xfrm>
              <a:off x="6577781" y="5475288"/>
              <a:ext cx="2109019" cy="914400"/>
            </a:xfrm>
            <a:prstGeom prst="wedgeRoundRectCallout">
              <a:avLst>
                <a:gd name="adj1" fmla="val -245950"/>
                <a:gd name="adj2" fmla="val -91666"/>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endParaRPr lang="en-US"/>
            </a:p>
          </p:txBody>
        </p:sp>
        <p:sp>
          <p:nvSpPr>
            <p:cNvPr id="10" name="Rounded Rectangular Callout 5">
              <a:extLst>
                <a:ext uri="{FF2B5EF4-FFF2-40B4-BE49-F238E27FC236}">
                  <a16:creationId xmlns:a16="http://schemas.microsoft.com/office/drawing/2014/main" id="{87454218-07F7-406C-BD2A-1D7F0CDE8650}"/>
                </a:ext>
              </a:extLst>
            </p:cNvPr>
            <p:cNvSpPr/>
            <p:nvPr/>
          </p:nvSpPr>
          <p:spPr>
            <a:xfrm>
              <a:off x="6577781" y="5475288"/>
              <a:ext cx="2109019" cy="914400"/>
            </a:xfrm>
            <a:prstGeom prst="wedgeRoundRectCallout">
              <a:avLst>
                <a:gd name="adj1" fmla="val -45243"/>
                <a:gd name="adj2" fmla="val -166947"/>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r>
                <a:rPr lang="he-IL"/>
                <a:t>מה יהיה ערכו של </a:t>
              </a:r>
              <a:r>
                <a:rPr lang="en-US"/>
                <a:t>x</a:t>
              </a:r>
              <a:r>
                <a:rPr lang="he-IL"/>
                <a:t> בסופו של דבר?</a:t>
              </a:r>
            </a:p>
            <a:p>
              <a:pPr algn="ctr" rtl="1"/>
              <a:r>
                <a:rPr lang="he-IL"/>
                <a:t>1 או 2?</a:t>
              </a:r>
              <a:endParaRPr lang="en-US"/>
            </a:p>
          </p:txBody>
        </p:sp>
      </p:grpSp>
      <p:sp>
        <p:nvSpPr>
          <p:cNvPr id="8" name="מציין מיקום של מספר שקופית 7">
            <a:extLst>
              <a:ext uri="{FF2B5EF4-FFF2-40B4-BE49-F238E27FC236}">
                <a16:creationId xmlns:a16="http://schemas.microsoft.com/office/drawing/2014/main" id="{AD353806-541E-4E01-96A8-94F17310207E}"/>
              </a:ext>
            </a:extLst>
          </p:cNvPr>
          <p:cNvSpPr>
            <a:spLocks noGrp="1"/>
          </p:cNvSpPr>
          <p:nvPr>
            <p:ph type="sldNum" sz="quarter" idx="12"/>
          </p:nvPr>
        </p:nvSpPr>
        <p:spPr/>
        <p:txBody>
          <a:bodyPr/>
          <a:lstStyle/>
          <a:p>
            <a:fld id="{0CFEC368-1D7A-4F81-ABF6-AE0E36BAF64C}" type="slidenum">
              <a:rPr lang="en-US" smtClean="0"/>
              <a:pPr/>
              <a:t>8</a:t>
            </a:fld>
            <a:endParaRPr lang="en-US"/>
          </a:p>
        </p:txBody>
      </p:sp>
    </p:spTree>
    <p:extLst>
      <p:ext uri="{BB962C8B-B14F-4D97-AF65-F5344CB8AC3E}">
        <p14:creationId xmlns:p14="http://schemas.microsoft.com/office/powerpoint/2010/main" val="82286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p:txBody>
          <a:bodyPr/>
          <a:lstStyle/>
          <a:p>
            <a:r>
              <a:rPr lang="he-IL"/>
              <a:t>שכפול מרחב הזיכרון ע"י </a:t>
            </a:r>
            <a:r>
              <a:rPr lang="en-US"/>
              <a:t>fork()</a:t>
            </a:r>
          </a:p>
        </p:txBody>
      </p:sp>
      <p:sp>
        <p:nvSpPr>
          <p:cNvPr id="17" name="Content Placeholder 16"/>
          <p:cNvSpPr>
            <a:spLocks noGrp="1"/>
          </p:cNvSpPr>
          <p:nvPr>
            <p:ph idx="1"/>
          </p:nvPr>
        </p:nvSpPr>
        <p:spPr/>
        <p:txBody>
          <a:bodyPr/>
          <a:lstStyle/>
          <a:p>
            <a:r>
              <a:rPr lang="he-IL" altLang="en-US"/>
              <a:t>לאחר פעולת </a:t>
            </a:r>
            <a:r>
              <a:rPr lang="en-US" altLang="en-US"/>
              <a:t>fork()</a:t>
            </a:r>
            <a:r>
              <a:rPr lang="he-IL" altLang="en-US"/>
              <a:t> מוצלחת, אמנם יש לאב ולבן את אותם משתנים בזיכרון, אך </a:t>
            </a:r>
            <a:r>
              <a:rPr lang="he-IL" altLang="en-US" b="1">
                <a:solidFill>
                  <a:srgbClr val="0000FF"/>
                </a:solidFill>
              </a:rPr>
              <a:t>בעותקים</a:t>
            </a:r>
            <a:r>
              <a:rPr lang="he-IL" altLang="en-US" b="1"/>
              <a:t> </a:t>
            </a:r>
            <a:r>
              <a:rPr lang="he-IL" altLang="en-US" b="1">
                <a:solidFill>
                  <a:srgbClr val="0000FF"/>
                </a:solidFill>
              </a:rPr>
              <a:t>נפרדים</a:t>
            </a:r>
            <a:r>
              <a:rPr lang="he-IL" altLang="en-US"/>
              <a:t>.</a:t>
            </a:r>
          </a:p>
          <a:p>
            <a:pPr lvl="1"/>
            <a:r>
              <a:rPr lang="he-IL" altLang="en-US"/>
              <a:t>כלומר, שינוי ערכי המשתנים אצל האב לא ייראה אצל הבן, וההיפך.</a:t>
            </a:r>
            <a:endParaRPr lang="en-US" altLang="en-US"/>
          </a:p>
          <a:p>
            <a:endParaRPr lang="he-IL"/>
          </a:p>
          <a:p>
            <a:endParaRPr lang="he-IL"/>
          </a:p>
          <a:p>
            <a:endParaRPr lang="he-IL"/>
          </a:p>
        </p:txBody>
      </p:sp>
      <p:sp>
        <p:nvSpPr>
          <p:cNvPr id="8" name="Slide Number Placeholder 7"/>
          <p:cNvSpPr>
            <a:spLocks noGrp="1"/>
          </p:cNvSpPr>
          <p:nvPr>
            <p:ph type="sldNum" sz="quarter" idx="12"/>
          </p:nvPr>
        </p:nvSpPr>
        <p:spPr/>
        <p:txBody>
          <a:bodyPr/>
          <a:lstStyle/>
          <a:p>
            <a:fld id="{0CFEC368-1D7A-4F81-ABF6-AE0E36BAF64C}" type="slidenum">
              <a:rPr lang="en-US" smtClean="0"/>
              <a:pPr/>
              <a:t>9</a:t>
            </a:fld>
            <a:endParaRPr lang="en-US"/>
          </a:p>
        </p:txBody>
      </p:sp>
      <p:pic>
        <p:nvPicPr>
          <p:cNvPr id="2" name="תמונה 1">
            <a:extLst>
              <a:ext uri="{FF2B5EF4-FFF2-40B4-BE49-F238E27FC236}">
                <a16:creationId xmlns:a16="http://schemas.microsoft.com/office/drawing/2014/main" id="{62F9CB5B-D3A0-DBD2-5105-EBEA43D251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924" y="533400"/>
            <a:ext cx="779099" cy="679744"/>
          </a:xfrm>
          <a:prstGeom prst="rect">
            <a:avLst/>
          </a:prstGeom>
        </p:spPr>
      </p:pic>
    </p:spTree>
    <p:extLst>
      <p:ext uri="{BB962C8B-B14F-4D97-AF65-F5344CB8AC3E}">
        <p14:creationId xmlns:p14="http://schemas.microsoft.com/office/powerpoint/2010/main" val="147870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he-IL" altLang="en-US" dirty="0"/>
              <a:t>הדפסה לא מתואמת למסך</a:t>
            </a:r>
            <a:endParaRPr lang="en-US" altLang="en-US" dirty="0"/>
          </a:p>
        </p:txBody>
      </p:sp>
      <p:sp>
        <p:nvSpPr>
          <p:cNvPr id="28676" name="Rectangle 3"/>
          <p:cNvSpPr>
            <a:spLocks noGrp="1" noChangeArrowheads="1"/>
          </p:cNvSpPr>
          <p:nvPr>
            <p:ph sz="half" idx="1"/>
          </p:nvPr>
        </p:nvSpPr>
        <p:spPr/>
        <p:txBody>
          <a:bodyPr>
            <a:normAutofit fontScale="92500" lnSpcReduction="10000"/>
          </a:bodyPr>
          <a:lstStyle/>
          <a:p>
            <a:r>
              <a:rPr lang="he-IL" dirty="0"/>
              <a:t>אם </a:t>
            </a:r>
            <a:r>
              <a:rPr lang="en-US" dirty="0"/>
              <a:t>fork()</a:t>
            </a:r>
            <a:r>
              <a:rPr lang="he-IL" dirty="0"/>
              <a:t> </a:t>
            </a:r>
            <a:r>
              <a:rPr lang="he-IL" b="1" dirty="0"/>
              <a:t>נכשלה</a:t>
            </a:r>
            <a:r>
              <a:rPr lang="he-IL" dirty="0"/>
              <a:t>:</a:t>
            </a:r>
          </a:p>
          <a:p>
            <a:pPr marL="0" indent="0" algn="l" rtl="0">
              <a:buNone/>
            </a:pPr>
            <a:r>
              <a:rPr lang="en-US" altLang="en-US" dirty="0">
                <a:latin typeface="Courier New" panose="02070309020205020404" pitchFamily="49" charset="0"/>
                <a:cs typeface="Courier New" panose="02070309020205020404" pitchFamily="49" charset="0"/>
              </a:rPr>
              <a:t>hello</a:t>
            </a:r>
            <a:endParaRPr lang="en-US" dirty="0"/>
          </a:p>
          <a:p>
            <a:pPr lvl="1"/>
            <a:endParaRPr lang="en-US" altLang="en-US" dirty="0"/>
          </a:p>
          <a:p>
            <a:r>
              <a:rPr lang="he-IL" altLang="en-US" dirty="0"/>
              <a:t>ואם </a:t>
            </a:r>
            <a:r>
              <a:rPr lang="en-US" altLang="en-US" dirty="0"/>
              <a:t>fork()</a:t>
            </a:r>
            <a:r>
              <a:rPr lang="he-IL" altLang="en-US" dirty="0"/>
              <a:t> </a:t>
            </a:r>
            <a:r>
              <a:rPr lang="he-IL" altLang="en-US" b="1" dirty="0"/>
              <a:t>הצליחה</a:t>
            </a:r>
            <a:r>
              <a:rPr lang="he-IL" altLang="en-US" dirty="0"/>
              <a:t>?</a:t>
            </a:r>
          </a:p>
          <a:p>
            <a:r>
              <a:rPr lang="he-IL" altLang="en-US" dirty="0"/>
              <a:t> יש הרבה תשובות אפשריות, למשל:</a:t>
            </a:r>
          </a:p>
          <a:p>
            <a:pPr algn="l" rtl="0">
              <a:buNone/>
            </a:pPr>
            <a:r>
              <a:rPr lang="en-US" altLang="en-US" dirty="0" err="1">
                <a:latin typeface="Courier New" panose="02070309020205020404" pitchFamily="49" charset="0"/>
                <a:cs typeface="Courier New" panose="02070309020205020404" pitchFamily="49" charset="0"/>
              </a:rPr>
              <a:t>hellohello</a:t>
            </a:r>
            <a:endParaRPr lang="en-US" altLang="en-US" dirty="0">
              <a:latin typeface="Courier New" panose="02070309020205020404" pitchFamily="49" charset="0"/>
              <a:cs typeface="Courier New" panose="02070309020205020404" pitchFamily="49" charset="0"/>
            </a:endParaRPr>
          </a:p>
          <a:p>
            <a:pPr algn="l" rtl="0">
              <a:buNone/>
            </a:pPr>
            <a:r>
              <a:rPr lang="en-US" altLang="en-US" dirty="0" err="1">
                <a:latin typeface="Courier New" panose="02070309020205020404" pitchFamily="49" charset="0"/>
                <a:cs typeface="Courier New" panose="02070309020205020404" pitchFamily="49" charset="0"/>
              </a:rPr>
              <a:t>hheellollo</a:t>
            </a:r>
            <a:endParaRPr lang="en-US" altLang="en-US" dirty="0">
              <a:latin typeface="Courier New" panose="02070309020205020404" pitchFamily="49" charset="0"/>
              <a:cs typeface="Courier New" panose="02070309020205020404" pitchFamily="49" charset="0"/>
            </a:endParaRPr>
          </a:p>
          <a:p>
            <a:pPr algn="l" rtl="0">
              <a:buNone/>
            </a:pPr>
            <a:r>
              <a:rPr lang="en-US" altLang="en-US" dirty="0" err="1">
                <a:latin typeface="Courier New" panose="02070309020205020404" pitchFamily="49" charset="0"/>
                <a:cs typeface="Courier New" panose="02070309020205020404" pitchFamily="49" charset="0"/>
              </a:rPr>
              <a:t>helhellolo</a:t>
            </a:r>
            <a:endParaRPr lang="en-US" altLang="en-US" dirty="0">
              <a:latin typeface="Courier New" panose="02070309020205020404" pitchFamily="49" charset="0"/>
              <a:cs typeface="Courier New" panose="02070309020205020404" pitchFamily="49" charset="0"/>
            </a:endParaRPr>
          </a:p>
          <a:p>
            <a:endParaRPr lang="en-US" altLang="en-US" dirty="0"/>
          </a:p>
          <a:p>
            <a:r>
              <a:rPr lang="he-IL" altLang="en-US" dirty="0"/>
              <a:t>הסיבה: שני התהליכים ניגשים בצורה לא מתואמת </a:t>
            </a:r>
            <a:r>
              <a:rPr lang="he-IL" altLang="en-US" b="1" dirty="0">
                <a:solidFill>
                  <a:srgbClr val="0000FF"/>
                </a:solidFill>
              </a:rPr>
              <a:t>למשאב משותף</a:t>
            </a:r>
            <a:r>
              <a:rPr lang="he-IL" altLang="en-US" dirty="0"/>
              <a:t> - המסך.</a:t>
            </a:r>
            <a:endParaRPr lang="en-US" altLang="en-US" dirty="0"/>
          </a:p>
        </p:txBody>
      </p:sp>
      <p:sp>
        <p:nvSpPr>
          <p:cNvPr id="2" name="Content Placeholder 1">
            <a:extLst>
              <a:ext uri="{FF2B5EF4-FFF2-40B4-BE49-F238E27FC236}">
                <a16:creationId xmlns:a16="http://schemas.microsoft.com/office/drawing/2014/main" id="{1FF9341B-5AAA-4E27-8953-BA86C843D925}"/>
              </a:ext>
            </a:extLst>
          </p:cNvPr>
          <p:cNvSpPr>
            <a:spLocks noGrp="1"/>
          </p:cNvSpPr>
          <p:nvPr>
            <p:ph sz="half" idx="2"/>
          </p:nvPr>
        </p:nvSpPr>
        <p:spPr/>
        <p:txBody>
          <a:bodyPr>
            <a:normAutofit fontScale="92500" lnSpcReduction="10000"/>
          </a:bodyPr>
          <a:lstStyle/>
          <a:p>
            <a:r>
              <a:rPr lang="he-IL" altLang="en-US" dirty="0"/>
              <a:t>שאלה:</a:t>
            </a:r>
            <a:r>
              <a:rPr lang="en-US" altLang="en-US" dirty="0"/>
              <a:t> </a:t>
            </a:r>
            <a:r>
              <a:rPr lang="he-IL" altLang="en-US" dirty="0"/>
              <a:t>מה מדפיס הקוד הבא אם </a:t>
            </a:r>
            <a:r>
              <a:rPr lang="en-US" altLang="en-US" dirty="0"/>
              <a:t>fork</a:t>
            </a:r>
            <a:r>
              <a:rPr lang="he-IL" altLang="en-US" dirty="0"/>
              <a:t> נכשלת? ואם היא מצליחה?</a:t>
            </a:r>
          </a:p>
          <a:p>
            <a:pPr marL="0" indent="0" algn="l" rtl="0">
              <a:buNone/>
            </a:pPr>
            <a:endParaRPr lang="en-US" altLang="en-US" dirty="0">
              <a:latin typeface="Courier New" panose="02070309020205020404" pitchFamily="49" charset="0"/>
              <a:cs typeface="Courier New" panose="02070309020205020404" pitchFamily="49" charset="0"/>
            </a:endParaRPr>
          </a:p>
          <a:p>
            <a:pPr marL="0" indent="0" algn="l" rtl="0">
              <a:buNone/>
            </a:pPr>
            <a:r>
              <a:rPr lang="en-US" altLang="en-US" dirty="0">
                <a:latin typeface="Courier New" panose="02070309020205020404" pitchFamily="49" charset="0"/>
                <a:cs typeface="Courier New" panose="02070309020205020404" pitchFamily="49" charset="0"/>
              </a:rPr>
              <a:t>int main() {</a:t>
            </a:r>
          </a:p>
          <a:p>
            <a:pPr marL="0" indent="0" algn="l" rtl="0">
              <a:buNone/>
            </a:pPr>
            <a:r>
              <a:rPr lang="en-US" altLang="en-US" dirty="0">
                <a:latin typeface="Courier New" panose="02070309020205020404" pitchFamily="49" charset="0"/>
                <a:cs typeface="Courier New" panose="02070309020205020404" pitchFamily="49" charset="0"/>
              </a:rPr>
              <a:t>   fork();</a:t>
            </a:r>
          </a:p>
          <a:p>
            <a:pPr marL="0" indent="0" algn="l" rtl="0">
              <a:buNone/>
            </a:pP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printf</a:t>
            </a:r>
            <a:r>
              <a:rPr lang="en-US" altLang="en-US" dirty="0">
                <a:latin typeface="Courier New" panose="02070309020205020404" pitchFamily="49" charset="0"/>
                <a:cs typeface="Courier New" panose="02070309020205020404" pitchFamily="49" charset="0"/>
              </a:rPr>
              <a:t>(“hello”);</a:t>
            </a:r>
          </a:p>
          <a:p>
            <a:pPr marL="0" indent="0" algn="l" rtl="0">
              <a:buNone/>
            </a:pPr>
            <a:r>
              <a:rPr lang="en-US" altLang="en-US" dirty="0">
                <a:latin typeface="Courier New" panose="02070309020205020404" pitchFamily="49" charset="0"/>
                <a:cs typeface="Courier New" panose="02070309020205020404" pitchFamily="49" charset="0"/>
              </a:rPr>
              <a:t>   return 0;</a:t>
            </a:r>
          </a:p>
          <a:p>
            <a:pPr marL="0" indent="0" algn="l" rtl="0">
              <a:buNone/>
            </a:pPr>
            <a:r>
              <a:rPr lang="en-US" altLang="en-US" dirty="0">
                <a:latin typeface="Courier New" panose="02070309020205020404" pitchFamily="49" charset="0"/>
                <a:cs typeface="Courier New" panose="02070309020205020404" pitchFamily="49" charset="0"/>
              </a:rPr>
              <a:t>}</a:t>
            </a:r>
          </a:p>
          <a:p>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10</a:t>
            </a:fld>
            <a:endParaRPr lang="en-US"/>
          </a:p>
        </p:txBody>
      </p:sp>
    </p:spTree>
    <p:extLst>
      <p:ext uri="{BB962C8B-B14F-4D97-AF65-F5344CB8AC3E}">
        <p14:creationId xmlns:p14="http://schemas.microsoft.com/office/powerpoint/2010/main" val="336449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67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6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he-IL" altLang="en-US" dirty="0"/>
              <a:t>קריאת המערכת </a:t>
            </a:r>
            <a:r>
              <a:rPr lang="en-US" altLang="en-US" dirty="0"/>
              <a:t>wait()</a:t>
            </a:r>
            <a:endParaRPr lang="he-IL" altLang="en-US" dirty="0"/>
          </a:p>
        </p:txBody>
      </p:sp>
      <p:sp>
        <p:nvSpPr>
          <p:cNvPr id="34820" name="Rectangle 3"/>
          <p:cNvSpPr>
            <a:spLocks noGrp="1" noChangeArrowheads="1"/>
          </p:cNvSpPr>
          <p:nvPr>
            <p:ph idx="1"/>
          </p:nvPr>
        </p:nvSpPr>
        <p:spPr/>
        <p:txBody>
          <a:bodyPr>
            <a:normAutofit/>
          </a:bodyPr>
          <a:lstStyle/>
          <a:p>
            <a:pPr marL="0" indent="0" algn="l" rtl="0">
              <a:buNone/>
            </a:pPr>
            <a:r>
              <a:rPr lang="en-US" altLang="en-US" dirty="0" err="1">
                <a:latin typeface="Courier New" panose="02070309020205020404" pitchFamily="49" charset="0"/>
                <a:cs typeface="Courier New" panose="02070309020205020404" pitchFamily="49" charset="0"/>
              </a:rPr>
              <a:t>pid_t</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wait</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wstatus</a:t>
            </a:r>
            <a:r>
              <a:rPr lang="en-US" altLang="en-US" dirty="0">
                <a:latin typeface="Courier New" panose="02070309020205020404" pitchFamily="49" charset="0"/>
                <a:cs typeface="Courier New" panose="02070309020205020404" pitchFamily="49" charset="0"/>
              </a:rPr>
              <a:t>);</a:t>
            </a:r>
            <a:endParaRPr lang="he-IL" altLang="en-US" dirty="0"/>
          </a:p>
          <a:p>
            <a:r>
              <a:rPr lang="he-IL" altLang="en-US" u="sng" dirty="0"/>
              <a:t>פעולה:</a:t>
            </a:r>
            <a:r>
              <a:rPr lang="he-IL" altLang="en-US" dirty="0"/>
              <a:t> ממתינה עד אשר </a:t>
            </a:r>
            <a:r>
              <a:rPr lang="he-IL" altLang="en-US" b="1" dirty="0"/>
              <a:t>אחד</a:t>
            </a:r>
            <a:r>
              <a:rPr lang="he-IL" altLang="en-US" dirty="0"/>
              <a:t> מתהליכי הבן יסיים.</a:t>
            </a:r>
          </a:p>
          <a:p>
            <a:r>
              <a:rPr lang="he-IL" altLang="en-US" u="sng" dirty="0"/>
              <a:t>פרמטרים:</a:t>
            </a:r>
          </a:p>
          <a:p>
            <a:pPr lvl="1"/>
            <a:r>
              <a:rPr lang="en-US" altLang="en-US" dirty="0" err="1"/>
              <a:t>wstatus</a:t>
            </a:r>
            <a:r>
              <a:rPr lang="he-IL" altLang="en-US" dirty="0"/>
              <a:t> – מצביע למשתנה בו יאוחסנו </a:t>
            </a:r>
            <a:r>
              <a:rPr lang="he-IL" dirty="0"/>
              <a:t>פרטים על תהליך הבן שהסתיים</a:t>
            </a:r>
            <a:r>
              <a:rPr lang="he-IL" altLang="en-US" dirty="0"/>
              <a:t>.</a:t>
            </a:r>
          </a:p>
          <a:p>
            <a:pPr lvl="2"/>
            <a:r>
              <a:rPr lang="he-IL" dirty="0"/>
              <a:t>למשל, </a:t>
            </a:r>
            <a:r>
              <a:rPr lang="en-US" altLang="en-US" dirty="0" err="1"/>
              <a:t>wstatus</a:t>
            </a:r>
            <a:r>
              <a:rPr lang="he-IL" dirty="0"/>
              <a:t> יכיל את ערך הסיום של הבן </a:t>
            </a:r>
            <a:r>
              <a:rPr lang="he-IL" altLang="en-US" dirty="0"/>
              <a:t>(הערך שהעביר כארגומנט ל-</a:t>
            </a:r>
            <a:r>
              <a:rPr lang="en-US" altLang="en-US" dirty="0"/>
              <a:t>exit()</a:t>
            </a:r>
            <a:r>
              <a:rPr lang="he-IL" altLang="en-US" dirty="0"/>
              <a:t>).</a:t>
            </a:r>
            <a:r>
              <a:rPr lang="he-IL" dirty="0"/>
              <a:t> ערך הסיום מופיע בבית השני מתוך ארבעת בתי ה-</a:t>
            </a:r>
            <a:r>
              <a:rPr lang="en-US" altLang="en-US" dirty="0"/>
              <a:t> </a:t>
            </a:r>
            <a:r>
              <a:rPr lang="en-US" altLang="en-US" dirty="0" err="1"/>
              <a:t>wstatus</a:t>
            </a:r>
            <a:r>
              <a:rPr lang="he-IL" dirty="0"/>
              <a:t>. כדי לחלץ אותו יש לנצל את המאקרו </a:t>
            </a:r>
            <a:r>
              <a:rPr lang="en-US" dirty="0"/>
              <a:t>WEXITSTATUS(*</a:t>
            </a:r>
            <a:r>
              <a:rPr lang="en-US" altLang="en-US" dirty="0" err="1"/>
              <a:t>wstatus</a:t>
            </a:r>
            <a:r>
              <a:rPr lang="en-US" dirty="0"/>
              <a:t>)</a:t>
            </a:r>
            <a:r>
              <a:rPr lang="he-IL" dirty="0"/>
              <a:t>, המחזיר </a:t>
            </a:r>
            <a:r>
              <a:rPr lang="en-US" b="1" dirty="0"/>
              <a:t>(*</a:t>
            </a:r>
            <a:r>
              <a:rPr lang="en-US" b="1" dirty="0" err="1"/>
              <a:t>wstatus</a:t>
            </a:r>
            <a:r>
              <a:rPr lang="en-US" b="1" dirty="0"/>
              <a:t>&gt;&gt;8) &amp; 0xff</a:t>
            </a:r>
            <a:r>
              <a:rPr lang="he-IL" dirty="0"/>
              <a:t>. </a:t>
            </a:r>
          </a:p>
          <a:p>
            <a:pPr lvl="1"/>
            <a:r>
              <a:rPr lang="he-IL" altLang="en-US" dirty="0"/>
              <a:t>במידה ולא מעוניינים בסטטוס הבן שסיים, אפשר להעביר </a:t>
            </a:r>
            <a:r>
              <a:rPr lang="en-US" altLang="en-US" dirty="0"/>
              <a:t>NULL</a:t>
            </a:r>
            <a:r>
              <a:rPr lang="he-IL" altLang="en-US" dirty="0"/>
              <a:t>.</a:t>
            </a:r>
            <a:endParaRPr lang="he-IL" dirty="0"/>
          </a:p>
          <a:p>
            <a:r>
              <a:rPr lang="he-IL" altLang="en-US" u="sng" dirty="0"/>
              <a:t>ערך מוחזר:</a:t>
            </a:r>
          </a:p>
          <a:p>
            <a:pPr lvl="1"/>
            <a:r>
              <a:rPr lang="he-IL" altLang="en-US" dirty="0"/>
              <a:t>אם אין בנים או שכל הבנים כבר סיימו ובוצע להם </a:t>
            </a:r>
            <a:r>
              <a:rPr lang="en-US" altLang="en-US" dirty="0"/>
              <a:t>wait()</a:t>
            </a:r>
            <a:r>
              <a:rPr lang="he-IL" altLang="en-US" dirty="0"/>
              <a:t> – יוחזר מיד הערך </a:t>
            </a:r>
            <a:r>
              <a:rPr lang="en-US" altLang="en-US" dirty="0"/>
              <a:t>-1</a:t>
            </a:r>
            <a:r>
              <a:rPr lang="he-IL" altLang="en-US" dirty="0"/>
              <a:t>.</a:t>
            </a:r>
          </a:p>
          <a:p>
            <a:pPr lvl="1"/>
            <a:r>
              <a:rPr lang="he-IL" altLang="en-US" dirty="0"/>
              <a:t>אם יש בנים שסיימו ועדיין לא בוצע עבורם </a:t>
            </a:r>
            <a:r>
              <a:rPr lang="en-US" altLang="en-US" dirty="0"/>
              <a:t>wait()</a:t>
            </a:r>
            <a:r>
              <a:rPr lang="he-IL" altLang="en-US" dirty="0"/>
              <a:t> (כלומר הם במצב </a:t>
            </a:r>
            <a:r>
              <a:rPr lang="en-US" altLang="en-US" b="1" dirty="0">
                <a:solidFill>
                  <a:srgbClr val="0000FF"/>
                </a:solidFill>
              </a:rPr>
              <a:t>zombie</a:t>
            </a:r>
            <a:r>
              <a:rPr lang="he-IL" altLang="en-US" b="1" dirty="0">
                <a:solidFill>
                  <a:srgbClr val="0000FF"/>
                </a:solidFill>
              </a:rPr>
              <a:t> </a:t>
            </a:r>
            <a:r>
              <a:rPr lang="he-IL" altLang="en-US" dirty="0"/>
              <a:t>–</a:t>
            </a:r>
            <a:r>
              <a:rPr lang="he-IL" altLang="en-US" b="1" dirty="0">
                <a:solidFill>
                  <a:srgbClr val="0000FF"/>
                </a:solidFill>
              </a:rPr>
              <a:t> </a:t>
            </a:r>
            <a:r>
              <a:rPr lang="he-IL" altLang="en-US" dirty="0"/>
              <a:t>יפורט בשקופיות הבאות) – יוחזר מיד ה-</a:t>
            </a:r>
            <a:r>
              <a:rPr lang="en-US" altLang="en-US" dirty="0" err="1"/>
              <a:t>pid</a:t>
            </a:r>
            <a:r>
              <a:rPr lang="he-IL" altLang="en-US" dirty="0"/>
              <a:t> של אחד הבנים הנ"ל.</a:t>
            </a:r>
          </a:p>
          <a:p>
            <a:pPr lvl="1"/>
            <a:r>
              <a:rPr lang="he-IL" altLang="en-US" dirty="0"/>
              <a:t>אחרת – </a:t>
            </a:r>
            <a:r>
              <a:rPr lang="he-IL" altLang="en-US" b="1" dirty="0"/>
              <a:t>המתנה</a:t>
            </a:r>
            <a:r>
              <a:rPr lang="he-IL" altLang="en-US" b="1" dirty="0">
                <a:solidFill>
                  <a:srgbClr val="0000FF"/>
                </a:solidFill>
              </a:rPr>
              <a:t> </a:t>
            </a:r>
            <a:r>
              <a:rPr lang="he-IL" altLang="en-US" dirty="0"/>
              <a:t>עד שבן כלשהו יסיים.</a:t>
            </a:r>
          </a:p>
        </p:txBody>
      </p:sp>
      <p:sp>
        <p:nvSpPr>
          <p:cNvPr id="5" name="Slide Number Placeholder 4"/>
          <p:cNvSpPr>
            <a:spLocks noGrp="1"/>
          </p:cNvSpPr>
          <p:nvPr>
            <p:ph type="sldNum" sz="quarter" idx="12"/>
          </p:nvPr>
        </p:nvSpPr>
        <p:spPr/>
        <p:txBody>
          <a:bodyPr/>
          <a:lstStyle/>
          <a:p>
            <a:fld id="{0CFEC368-1D7A-4F81-ABF6-AE0E36BAF64C}" type="slidenum">
              <a:rPr lang="en-US" smtClean="0"/>
              <a:pPr/>
              <a:t>11</a:t>
            </a:fld>
            <a:endParaRPr lang="en-US"/>
          </a:p>
        </p:txBody>
      </p:sp>
      <p:sp>
        <p:nvSpPr>
          <p:cNvPr id="7" name="Rounded Rectangular Callout 6">
            <a:extLst>
              <a:ext uri="{FF2B5EF4-FFF2-40B4-BE49-F238E27FC236}">
                <a16:creationId xmlns:a16="http://schemas.microsoft.com/office/drawing/2014/main" id="{2632B9DA-AA06-4527-B64E-5CA430ABF4D9}"/>
              </a:ext>
            </a:extLst>
          </p:cNvPr>
          <p:cNvSpPr/>
          <p:nvPr/>
        </p:nvSpPr>
        <p:spPr>
          <a:xfrm>
            <a:off x="251460" y="6043205"/>
            <a:ext cx="2775858" cy="696686"/>
          </a:xfrm>
          <a:prstGeom prst="wedgeRoundRectCallout">
            <a:avLst>
              <a:gd name="adj1" fmla="val 84933"/>
              <a:gd name="adj2" fmla="val -4473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r" rtl="1"/>
            <a:r>
              <a:rPr lang="he-IL" altLang="en-US" sz="2000" dirty="0"/>
              <a:t>איך תהליך אב יכול לחכות לסיום כל תהליכי הבן?</a:t>
            </a:r>
          </a:p>
        </p:txBody>
      </p:sp>
      <p:sp>
        <p:nvSpPr>
          <p:cNvPr id="8" name="Rounded Rectangular Callout 7">
            <a:extLst>
              <a:ext uri="{FF2B5EF4-FFF2-40B4-BE49-F238E27FC236}">
                <a16:creationId xmlns:a16="http://schemas.microsoft.com/office/drawing/2014/main" id="{2632B9DA-AA06-4527-B64E-5CA430ABF4D9}"/>
              </a:ext>
            </a:extLst>
          </p:cNvPr>
          <p:cNvSpPr/>
          <p:nvPr/>
        </p:nvSpPr>
        <p:spPr>
          <a:xfrm>
            <a:off x="251460" y="4562648"/>
            <a:ext cx="2351314" cy="445151"/>
          </a:xfrm>
          <a:prstGeom prst="wedgeRoundRectCallout">
            <a:avLst>
              <a:gd name="adj1" fmla="val -10420"/>
              <a:gd name="adj2" fmla="val -11831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r>
              <a:rPr lang="he-IL" sz="2000" dirty="0"/>
              <a:t>מבינים את החישוב?</a:t>
            </a:r>
            <a:endParaRPr lang="en-US" sz="2000" dirty="0"/>
          </a:p>
        </p:txBody>
      </p:sp>
    </p:spTree>
    <p:extLst>
      <p:ext uri="{BB962C8B-B14F-4D97-AF65-F5344CB8AC3E}">
        <p14:creationId xmlns:p14="http://schemas.microsoft.com/office/powerpoint/2010/main" val="3235715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he-IL" altLang="en-US" dirty="0"/>
              <a:t>הדפסה מתואמת למסך</a:t>
            </a:r>
            <a:endParaRPr lang="en-US" altLang="en-US" dirty="0"/>
          </a:p>
        </p:txBody>
      </p:sp>
      <p:sp>
        <p:nvSpPr>
          <p:cNvPr id="2" name="Content Placeholder 1">
            <a:extLst>
              <a:ext uri="{FF2B5EF4-FFF2-40B4-BE49-F238E27FC236}">
                <a16:creationId xmlns:a16="http://schemas.microsoft.com/office/drawing/2014/main" id="{1FF9341B-5AAA-4E27-8953-BA86C843D925}"/>
              </a:ext>
            </a:extLst>
          </p:cNvPr>
          <p:cNvSpPr>
            <a:spLocks noGrp="1"/>
          </p:cNvSpPr>
          <p:nvPr>
            <p:ph idx="1"/>
          </p:nvPr>
        </p:nvSpPr>
        <p:spPr/>
        <p:txBody>
          <a:bodyPr>
            <a:normAutofit/>
          </a:bodyPr>
          <a:lstStyle/>
          <a:p>
            <a:r>
              <a:rPr lang="he-IL" altLang="en-US" dirty="0"/>
              <a:t>שימוש ב-</a:t>
            </a:r>
            <a:r>
              <a:rPr lang="en-US" altLang="en-US" dirty="0"/>
              <a:t>wait()</a:t>
            </a:r>
            <a:r>
              <a:rPr lang="he-IL" altLang="en-US" dirty="0"/>
              <a:t> יכול לפתור את הבעיה שראינו קודם כאשר מדפיסים למסך במקביל משני תהליכים:</a:t>
            </a:r>
            <a:endParaRPr lang="en-US" dirty="0">
              <a:latin typeface="Courier New" panose="02070309020205020404" pitchFamily="49" charset="0"/>
              <a:cs typeface="Courier New" panose="02070309020205020404" pitchFamily="49" charset="0"/>
            </a:endParaRPr>
          </a:p>
          <a:p>
            <a:pPr marL="0" indent="0" algn="l" rtl="0">
              <a:buNone/>
            </a:pPr>
            <a:r>
              <a:rPr lang="en-US" altLang="en-US" dirty="0">
                <a:latin typeface="Courier New" panose="02070309020205020404" pitchFamily="49" charset="0"/>
                <a:cs typeface="Courier New" panose="02070309020205020404" pitchFamily="49" charset="0"/>
              </a:rPr>
              <a:t>int main() {</a:t>
            </a:r>
          </a:p>
          <a:p>
            <a:pPr marL="0" indent="0" algn="l" rtl="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pid_t</a:t>
            </a:r>
            <a:r>
              <a:rPr lang="en-US" dirty="0">
                <a:latin typeface="Courier New" panose="02070309020205020404" pitchFamily="49" charset="0"/>
                <a:cs typeface="Courier New" panose="02070309020205020404" pitchFamily="49" charset="0"/>
              </a:rPr>
              <a:t> p = fork();</a:t>
            </a:r>
          </a:p>
          <a:p>
            <a:pPr marL="0" indent="0" algn="l" rtl="0">
              <a:buNone/>
            </a:pPr>
            <a:r>
              <a:rPr lang="en-US" dirty="0">
                <a:latin typeface="Courier New" panose="02070309020205020404" pitchFamily="49" charset="0"/>
                <a:cs typeface="Courier New" panose="02070309020205020404" pitchFamily="49" charset="0"/>
              </a:rPr>
              <a:t>	if (p &gt; 0) {</a:t>
            </a:r>
          </a:p>
          <a:p>
            <a:pPr marL="0" indent="0" algn="l" rtl="0">
              <a:buNone/>
            </a:pPr>
            <a:r>
              <a:rPr lang="en-US" dirty="0">
                <a:latin typeface="Courier New" panose="02070309020205020404" pitchFamily="49" charset="0"/>
                <a:cs typeface="Courier New" panose="02070309020205020404" pitchFamily="49" charset="0"/>
              </a:rPr>
              <a:t>		// parent waits for child</a:t>
            </a:r>
          </a:p>
          <a:p>
            <a:pPr marL="0" indent="0" algn="l" rtl="0">
              <a:buNone/>
            </a:pP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wait(NULL);</a:t>
            </a:r>
          </a:p>
          <a:p>
            <a:pPr marL="0" indent="0" algn="l" rtl="0">
              <a:buNone/>
            </a:pPr>
            <a:r>
              <a:rPr lang="en-US" dirty="0">
                <a:latin typeface="Courier New" panose="02070309020205020404" pitchFamily="49" charset="0"/>
                <a:cs typeface="Courier New" panose="02070309020205020404" pitchFamily="49" charset="0"/>
              </a:rPr>
              <a:t>	}</a:t>
            </a:r>
          </a:p>
          <a:p>
            <a:pPr marL="0" indent="0" algn="l" rtl="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printf</a:t>
            </a:r>
            <a:r>
              <a:rPr lang="en-US" dirty="0">
                <a:latin typeface="Courier New" panose="02070309020205020404" pitchFamily="49" charset="0"/>
                <a:cs typeface="Courier New" panose="02070309020205020404" pitchFamily="49" charset="0"/>
              </a:rPr>
              <a:t>(“</a:t>
            </a:r>
            <a:r>
              <a:rPr lang="en-US" altLang="en-US" dirty="0">
                <a:latin typeface="Courier New" panose="02070309020205020404" pitchFamily="49" charset="0"/>
                <a:cs typeface="Courier New" panose="02070309020205020404" pitchFamily="49" charset="0"/>
              </a:rPr>
              <a:t>hello</a:t>
            </a:r>
            <a:r>
              <a:rPr lang="en-US" dirty="0">
                <a:latin typeface="Courier New" panose="02070309020205020404" pitchFamily="49" charset="0"/>
                <a:cs typeface="Courier New" panose="02070309020205020404" pitchFamily="49" charset="0"/>
              </a:rPr>
              <a:t>”);</a:t>
            </a:r>
          </a:p>
          <a:p>
            <a:pPr marL="0" indent="0" algn="l" rtl="0">
              <a:buNone/>
            </a:pPr>
            <a:r>
              <a:rPr lang="en-US" dirty="0">
                <a:latin typeface="Courier New" panose="02070309020205020404" pitchFamily="49" charset="0"/>
                <a:cs typeface="Courier New" panose="02070309020205020404" pitchFamily="49" charset="0"/>
              </a:rPr>
              <a:t>	return 0;</a:t>
            </a:r>
          </a:p>
          <a:p>
            <a:pPr marL="0" indent="0" algn="l" rtl="0">
              <a:buNone/>
            </a:pPr>
            <a:r>
              <a:rPr lang="en-US" dirty="0">
                <a:latin typeface="Courier New" panose="02070309020205020404" pitchFamily="49" charset="0"/>
                <a:cs typeface="Courier New" panose="02070309020205020404" pitchFamily="49" charset="0"/>
              </a:rPr>
              <a:t>}</a:t>
            </a:r>
          </a:p>
        </p:txBody>
      </p:sp>
      <p:sp>
        <p:nvSpPr>
          <p:cNvPr id="5" name="Slide Number Placeholder 4"/>
          <p:cNvSpPr>
            <a:spLocks noGrp="1"/>
          </p:cNvSpPr>
          <p:nvPr>
            <p:ph type="sldNum" sz="quarter" idx="12"/>
          </p:nvPr>
        </p:nvSpPr>
        <p:spPr/>
        <p:txBody>
          <a:bodyPr/>
          <a:lstStyle/>
          <a:p>
            <a:fld id="{0CFEC368-1D7A-4F81-ABF6-AE0E36BAF64C}" type="slidenum">
              <a:rPr lang="en-US" smtClean="0"/>
              <a:pPr/>
              <a:t>12</a:t>
            </a:fld>
            <a:endParaRPr lang="en-US"/>
          </a:p>
        </p:txBody>
      </p:sp>
    </p:spTree>
    <p:extLst>
      <p:ext uri="{BB962C8B-B14F-4D97-AF65-F5344CB8AC3E}">
        <p14:creationId xmlns:p14="http://schemas.microsoft.com/office/powerpoint/2010/main" val="3879253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he-IL" altLang="en-US"/>
              <a:t>קריאת המערכת </a:t>
            </a:r>
            <a:r>
              <a:rPr lang="en-US" altLang="en-US"/>
              <a:t>exit()</a:t>
            </a:r>
            <a:endParaRPr lang="he-IL" altLang="en-US"/>
          </a:p>
        </p:txBody>
      </p:sp>
      <p:sp>
        <p:nvSpPr>
          <p:cNvPr id="33796" name="Rectangle 3"/>
          <p:cNvSpPr>
            <a:spLocks noGrp="1" noChangeArrowheads="1"/>
          </p:cNvSpPr>
          <p:nvPr>
            <p:ph idx="1"/>
          </p:nvPr>
        </p:nvSpPr>
        <p:spPr/>
        <p:txBody>
          <a:bodyPr/>
          <a:lstStyle/>
          <a:p>
            <a:pPr marL="0" indent="0" algn="l" rtl="0">
              <a:buNone/>
            </a:pPr>
            <a:r>
              <a:rPr lang="en-US" altLang="en-US" dirty="0">
                <a:latin typeface="Courier New" panose="02070309020205020404" pitchFamily="49" charset="0"/>
                <a:cs typeface="Courier New" panose="02070309020205020404" pitchFamily="49" charset="0"/>
              </a:rPr>
              <a:t>void </a:t>
            </a:r>
            <a:r>
              <a:rPr lang="en-US" altLang="en-US" b="1" dirty="0">
                <a:latin typeface="Courier New" panose="02070309020205020404" pitchFamily="49" charset="0"/>
                <a:cs typeface="Courier New" panose="02070309020205020404" pitchFamily="49" charset="0"/>
              </a:rPr>
              <a:t>exit</a:t>
            </a:r>
            <a:r>
              <a:rPr lang="en-US" altLang="en-US" dirty="0">
                <a:latin typeface="Courier New" panose="02070309020205020404" pitchFamily="49" charset="0"/>
                <a:cs typeface="Courier New" panose="02070309020205020404" pitchFamily="49" charset="0"/>
              </a:rPr>
              <a:t>(int status);</a:t>
            </a:r>
          </a:p>
          <a:p>
            <a:endParaRPr lang="he-IL" altLang="en-US" dirty="0"/>
          </a:p>
          <a:p>
            <a:r>
              <a:rPr lang="he-IL" altLang="en-US" u="sng" dirty="0"/>
              <a:t>פעולה:</a:t>
            </a:r>
            <a:r>
              <a:rPr lang="he-IL" altLang="en-US" dirty="0"/>
              <a:t> מסיימת את ביצוע התהליך הקורא ומשחררת את כל המשאבים שברשותו. התהליך עובר למצב </a:t>
            </a:r>
            <a:r>
              <a:rPr lang="en-US" altLang="en-US" b="1" dirty="0">
                <a:solidFill>
                  <a:srgbClr val="0000FF"/>
                </a:solidFill>
              </a:rPr>
              <a:t>zombie</a:t>
            </a:r>
            <a:r>
              <a:rPr lang="he-IL" altLang="en-US" dirty="0"/>
              <a:t> עד שתהליך האב יבקש לבדוק את סיומו ואז יפונה לחלוטין.</a:t>
            </a:r>
            <a:endParaRPr lang="en-US" altLang="en-US" dirty="0"/>
          </a:p>
          <a:p>
            <a:endParaRPr lang="he-IL" altLang="en-US" b="1" u="sng" dirty="0"/>
          </a:p>
          <a:p>
            <a:r>
              <a:rPr lang="he-IL" altLang="en-US" u="sng" dirty="0"/>
              <a:t>פרמטרים:</a:t>
            </a:r>
            <a:r>
              <a:rPr lang="he-IL" altLang="en-US" dirty="0"/>
              <a:t> </a:t>
            </a:r>
          </a:p>
          <a:p>
            <a:pPr lvl="1"/>
            <a:r>
              <a:rPr lang="en-US" altLang="en-US" dirty="0"/>
              <a:t>status</a:t>
            </a:r>
            <a:r>
              <a:rPr lang="he-IL" altLang="en-US" dirty="0"/>
              <a:t> – ערך סיום המוחזר לאב אם יבדוק את סיום התהליך.</a:t>
            </a:r>
          </a:p>
          <a:p>
            <a:pPr lvl="1"/>
            <a:r>
              <a:rPr lang="he-IL" altLang="en-US" dirty="0"/>
              <a:t>בפועל ניתן להעביר להורה רק 8 ביטים בתור ערך סיום, ולכן קריאת המערכת תעביר (</a:t>
            </a:r>
            <a:r>
              <a:rPr lang="en-US" altLang="en-US" dirty="0"/>
              <a:t>status &amp; 0xff</a:t>
            </a:r>
            <a:r>
              <a:rPr lang="he-IL" altLang="en-US" dirty="0"/>
              <a:t>).</a:t>
            </a:r>
          </a:p>
          <a:p>
            <a:r>
              <a:rPr lang="he-IL" altLang="en-US" u="sng" dirty="0"/>
              <a:t>ערך מוחזר:</a:t>
            </a:r>
            <a:r>
              <a:rPr lang="he-IL" altLang="en-US" dirty="0"/>
              <a:t> הקריאה אינה חוזרת.</a:t>
            </a:r>
          </a:p>
          <a:p>
            <a:pPr lvl="1"/>
            <a:r>
              <a:rPr lang="he-IL" altLang="en-US" dirty="0"/>
              <a:t>לפי ה-</a:t>
            </a:r>
            <a:r>
              <a:rPr lang="en-US" altLang="en-US" dirty="0"/>
              <a:t>man</a:t>
            </a:r>
            <a:r>
              <a:rPr lang="he-IL" altLang="en-US" dirty="0"/>
              <a:t>, קריאת המערכת </a:t>
            </a:r>
            <a:r>
              <a:rPr lang="en-US" altLang="en-US" dirty="0"/>
              <a:t>exit</a:t>
            </a:r>
            <a:r>
              <a:rPr lang="he-IL" altLang="en-US" dirty="0"/>
              <a:t> </a:t>
            </a:r>
            <a:r>
              <a:rPr lang="he-IL" altLang="en-US" b="1" u="sng" dirty="0"/>
              <a:t>לא יכולה</a:t>
            </a:r>
            <a:r>
              <a:rPr lang="he-IL" altLang="en-US" b="1" dirty="0"/>
              <a:t> </a:t>
            </a:r>
            <a:r>
              <a:rPr lang="he-IL" altLang="en-US" dirty="0"/>
              <a:t>להיכשל.</a:t>
            </a:r>
          </a:p>
        </p:txBody>
      </p:sp>
      <p:sp>
        <p:nvSpPr>
          <p:cNvPr id="5" name="Slide Number Placeholder 4"/>
          <p:cNvSpPr>
            <a:spLocks noGrp="1"/>
          </p:cNvSpPr>
          <p:nvPr>
            <p:ph type="sldNum" sz="quarter" idx="12"/>
          </p:nvPr>
        </p:nvSpPr>
        <p:spPr/>
        <p:txBody>
          <a:bodyPr/>
          <a:lstStyle/>
          <a:p>
            <a:fld id="{0CFEC368-1D7A-4F81-ABF6-AE0E36BAF64C}" type="slidenum">
              <a:rPr lang="en-US" smtClean="0"/>
              <a:pPr/>
              <a:t>13</a:t>
            </a:fld>
            <a:endParaRPr lang="en-US"/>
          </a:p>
        </p:txBody>
      </p:sp>
      <p:sp>
        <p:nvSpPr>
          <p:cNvPr id="6" name="Rounded Rectangular Callout 7">
            <a:extLst>
              <a:ext uri="{FF2B5EF4-FFF2-40B4-BE49-F238E27FC236}">
                <a16:creationId xmlns:a16="http://schemas.microsoft.com/office/drawing/2014/main" id="{18E944E5-951B-4F22-A896-23BF9D8E462D}"/>
              </a:ext>
            </a:extLst>
          </p:cNvPr>
          <p:cNvSpPr/>
          <p:nvPr/>
        </p:nvSpPr>
        <p:spPr>
          <a:xfrm>
            <a:off x="457200" y="3714600"/>
            <a:ext cx="1908000" cy="648000"/>
          </a:xfrm>
          <a:prstGeom prst="wedgeRoundRectCallout">
            <a:avLst>
              <a:gd name="adj1" fmla="val 87825"/>
              <a:gd name="adj2" fmla="val -10949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r" rtl="1"/>
            <a:r>
              <a:rPr lang="he-IL" altLang="en-US" sz="2000" dirty="0"/>
              <a:t>מה המטרה של מצב זה?</a:t>
            </a:r>
            <a:endParaRPr lang="he-IL" altLang="en-US" sz="2000" b="1" u="sng" dirty="0"/>
          </a:p>
        </p:txBody>
      </p:sp>
    </p:spTree>
    <p:extLst>
      <p:ext uri="{BB962C8B-B14F-4D97-AF65-F5344CB8AC3E}">
        <p14:creationId xmlns:p14="http://schemas.microsoft.com/office/powerpoint/2010/main" val="1873322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he-IL" altLang="en-US"/>
              <a:t>קריאת המערכת </a:t>
            </a:r>
            <a:r>
              <a:rPr lang="en-US" altLang="en-US"/>
              <a:t>exit()</a:t>
            </a:r>
          </a:p>
        </p:txBody>
      </p:sp>
      <p:sp>
        <p:nvSpPr>
          <p:cNvPr id="33796" name="Rectangle 3"/>
          <p:cNvSpPr>
            <a:spLocks noGrp="1" noChangeArrowheads="1"/>
          </p:cNvSpPr>
          <p:nvPr>
            <p:ph idx="1"/>
          </p:nvPr>
        </p:nvSpPr>
        <p:spPr/>
        <p:txBody>
          <a:bodyPr>
            <a:normAutofit fontScale="92500" lnSpcReduction="20000"/>
          </a:bodyPr>
          <a:lstStyle/>
          <a:p>
            <a:pPr eaLnBrk="1" hangingPunct="1"/>
            <a:r>
              <a:rPr lang="he-IL" altLang="en-US" sz="2800" u="sng" dirty="0"/>
              <a:t>שאלה:</a:t>
            </a:r>
            <a:r>
              <a:rPr lang="he-IL" altLang="en-US" sz="2800" dirty="0"/>
              <a:t> למה בכלל לקרוא ל-</a:t>
            </a:r>
            <a:r>
              <a:rPr lang="en-US" altLang="en-US" sz="2800" dirty="0"/>
              <a:t>exit(status)</a:t>
            </a:r>
            <a:r>
              <a:rPr lang="he-IL" altLang="en-US" sz="2800" dirty="0"/>
              <a:t> , אם אפשר פשוט לרשום </a:t>
            </a:r>
            <a:r>
              <a:rPr lang="en-US" altLang="en-US" sz="2800" dirty="0"/>
              <a:t>return status</a:t>
            </a:r>
            <a:r>
              <a:rPr lang="he-IL" altLang="en-US" sz="2800" dirty="0"/>
              <a:t> בסוף פונקציית ה-</a:t>
            </a:r>
            <a:r>
              <a:rPr lang="en-US" altLang="en-US" sz="2800" dirty="0"/>
              <a:t>main</a:t>
            </a:r>
            <a:r>
              <a:rPr lang="he-IL" altLang="en-US" sz="2800" dirty="0"/>
              <a:t>?</a:t>
            </a:r>
          </a:p>
          <a:p>
            <a:pPr eaLnBrk="1" hangingPunct="1"/>
            <a:r>
              <a:rPr lang="he-IL" altLang="en-US" sz="2800" u="sng" dirty="0"/>
              <a:t>תשובה:</a:t>
            </a:r>
            <a:r>
              <a:rPr lang="he-IL" altLang="en-US" sz="2800" dirty="0"/>
              <a:t> </a:t>
            </a:r>
            <a:r>
              <a:rPr lang="en-US" altLang="en-US" sz="2800" dirty="0"/>
              <a:t>main</a:t>
            </a:r>
            <a:r>
              <a:rPr lang="he-IL" altLang="en-US" sz="2800" dirty="0"/>
              <a:t> היא לא באמת הפונקציה הראשית של </a:t>
            </a:r>
            <a:r>
              <a:rPr lang="he-IL" altLang="en-US" sz="2800" dirty="0" err="1"/>
              <a:t>התכנית</a:t>
            </a:r>
            <a:r>
              <a:rPr lang="he-IL" altLang="en-US" sz="2800" dirty="0"/>
              <a:t>...</a:t>
            </a:r>
          </a:p>
          <a:p>
            <a:pPr lvl="1" eaLnBrk="1" hangingPunct="1"/>
            <a:r>
              <a:rPr lang="en-US" altLang="en-US" sz="2400" dirty="0"/>
              <a:t>main()</a:t>
            </a:r>
            <a:r>
              <a:rPr lang="he-IL" altLang="en-US" sz="2400" dirty="0"/>
              <a:t> נקראת ע"י </a:t>
            </a:r>
            <a:r>
              <a:rPr lang="en-US" altLang="en-US" sz="2400" dirty="0"/>
              <a:t>__</a:t>
            </a:r>
            <a:r>
              <a:rPr lang="en-US" altLang="en-US" sz="2400" dirty="0" err="1"/>
              <a:t>libc_start_main</a:t>
            </a:r>
            <a:r>
              <a:rPr lang="en-US" altLang="en-US" sz="2400" dirty="0"/>
              <a:t>()</a:t>
            </a:r>
            <a:r>
              <a:rPr lang="he-IL" altLang="en-US" sz="2400" dirty="0"/>
              <a:t> שאוספת את ערך החזרה של </a:t>
            </a:r>
            <a:r>
              <a:rPr lang="en-US" altLang="en-US" sz="2400" dirty="0"/>
              <a:t>main()</a:t>
            </a:r>
            <a:r>
              <a:rPr lang="he-IL" altLang="en-US" sz="2400" dirty="0"/>
              <a:t> וקוראת ל-</a:t>
            </a:r>
            <a:r>
              <a:rPr lang="en-US" altLang="en-US" sz="2400" dirty="0"/>
              <a:t>exit()</a:t>
            </a:r>
            <a:r>
              <a:rPr lang="he-IL" altLang="en-US" sz="2400" dirty="0"/>
              <a:t>.</a:t>
            </a:r>
            <a:endParaRPr lang="en-US" altLang="en-US" sz="2400" dirty="0"/>
          </a:p>
          <a:p>
            <a:pPr marL="457200" lvl="1" indent="0" algn="l" rtl="0" eaLnBrk="1" hangingPunct="1">
              <a:buNone/>
            </a:pPr>
            <a:r>
              <a:rPr lang="en-US" altLang="en-US" sz="2400" dirty="0">
                <a:latin typeface="Courier New" panose="02070309020205020404" pitchFamily="49" charset="0"/>
                <a:cs typeface="Courier New" panose="02070309020205020404" pitchFamily="49" charset="0"/>
              </a:rPr>
              <a:t>int __</a:t>
            </a:r>
            <a:r>
              <a:rPr lang="en-US" altLang="en-US" sz="2400" dirty="0" err="1">
                <a:latin typeface="Courier New" panose="02070309020205020404" pitchFamily="49" charset="0"/>
                <a:cs typeface="Courier New" panose="02070309020205020404" pitchFamily="49" charset="0"/>
              </a:rPr>
              <a:t>libc_start_main</a:t>
            </a:r>
            <a:r>
              <a:rPr lang="en-US" altLang="en-US" sz="2400" dirty="0">
                <a:latin typeface="Courier New" panose="02070309020205020404" pitchFamily="49" charset="0"/>
                <a:cs typeface="Courier New" panose="02070309020205020404" pitchFamily="49" charset="0"/>
              </a:rPr>
              <a:t>(…) {</a:t>
            </a:r>
          </a:p>
          <a:p>
            <a:pPr marL="457200" lvl="1" indent="0" algn="l" rtl="0" eaLnBrk="1" hangingPunct="1">
              <a:buNone/>
            </a:pPr>
            <a:r>
              <a:rPr lang="en-US" altLang="en-US" sz="2400" dirty="0">
                <a:latin typeface="Courier New" panose="02070309020205020404" pitchFamily="49" charset="0"/>
                <a:cs typeface="Courier New" panose="02070309020205020404" pitchFamily="49" charset="0"/>
              </a:rPr>
              <a:t>	……</a:t>
            </a:r>
          </a:p>
          <a:p>
            <a:pPr marL="457200" lvl="1" indent="0" algn="l" rtl="0" eaLnBrk="1" hangingPunct="1">
              <a:buNone/>
            </a:pPr>
            <a:r>
              <a:rPr lang="en-US" altLang="en-US" sz="2400" dirty="0">
                <a:latin typeface="Courier New" panose="02070309020205020404" pitchFamily="49" charset="0"/>
                <a:cs typeface="Courier New" panose="02070309020205020404" pitchFamily="49" charset="0"/>
              </a:rPr>
              <a:t>	exit(main(…));</a:t>
            </a:r>
          </a:p>
          <a:p>
            <a:pPr marL="457200" lvl="1" indent="0" algn="l" rtl="0" eaLnBrk="1" hangingPunct="1">
              <a:buNone/>
            </a:pPr>
            <a:r>
              <a:rPr lang="en-US" altLang="en-US" sz="2400" dirty="0">
                <a:latin typeface="Courier New" panose="02070309020205020404" pitchFamily="49" charset="0"/>
                <a:cs typeface="Courier New" panose="02070309020205020404" pitchFamily="49" charset="0"/>
              </a:rPr>
              <a:t>}</a:t>
            </a:r>
            <a:endParaRPr lang="he-IL" altLang="en-US" sz="2400" dirty="0">
              <a:latin typeface="Courier New" panose="02070309020205020404" pitchFamily="49" charset="0"/>
              <a:cs typeface="Courier New" panose="02070309020205020404" pitchFamily="49" charset="0"/>
            </a:endParaRPr>
          </a:p>
          <a:p>
            <a:endParaRPr lang="he-IL" altLang="en-US" sz="2800" dirty="0"/>
          </a:p>
          <a:p>
            <a:r>
              <a:rPr lang="he-IL" altLang="en-US" sz="2800" u="sng" dirty="0"/>
              <a:t>מסקנה:</a:t>
            </a:r>
            <a:r>
              <a:rPr lang="he-IL" altLang="en-US" sz="2800" dirty="0"/>
              <a:t> הפונקציה </a:t>
            </a:r>
            <a:r>
              <a:rPr lang="en-US" altLang="en-US" sz="2800" dirty="0"/>
              <a:t>exit</a:t>
            </a:r>
            <a:r>
              <a:rPr lang="he-IL" altLang="en-US" sz="2800" dirty="0"/>
              <a:t> תמיד נקראת לסיום סטנדרטי של התוכנית</a:t>
            </a:r>
            <a:r>
              <a:rPr lang="he-IL" altLang="en-US" dirty="0">
                <a:latin typeface="Courier New" panose="02070309020205020404" pitchFamily="49" charset="0"/>
                <a:cs typeface="Courier New" panose="02070309020205020404" pitchFamily="49" charset="0"/>
              </a:rPr>
              <a:t>.</a:t>
            </a:r>
            <a:endParaRPr lang="en-US" altLang="en-US" sz="2800" dirty="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2"/>
          </p:nvPr>
        </p:nvSpPr>
        <p:spPr/>
        <p:txBody>
          <a:bodyPr/>
          <a:lstStyle/>
          <a:p>
            <a:fld id="{0CFEC368-1D7A-4F81-ABF6-AE0E36BAF64C}" type="slidenum">
              <a:rPr lang="en-US" smtClean="0"/>
              <a:pPr/>
              <a:t>14</a:t>
            </a:fld>
            <a:endParaRPr lang="en-US"/>
          </a:p>
        </p:txBody>
      </p:sp>
      <p:pic>
        <p:nvPicPr>
          <p:cNvPr id="2" name="תמונה 1">
            <a:extLst>
              <a:ext uri="{FF2B5EF4-FFF2-40B4-BE49-F238E27FC236}">
                <a16:creationId xmlns:a16="http://schemas.microsoft.com/office/drawing/2014/main" id="{2A69205F-32CE-1FB4-E9F0-31CA7D1F44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924" y="533400"/>
            <a:ext cx="779099" cy="679744"/>
          </a:xfrm>
          <a:prstGeom prst="rect">
            <a:avLst/>
          </a:prstGeom>
        </p:spPr>
      </p:pic>
    </p:spTree>
    <p:extLst>
      <p:ext uri="{BB962C8B-B14F-4D97-AF65-F5344CB8AC3E}">
        <p14:creationId xmlns:p14="http://schemas.microsoft.com/office/powerpoint/2010/main" val="1878590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15059"/>
            <a:ext cx="7886700" cy="4274914"/>
          </a:xfrm>
        </p:spPr>
        <p:txBody>
          <a:bodyPr>
            <a:normAutofit/>
          </a:bodyPr>
          <a:lstStyle/>
          <a:p>
            <a:pPr marL="0" indent="0">
              <a:buNone/>
            </a:pPr>
            <a:r>
              <a:rPr lang="he-IL" u="sng" dirty="0"/>
              <a:t>גרסת ספריית </a:t>
            </a:r>
            <a:r>
              <a:rPr lang="en-US" u="sng" dirty="0"/>
              <a:t>:</a:t>
            </a:r>
            <a:r>
              <a:rPr lang="en-US" u="sng" dirty="0" err="1"/>
              <a:t>libc</a:t>
            </a:r>
            <a:endParaRPr lang="he-IL" u="sng" dirty="0"/>
          </a:p>
          <a:p>
            <a:pPr marL="0" indent="0">
              <a:buNone/>
            </a:pPr>
            <a:endParaRPr lang="he-IL" sz="600" u="sng" dirty="0"/>
          </a:p>
          <a:p>
            <a:r>
              <a:rPr lang="he-IL" dirty="0"/>
              <a:t>פונקציית ה- </a:t>
            </a:r>
            <a:r>
              <a:rPr lang="en-US" dirty="0"/>
              <a:t>main</a:t>
            </a:r>
            <a:r>
              <a:rPr lang="he-IL" dirty="0"/>
              <a:t> שאנו מממשים באפליקציה </a:t>
            </a:r>
            <a:r>
              <a:rPr lang="he-IL" u="sng" dirty="0"/>
              <a:t>אינה</a:t>
            </a:r>
            <a:r>
              <a:rPr lang="he-IL" dirty="0"/>
              <a:t> ה- </a:t>
            </a:r>
            <a:r>
              <a:rPr lang="en-US" dirty="0"/>
              <a:t>Entry point</a:t>
            </a:r>
            <a:r>
              <a:rPr lang="he-IL" dirty="0"/>
              <a:t> של התוצר הבינארי!</a:t>
            </a:r>
          </a:p>
          <a:p>
            <a:r>
              <a:rPr lang="he-IL" dirty="0"/>
              <a:t>ישנו קובץ תלוי ארכיטקטורה בספריית ה- </a:t>
            </a:r>
            <a:r>
              <a:rPr lang="en-US" dirty="0" err="1"/>
              <a:t>libc</a:t>
            </a:r>
            <a:r>
              <a:rPr lang="he-IL" dirty="0"/>
              <a:t> בשם </a:t>
            </a:r>
            <a:r>
              <a:rPr lang="en-US" dirty="0" err="1"/>
              <a:t>start.S</a:t>
            </a:r>
            <a:r>
              <a:rPr lang="he-IL" dirty="0"/>
              <a:t> אשר מכיל את ה- </a:t>
            </a:r>
            <a:r>
              <a:rPr lang="en-US" dirty="0"/>
              <a:t>Entry point</a:t>
            </a:r>
            <a:r>
              <a:rPr lang="he-IL" dirty="0"/>
              <a:t> לקובץ ההרצה.</a:t>
            </a:r>
          </a:p>
          <a:p>
            <a:r>
              <a:rPr lang="he-IL" dirty="0"/>
              <a:t>לרוב אנחנו </a:t>
            </a:r>
            <a:r>
              <a:rPr lang="he-IL" dirty="0" err="1"/>
              <a:t>מתלנקג'ים</a:t>
            </a:r>
            <a:r>
              <a:rPr lang="he-IL" dirty="0"/>
              <a:t> עם ספריית </a:t>
            </a:r>
            <a:r>
              <a:rPr lang="en-US" dirty="0" err="1"/>
              <a:t>libc</a:t>
            </a:r>
            <a:r>
              <a:rPr lang="he-IL" dirty="0"/>
              <a:t> באופן דינאמי ולכן חייבת להיות </a:t>
            </a:r>
            <a:r>
              <a:rPr lang="he-IL" u="sng" dirty="0"/>
              <a:t>התאמה בגרסה</a:t>
            </a:r>
            <a:r>
              <a:rPr lang="he-IL" dirty="0"/>
              <a:t> של </a:t>
            </a:r>
            <a:r>
              <a:rPr lang="he-IL" u="sng" dirty="0"/>
              <a:t>קבצי ה- </a:t>
            </a:r>
            <a:r>
              <a:rPr lang="en-US" u="sng" dirty="0"/>
              <a:t>h</a:t>
            </a:r>
            <a:r>
              <a:rPr lang="he-IL" u="sng" dirty="0"/>
              <a:t> של ה- </a:t>
            </a:r>
            <a:r>
              <a:rPr lang="en-US" u="sng" dirty="0" err="1"/>
              <a:t>libc</a:t>
            </a:r>
            <a:r>
              <a:rPr lang="he-IL" dirty="0"/>
              <a:t> אשר ב- </a:t>
            </a:r>
            <a:r>
              <a:rPr lang="en-US" dirty="0" err="1"/>
              <a:t>toolchain</a:t>
            </a:r>
            <a:r>
              <a:rPr lang="he-IL" dirty="0"/>
              <a:t> לבין </a:t>
            </a:r>
            <a:r>
              <a:rPr lang="he-IL" u="sng" dirty="0"/>
              <a:t>ספריית ה- </a:t>
            </a:r>
            <a:r>
              <a:rPr lang="en-US" u="sng" dirty="0" err="1"/>
              <a:t>libc</a:t>
            </a:r>
            <a:r>
              <a:rPr lang="he-IL" u="sng" dirty="0"/>
              <a:t> </a:t>
            </a:r>
            <a:r>
              <a:rPr lang="he-IL" dirty="0"/>
              <a:t>אשר ב- </a:t>
            </a:r>
            <a:r>
              <a:rPr lang="en-US" dirty="0"/>
              <a:t>Target</a:t>
            </a:r>
            <a:r>
              <a:rPr lang="he-IL" dirty="0"/>
              <a:t>.</a:t>
            </a:r>
          </a:p>
        </p:txBody>
      </p:sp>
      <p:sp>
        <p:nvSpPr>
          <p:cNvPr id="4" name="Footer Placeholder 3"/>
          <p:cNvSpPr>
            <a:spLocks noGrp="1"/>
          </p:cNvSpPr>
          <p:nvPr>
            <p:ph type="ftr" sz="quarter" idx="11"/>
          </p:nvPr>
        </p:nvSpPr>
        <p:spPr/>
        <p:txBody>
          <a:bodyPr/>
          <a:lstStyle/>
          <a:p>
            <a:r>
              <a:rPr lang="he-IL"/>
              <a:t>בלמ"ס</a:t>
            </a:r>
          </a:p>
        </p:txBody>
      </p:sp>
    </p:spTree>
    <p:extLst>
      <p:ext uri="{BB962C8B-B14F-4D97-AF65-F5344CB8AC3E}">
        <p14:creationId xmlns:p14="http://schemas.microsoft.com/office/powerpoint/2010/main" val="2535472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תמונה 9">
            <a:extLst>
              <a:ext uri="{FF2B5EF4-FFF2-40B4-BE49-F238E27FC236}">
                <a16:creationId xmlns:a16="http://schemas.microsoft.com/office/drawing/2014/main" id="{51F4FF10-BBDD-49F5-6A47-1FF516A57182}"/>
              </a:ext>
            </a:extLst>
          </p:cNvPr>
          <p:cNvPicPr>
            <a:picLocks noChangeAspect="1"/>
          </p:cNvPicPr>
          <p:nvPr/>
        </p:nvPicPr>
        <p:blipFill>
          <a:blip r:embed="rId3"/>
          <a:stretch>
            <a:fillRect/>
          </a:stretch>
        </p:blipFill>
        <p:spPr>
          <a:xfrm>
            <a:off x="0" y="814933"/>
            <a:ext cx="9144000" cy="5228134"/>
          </a:xfrm>
          <a:prstGeom prst="rect">
            <a:avLst/>
          </a:prstGeom>
        </p:spPr>
      </p:pic>
    </p:spTree>
    <p:extLst>
      <p:ext uri="{BB962C8B-B14F-4D97-AF65-F5344CB8AC3E}">
        <p14:creationId xmlns:p14="http://schemas.microsoft.com/office/powerpoint/2010/main" val="603063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he-IL" altLang="en-US"/>
              <a:t>קריאת המערכת </a:t>
            </a:r>
            <a:r>
              <a:rPr lang="en-US" altLang="en-US" err="1"/>
              <a:t>execv</a:t>
            </a:r>
            <a:r>
              <a:rPr lang="en-US" altLang="en-US"/>
              <a:t>()</a:t>
            </a:r>
            <a:endParaRPr lang="he-IL" altLang="en-US"/>
          </a:p>
        </p:txBody>
      </p:sp>
      <p:sp>
        <p:nvSpPr>
          <p:cNvPr id="30724" name="Rectangle 3"/>
          <p:cNvSpPr>
            <a:spLocks noGrp="1" noChangeArrowheads="1"/>
          </p:cNvSpPr>
          <p:nvPr>
            <p:ph idx="1"/>
          </p:nvPr>
        </p:nvSpPr>
        <p:spPr/>
        <p:txBody>
          <a:bodyPr vert="horz" lIns="91440" tIns="45720" rIns="91440" bIns="45720" rtlCol="0" anchor="t">
            <a:normAutofit lnSpcReduction="10000"/>
          </a:bodyPr>
          <a:lstStyle/>
          <a:p>
            <a:pPr marL="0" indent="0" algn="l" rtl="0">
              <a:buNone/>
            </a:pPr>
            <a:r>
              <a:rPr lang="en-US" altLang="en-US" dirty="0">
                <a:latin typeface="Courier New" panose="02070309020205020404" pitchFamily="49" charset="0"/>
                <a:cs typeface="Courier New" panose="02070309020205020404" pitchFamily="49" charset="0"/>
              </a:rPr>
              <a:t>int </a:t>
            </a:r>
            <a:r>
              <a:rPr lang="en-US" altLang="en-US" b="1" dirty="0" err="1">
                <a:latin typeface="Courier New" panose="02070309020205020404" pitchFamily="49" charset="0"/>
                <a:cs typeface="Courier New" panose="02070309020205020404" pitchFamily="49" charset="0"/>
              </a:rPr>
              <a:t>execv</a:t>
            </a:r>
            <a:r>
              <a:rPr lang="en-US" altLang="en-US" dirty="0">
                <a:latin typeface="Courier New" panose="02070309020205020404" pitchFamily="49" charset="0"/>
                <a:cs typeface="Courier New" panose="02070309020205020404" pitchFamily="49" charset="0"/>
              </a:rPr>
              <a:t>(const char *filename,</a:t>
            </a:r>
          </a:p>
          <a:p>
            <a:pPr marL="0" indent="0" algn="l" rtl="0">
              <a:buNone/>
            </a:pPr>
            <a:r>
              <a:rPr lang="en-US" altLang="en-US" dirty="0">
                <a:latin typeface="Courier New" panose="02070309020205020404" pitchFamily="49" charset="0"/>
                <a:cs typeface="Courier New" panose="02070309020205020404" pitchFamily="49" charset="0"/>
              </a:rPr>
              <a:t>	char *const </a:t>
            </a:r>
            <a:r>
              <a:rPr lang="en-US" altLang="en-US" dirty="0" err="1">
                <a:latin typeface="Courier New" panose="02070309020205020404" pitchFamily="49" charset="0"/>
                <a:cs typeface="Courier New" panose="02070309020205020404" pitchFamily="49" charset="0"/>
              </a:rPr>
              <a:t>argv</a:t>
            </a:r>
            <a:r>
              <a:rPr lang="en-US" altLang="en-US" dirty="0">
                <a:latin typeface="Courier New" panose="02070309020205020404" pitchFamily="49" charset="0"/>
                <a:cs typeface="Courier New" panose="02070309020205020404" pitchFamily="49" charset="0"/>
              </a:rPr>
              <a:t>[]);</a:t>
            </a:r>
          </a:p>
          <a:p>
            <a:endParaRPr lang="he-IL" altLang="en-US" dirty="0"/>
          </a:p>
          <a:p>
            <a:r>
              <a:rPr lang="he-IL" altLang="en-US" u="sng" dirty="0"/>
              <a:t>פעולה:</a:t>
            </a:r>
            <a:r>
              <a:rPr lang="he-IL" altLang="en-US" dirty="0"/>
              <a:t> טוענת תכנית חדשה לביצוע במקום התהליך הקורא.</a:t>
            </a:r>
            <a:endParaRPr lang="he-IL" altLang="en-US" dirty="0">
              <a:cs typeface="Arial"/>
            </a:endParaRPr>
          </a:p>
          <a:p>
            <a:r>
              <a:rPr lang="he-IL" altLang="en-US" u="sng" dirty="0"/>
              <a:t>פרמטרים:</a:t>
            </a:r>
            <a:r>
              <a:rPr lang="he-IL" altLang="en-US" dirty="0"/>
              <a:t> </a:t>
            </a:r>
            <a:endParaRPr lang="he-IL" altLang="en-US" dirty="0">
              <a:cs typeface="Arial"/>
            </a:endParaRPr>
          </a:p>
          <a:p>
            <a:pPr lvl="1"/>
            <a:r>
              <a:rPr lang="en-US" altLang="en-US" dirty="0"/>
              <a:t>filename</a:t>
            </a:r>
            <a:r>
              <a:rPr lang="he-IL" altLang="en-US" dirty="0"/>
              <a:t> – מסלול אל הקובץ המכיל את </a:t>
            </a:r>
            <a:r>
              <a:rPr lang="he-IL" altLang="en-US" dirty="0" err="1"/>
              <a:t>התכנית</a:t>
            </a:r>
            <a:r>
              <a:rPr lang="he-IL" altLang="en-US" dirty="0"/>
              <a:t> לטעינה</a:t>
            </a:r>
            <a:r>
              <a:rPr lang="he-IL" altLang="en-US" dirty="0">
                <a:cs typeface="Arial"/>
              </a:rPr>
              <a:t>.</a:t>
            </a:r>
          </a:p>
          <a:p>
            <a:pPr lvl="1"/>
            <a:r>
              <a:rPr lang="en-US" altLang="en-US" dirty="0" err="1"/>
              <a:t>argv</a:t>
            </a:r>
            <a:r>
              <a:rPr lang="he-IL" altLang="en-US" dirty="0"/>
              <a:t> – מערך מצביעים למחרוזות המכיל את הפרמטרים עבור </a:t>
            </a:r>
            <a:r>
              <a:rPr lang="he-IL" altLang="en-US" dirty="0" err="1"/>
              <a:t>התכנית</a:t>
            </a:r>
            <a:r>
              <a:rPr lang="he-IL" altLang="en-US" dirty="0"/>
              <a:t>. האיבר הראשון מקיים </a:t>
            </a:r>
            <a:r>
              <a:rPr lang="en-US" altLang="en-US" dirty="0" err="1"/>
              <a:t>argv</a:t>
            </a:r>
            <a:r>
              <a:rPr lang="en-US" altLang="en-US" dirty="0"/>
              <a:t>[0] == filename</a:t>
            </a:r>
            <a:r>
              <a:rPr lang="he-IL" altLang="en-US" dirty="0"/>
              <a:t>, דהיינו מכיל את שם קובץ </a:t>
            </a:r>
            <a:r>
              <a:rPr lang="he-IL" altLang="en-US" dirty="0" err="1"/>
              <a:t>התכנית</a:t>
            </a:r>
            <a:r>
              <a:rPr lang="he-IL" altLang="en-US" dirty="0"/>
              <a:t>. האיבר שאחרי הפרמטר האחרון מכיל </a:t>
            </a:r>
            <a:r>
              <a:rPr lang="en-US" altLang="en-US" dirty="0"/>
              <a:t>NULL</a:t>
            </a:r>
            <a:r>
              <a:rPr lang="he-IL" altLang="en-US" dirty="0"/>
              <a:t>.</a:t>
            </a:r>
          </a:p>
          <a:p>
            <a:r>
              <a:rPr lang="he-IL" altLang="en-US" u="sng" dirty="0"/>
              <a:t>ערך מוחזר: </a:t>
            </a:r>
          </a:p>
          <a:p>
            <a:pPr lvl="1"/>
            <a:r>
              <a:rPr lang="he-IL" altLang="en-US" dirty="0"/>
              <a:t>במקרה של כישלון: </a:t>
            </a:r>
            <a:r>
              <a:rPr lang="en-US" altLang="en-US" dirty="0"/>
              <a:t>-1</a:t>
            </a:r>
            <a:r>
              <a:rPr lang="he-IL" altLang="en-US" dirty="0"/>
              <a:t> .</a:t>
            </a:r>
            <a:endParaRPr lang="he-IL" altLang="en-US" dirty="0">
              <a:cs typeface="Arial"/>
            </a:endParaRPr>
          </a:p>
          <a:p>
            <a:pPr lvl="1"/>
            <a:r>
              <a:rPr lang="he-IL" altLang="en-US" dirty="0"/>
              <a:t>במקרה של הצלחה: הקריאה </a:t>
            </a:r>
            <a:r>
              <a:rPr lang="he-IL" altLang="en-US" b="1" dirty="0"/>
              <a:t>אינה חוזרת</a:t>
            </a:r>
            <a:r>
              <a:rPr lang="he-IL" altLang="en-US" dirty="0"/>
              <a:t>. </a:t>
            </a:r>
            <a:r>
              <a:rPr lang="he-IL" altLang="en-US" dirty="0" err="1"/>
              <a:t>איזורי</a:t>
            </a:r>
            <a:r>
              <a:rPr lang="he-IL" altLang="en-US" dirty="0"/>
              <a:t> הזיכרון (קוד, מחסנית, ...) של התהליך מאותחלים עבור </a:t>
            </a:r>
            <a:r>
              <a:rPr lang="he-IL" altLang="en-US" dirty="0" err="1"/>
              <a:t>התכנית</a:t>
            </a:r>
            <a:r>
              <a:rPr lang="he-IL" altLang="en-US" dirty="0"/>
              <a:t> החדשה שמתחילה להתבצע מההתחלה.</a:t>
            </a:r>
            <a:endParaRPr lang="en-US" alt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17</a:t>
            </a:fld>
            <a:endParaRPr lang="en-US"/>
          </a:p>
        </p:txBody>
      </p:sp>
      <p:sp>
        <p:nvSpPr>
          <p:cNvPr id="6" name="Rounded Rectangular Callout 5">
            <a:extLst>
              <a:ext uri="{FF2B5EF4-FFF2-40B4-BE49-F238E27FC236}">
                <a16:creationId xmlns:a16="http://schemas.microsoft.com/office/drawing/2014/main" id="{1FFC0445-64A0-4F7B-851F-F32BD5749F70}"/>
              </a:ext>
            </a:extLst>
          </p:cNvPr>
          <p:cNvSpPr/>
          <p:nvPr/>
        </p:nvSpPr>
        <p:spPr>
          <a:xfrm>
            <a:off x="450157" y="5035224"/>
            <a:ext cx="2351314" cy="445151"/>
          </a:xfrm>
          <a:prstGeom prst="wedgeRoundRectCallout">
            <a:avLst>
              <a:gd name="adj1" fmla="val 91215"/>
              <a:gd name="adj2" fmla="val -12083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r>
              <a:rPr lang="he-IL" sz="2000"/>
              <a:t>למה צריך </a:t>
            </a:r>
            <a:r>
              <a:rPr lang="en-US" sz="2000"/>
              <a:t>NULL</a:t>
            </a:r>
            <a:r>
              <a:rPr lang="he-IL" sz="2000"/>
              <a:t>?</a:t>
            </a:r>
            <a:endParaRPr lang="en-US" sz="2000"/>
          </a:p>
        </p:txBody>
      </p:sp>
    </p:spTree>
    <p:extLst>
      <p:ext uri="{BB962C8B-B14F-4D97-AF65-F5344CB8AC3E}">
        <p14:creationId xmlns:p14="http://schemas.microsoft.com/office/powerpoint/2010/main" val="1086014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he-IL" altLang="en-US"/>
              <a:t>קריאת המערכת </a:t>
            </a:r>
            <a:r>
              <a:rPr lang="en-US" altLang="en-US" err="1"/>
              <a:t>execv</a:t>
            </a:r>
            <a:r>
              <a:rPr lang="en-US" altLang="en-US"/>
              <a:t>()</a:t>
            </a:r>
          </a:p>
        </p:txBody>
      </p:sp>
      <p:sp>
        <p:nvSpPr>
          <p:cNvPr id="82947" name="Rectangle 3"/>
          <p:cNvSpPr>
            <a:spLocks noGrp="1" noChangeArrowheads="1"/>
          </p:cNvSpPr>
          <p:nvPr>
            <p:ph idx="1"/>
          </p:nvPr>
        </p:nvSpPr>
        <p:spPr/>
        <p:txBody>
          <a:bodyPr/>
          <a:lstStyle/>
          <a:p>
            <a:pPr eaLnBrk="1" hangingPunct="1">
              <a:lnSpc>
                <a:spcPct val="90000"/>
              </a:lnSpc>
            </a:pPr>
            <a:r>
              <a:rPr lang="he-IL" altLang="en-US" sz="2800"/>
              <a:t>מה ידפיס הקוד הבא?</a:t>
            </a:r>
          </a:p>
          <a:p>
            <a:pPr algn="l" rtl="0" eaLnBrk="1" hangingPunct="1">
              <a:lnSpc>
                <a:spcPct val="90000"/>
              </a:lnSpc>
              <a:buFont typeface="Wingdings" panose="05000000000000000000" pitchFamily="2" charset="2"/>
              <a:buNone/>
            </a:pPr>
            <a:r>
              <a:rPr lang="en-US" altLang="en-US" sz="2400" err="1">
                <a:latin typeface="Courier New" panose="02070309020205020404" pitchFamily="49" charset="0"/>
                <a:cs typeface="Courier New" panose="02070309020205020404" pitchFamily="49" charset="0"/>
              </a:rPr>
              <a:t>int</a:t>
            </a:r>
            <a:r>
              <a:rPr lang="en-US" altLang="en-US" sz="2400">
                <a:latin typeface="Courier New" panose="02070309020205020404" pitchFamily="49" charset="0"/>
                <a:cs typeface="Courier New" panose="02070309020205020404" pitchFamily="49" charset="0"/>
              </a:rPr>
              <a:t> main() {</a:t>
            </a:r>
          </a:p>
          <a:p>
            <a:pPr algn="l" rtl="0"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 	 char *</a:t>
            </a:r>
            <a:r>
              <a:rPr lang="en-US" altLang="en-US" sz="2400" err="1">
                <a:latin typeface="Courier New" panose="02070309020205020404" pitchFamily="49" charset="0"/>
                <a:cs typeface="Courier New" panose="02070309020205020404" pitchFamily="49" charset="0"/>
              </a:rPr>
              <a:t>argv</a:t>
            </a:r>
            <a:r>
              <a:rPr lang="en-US" altLang="en-US" sz="2400">
                <a:latin typeface="Courier New" panose="02070309020205020404" pitchFamily="49" charset="0"/>
                <a:cs typeface="Courier New" panose="02070309020205020404" pitchFamily="49" charset="0"/>
              </a:rPr>
              <a:t>[] = {“date”, NULL};</a:t>
            </a:r>
          </a:p>
          <a:p>
            <a:pPr algn="l" rtl="0"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	 </a:t>
            </a:r>
            <a:r>
              <a:rPr lang="en-US" altLang="en-US" sz="2400" b="1" err="1">
                <a:latin typeface="Courier New" panose="02070309020205020404" pitchFamily="49" charset="0"/>
                <a:cs typeface="Courier New" panose="02070309020205020404" pitchFamily="49" charset="0"/>
              </a:rPr>
              <a:t>execv</a:t>
            </a:r>
            <a:r>
              <a:rPr lang="en-US" altLang="en-US" sz="2400">
                <a:latin typeface="Courier New" panose="02070309020205020404" pitchFamily="49" charset="0"/>
                <a:cs typeface="Courier New" panose="02070309020205020404" pitchFamily="49" charset="0"/>
              </a:rPr>
              <a:t>(“/bin/date”, </a:t>
            </a:r>
            <a:r>
              <a:rPr lang="en-US" altLang="en-US" sz="2400" err="1">
                <a:latin typeface="Courier New" panose="02070309020205020404" pitchFamily="49" charset="0"/>
                <a:cs typeface="Courier New" panose="02070309020205020404" pitchFamily="49" charset="0"/>
              </a:rPr>
              <a:t>argv</a:t>
            </a:r>
            <a:r>
              <a:rPr lang="en-US" altLang="en-US" sz="2400">
                <a:latin typeface="Courier New" panose="02070309020205020404" pitchFamily="49" charset="0"/>
                <a:cs typeface="Courier New" panose="02070309020205020404" pitchFamily="49" charset="0"/>
              </a:rPr>
              <a:t>);</a:t>
            </a:r>
          </a:p>
          <a:p>
            <a:pPr algn="l" rtl="0"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	 </a:t>
            </a:r>
            <a:r>
              <a:rPr lang="en-US" altLang="en-US" sz="2400" err="1">
                <a:latin typeface="Courier New" panose="02070309020205020404" pitchFamily="49" charset="0"/>
                <a:cs typeface="Courier New" panose="02070309020205020404" pitchFamily="49" charset="0"/>
              </a:rPr>
              <a:t>printf</a:t>
            </a:r>
            <a:r>
              <a:rPr lang="en-US" altLang="en-US" sz="2400">
                <a:latin typeface="Courier New" panose="02070309020205020404" pitchFamily="49" charset="0"/>
                <a:cs typeface="Courier New" panose="02070309020205020404" pitchFamily="49" charset="0"/>
              </a:rPr>
              <a:t>(“hello”);</a:t>
            </a:r>
          </a:p>
          <a:p>
            <a:pPr algn="l" rtl="0" eaLnBrk="1" hangingPunct="1">
              <a:lnSpc>
                <a:spcPct val="90000"/>
              </a:lnSpc>
              <a:buFont typeface="Wingdings" panose="05000000000000000000" pitchFamily="2" charset="2"/>
              <a:buNone/>
            </a:pPr>
            <a:r>
              <a:rPr lang="en-US" altLang="en-US">
                <a:latin typeface="Courier New" panose="02070309020205020404" pitchFamily="49" charset="0"/>
                <a:cs typeface="Courier New" panose="02070309020205020404" pitchFamily="49" charset="0"/>
              </a:rPr>
              <a:t>  return 0;</a:t>
            </a:r>
            <a:endParaRPr lang="en-US" altLang="en-US" sz="2400">
              <a:latin typeface="Courier New" panose="02070309020205020404" pitchFamily="49" charset="0"/>
              <a:cs typeface="Courier New" panose="02070309020205020404" pitchFamily="49" charset="0"/>
            </a:endParaRPr>
          </a:p>
          <a:p>
            <a:pPr algn="l" rtl="0" eaLnBrk="1" hangingPunct="1">
              <a:lnSpc>
                <a:spcPct val="90000"/>
              </a:lnSpc>
              <a:buFont typeface="Wingdings" panose="05000000000000000000" pitchFamily="2" charset="2"/>
              <a:buNone/>
            </a:pPr>
            <a:r>
              <a:rPr lang="en-US" altLang="en-US" sz="2400">
                <a:latin typeface="Courier New" panose="02070309020205020404" pitchFamily="49" charset="0"/>
                <a:cs typeface="Courier New" panose="02070309020205020404" pitchFamily="49" charset="0"/>
              </a:rPr>
              <a:t>}</a:t>
            </a:r>
          </a:p>
          <a:p>
            <a:pPr eaLnBrk="1" hangingPunct="1">
              <a:lnSpc>
                <a:spcPct val="90000"/>
              </a:lnSpc>
            </a:pPr>
            <a:r>
              <a:rPr lang="he-IL" altLang="en-US" sz="2800"/>
              <a:t>התשובה:</a:t>
            </a:r>
          </a:p>
          <a:p>
            <a:pPr lvl="1" eaLnBrk="1" hangingPunct="1">
              <a:lnSpc>
                <a:spcPct val="90000"/>
              </a:lnSpc>
            </a:pPr>
            <a:r>
              <a:rPr lang="he-IL" altLang="en-US" sz="2400"/>
              <a:t>אם </a:t>
            </a:r>
            <a:r>
              <a:rPr lang="en-US" altLang="en-US" sz="2400" err="1"/>
              <a:t>execv</a:t>
            </a:r>
            <a:r>
              <a:rPr lang="en-US" altLang="en-US" sz="2400"/>
              <a:t>()</a:t>
            </a:r>
            <a:r>
              <a:rPr lang="he-IL" altLang="en-US" sz="2400"/>
              <a:t> מצליחה: את התאריך והשעה.</a:t>
            </a:r>
          </a:p>
          <a:p>
            <a:pPr lvl="1" eaLnBrk="1" hangingPunct="1">
              <a:lnSpc>
                <a:spcPct val="90000"/>
              </a:lnSpc>
            </a:pPr>
            <a:r>
              <a:rPr lang="he-IL" altLang="en-US" sz="2400"/>
              <a:t>אם </a:t>
            </a:r>
            <a:r>
              <a:rPr lang="en-US" altLang="en-US" sz="2400" err="1"/>
              <a:t>execv</a:t>
            </a:r>
            <a:r>
              <a:rPr lang="en-US" altLang="en-US" sz="2400"/>
              <a:t>()</a:t>
            </a:r>
            <a:r>
              <a:rPr lang="he-IL" altLang="en-US" sz="2400"/>
              <a:t> נכשלת: </a:t>
            </a:r>
            <a:r>
              <a:rPr lang="en-US" altLang="en-US" sz="2400"/>
              <a:t>hello</a:t>
            </a:r>
          </a:p>
        </p:txBody>
      </p:sp>
      <p:sp>
        <p:nvSpPr>
          <p:cNvPr id="5" name="Slide Number Placeholder 4"/>
          <p:cNvSpPr>
            <a:spLocks noGrp="1"/>
          </p:cNvSpPr>
          <p:nvPr>
            <p:ph type="sldNum" sz="quarter" idx="12"/>
          </p:nvPr>
        </p:nvSpPr>
        <p:spPr/>
        <p:txBody>
          <a:bodyPr/>
          <a:lstStyle/>
          <a:p>
            <a:fld id="{0CFEC368-1D7A-4F81-ABF6-AE0E36BAF64C}" type="slidenum">
              <a:rPr lang="en-US" smtClean="0"/>
              <a:pPr/>
              <a:t>18</a:t>
            </a:fld>
            <a:endParaRPr lang="en-US"/>
          </a:p>
        </p:txBody>
      </p:sp>
    </p:spTree>
    <p:extLst>
      <p:ext uri="{BB962C8B-B14F-4D97-AF65-F5344CB8AC3E}">
        <p14:creationId xmlns:p14="http://schemas.microsoft.com/office/powerpoint/2010/main" val="2632213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pRg st="7" end="7"/>
                                            </p:txEl>
                                          </p:spTgt>
                                        </p:tgtEl>
                                        <p:attrNameLst>
                                          <p:attrName>style.visibility</p:attrName>
                                        </p:attrNameLst>
                                      </p:cBhvr>
                                      <p:to>
                                        <p:strVal val="visible"/>
                                      </p:to>
                                    </p:set>
                                    <p:animEffect transition="in" filter="blinds(horizontal)">
                                      <p:cBhvr>
                                        <p:cTn id="7" dur="500"/>
                                        <p:tgtEl>
                                          <p:spTgt spid="82947">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2947">
                                            <p:txEl>
                                              <p:pRg st="8" end="8"/>
                                            </p:txEl>
                                          </p:spTgt>
                                        </p:tgtEl>
                                        <p:attrNameLst>
                                          <p:attrName>style.visibility</p:attrName>
                                        </p:attrNameLst>
                                      </p:cBhvr>
                                      <p:to>
                                        <p:strVal val="visible"/>
                                      </p:to>
                                    </p:set>
                                    <p:animEffect transition="in" filter="blinds(horizontal)">
                                      <p:cBhvr>
                                        <p:cTn id="10" dur="500"/>
                                        <p:tgtEl>
                                          <p:spTgt spid="82947">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2947">
                                            <p:txEl>
                                              <p:pRg st="9" end="9"/>
                                            </p:txEl>
                                          </p:spTgt>
                                        </p:tgtEl>
                                        <p:attrNameLst>
                                          <p:attrName>style.visibility</p:attrName>
                                        </p:attrNameLst>
                                      </p:cBhvr>
                                      <p:to>
                                        <p:strVal val="visible"/>
                                      </p:to>
                                    </p:set>
                                    <p:animEffect transition="in" filter="blinds(horizontal)">
                                      <p:cBhvr>
                                        <p:cTn id="13" dur="500"/>
                                        <p:tgtEl>
                                          <p:spTgt spid="829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3ECEA77-A1B8-4AEF-9D5D-AB67BF9DD6CB}"/>
              </a:ext>
            </a:extLst>
          </p:cNvPr>
          <p:cNvSpPr>
            <a:spLocks noGrp="1"/>
          </p:cNvSpPr>
          <p:nvPr>
            <p:ph type="title"/>
          </p:nvPr>
        </p:nvSpPr>
        <p:spPr/>
        <p:txBody>
          <a:bodyPr/>
          <a:lstStyle/>
          <a:p>
            <a:r>
              <a:rPr lang="he-IL"/>
              <a:t>דוגמת קוד</a:t>
            </a:r>
            <a:br>
              <a:rPr lang="en-US"/>
            </a:br>
            <a:r>
              <a:rPr lang="he-IL"/>
              <a:t>מסכמת</a:t>
            </a:r>
            <a:endParaRPr lang="en-US"/>
          </a:p>
        </p:txBody>
      </p:sp>
      <p:sp>
        <p:nvSpPr>
          <p:cNvPr id="3" name="Content Placeholder 2">
            <a:extLst>
              <a:ext uri="{FF2B5EF4-FFF2-40B4-BE49-F238E27FC236}">
                <a16:creationId xmlns:a16="http://schemas.microsoft.com/office/drawing/2014/main" id="{09E2A398-66CC-456C-8434-B216B96CA099}"/>
              </a:ext>
            </a:extLst>
          </p:cNvPr>
          <p:cNvSpPr>
            <a:spLocks noGrp="1"/>
          </p:cNvSpPr>
          <p:nvPr>
            <p:ph idx="1"/>
          </p:nvPr>
        </p:nvSpPr>
        <p:spPr>
          <a:xfrm>
            <a:off x="2971800" y="792080"/>
            <a:ext cx="5943600" cy="5577840"/>
          </a:xfrm>
        </p:spPr>
        <p:txBody>
          <a:bodyPr>
            <a:noAutofit/>
          </a:bodyPr>
          <a:lstStyle/>
          <a:p>
            <a:pPr marL="0" indent="0" algn="l" rtl="0">
              <a:buNone/>
            </a:pPr>
            <a:r>
              <a:rPr lang="en-US" sz="1800" err="1">
                <a:latin typeface="Courier New" panose="02070309020205020404" pitchFamily="49" charset="0"/>
                <a:cs typeface="Courier New" panose="02070309020205020404" pitchFamily="49" charset="0"/>
              </a:rPr>
              <a:t>printf</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pid</a:t>
            </a:r>
            <a:r>
              <a:rPr lang="en-US" sz="1800">
                <a:latin typeface="Courier New" panose="02070309020205020404" pitchFamily="49" charset="0"/>
                <a:cs typeface="Courier New" panose="02070309020205020404" pitchFamily="49" charset="0"/>
              </a:rPr>
              <a:t> = %d\n", </a:t>
            </a:r>
            <a:r>
              <a:rPr lang="en-US" sz="1800" b="1" err="1">
                <a:latin typeface="Courier New" panose="02070309020205020404" pitchFamily="49" charset="0"/>
                <a:cs typeface="Courier New" panose="02070309020205020404" pitchFamily="49" charset="0"/>
              </a:rPr>
              <a:t>getpid</a:t>
            </a:r>
            <a:r>
              <a:rPr lang="en-US" sz="1800">
                <a:latin typeface="Courier New" panose="02070309020205020404" pitchFamily="49" charset="0"/>
                <a:cs typeface="Courier New" panose="02070309020205020404" pitchFamily="49" charset="0"/>
              </a:rPr>
              <a:t>());</a:t>
            </a:r>
          </a:p>
          <a:p>
            <a:pPr marL="0" indent="0" algn="l" rtl="0">
              <a:buNone/>
            </a:pPr>
            <a:endParaRPr lang="en-US" sz="1800">
              <a:latin typeface="Courier New" panose="02070309020205020404" pitchFamily="49" charset="0"/>
              <a:cs typeface="Courier New" panose="02070309020205020404" pitchFamily="49" charset="0"/>
            </a:endParaRPr>
          </a:p>
          <a:p>
            <a:pPr marL="0" indent="0" algn="l" rtl="0">
              <a:buNone/>
            </a:pPr>
            <a:r>
              <a:rPr lang="en-US" sz="1800" err="1">
                <a:latin typeface="Courier New" panose="02070309020205020404" pitchFamily="49" charset="0"/>
                <a:cs typeface="Courier New" panose="02070309020205020404" pitchFamily="49" charset="0"/>
              </a:rPr>
              <a:t>pid_t</a:t>
            </a: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pid</a:t>
            </a:r>
            <a:r>
              <a:rPr lang="en-US" sz="1800">
                <a:latin typeface="Courier New" panose="02070309020205020404" pitchFamily="49" charset="0"/>
                <a:cs typeface="Courier New" panose="02070309020205020404" pitchFamily="49" charset="0"/>
              </a:rPr>
              <a:t> = </a:t>
            </a:r>
            <a:r>
              <a:rPr lang="en-US" sz="1800" b="1">
                <a:latin typeface="Courier New" panose="02070309020205020404" pitchFamily="49" charset="0"/>
                <a:cs typeface="Courier New" panose="02070309020205020404" pitchFamily="49" charset="0"/>
              </a:rPr>
              <a:t>fork</a:t>
            </a:r>
            <a:r>
              <a:rPr lang="en-US" sz="1800">
                <a:latin typeface="Courier New" panose="02070309020205020404" pitchFamily="49" charset="0"/>
                <a:cs typeface="Courier New" panose="02070309020205020404" pitchFamily="49" charset="0"/>
              </a:rPr>
              <a:t>();</a:t>
            </a:r>
          </a:p>
          <a:p>
            <a:pPr marL="0" indent="0" algn="l" rtl="0">
              <a:buNone/>
            </a:pPr>
            <a:r>
              <a:rPr lang="en-US" sz="1800">
                <a:latin typeface="Courier New" panose="02070309020205020404" pitchFamily="49" charset="0"/>
                <a:cs typeface="Courier New" panose="02070309020205020404" pitchFamily="49" charset="0"/>
              </a:rPr>
              <a:t>if (</a:t>
            </a:r>
            <a:r>
              <a:rPr lang="en-US" sz="1800" err="1">
                <a:latin typeface="Courier New" panose="02070309020205020404" pitchFamily="49" charset="0"/>
                <a:cs typeface="Courier New" panose="02070309020205020404" pitchFamily="49" charset="0"/>
              </a:rPr>
              <a:t>pid</a:t>
            </a:r>
            <a:r>
              <a:rPr lang="en-US" sz="1800">
                <a:latin typeface="Courier New" panose="02070309020205020404" pitchFamily="49" charset="0"/>
                <a:cs typeface="Courier New" panose="02070309020205020404" pitchFamily="49" charset="0"/>
              </a:rPr>
              <a:t> == 0) {</a:t>
            </a:r>
          </a:p>
          <a:p>
            <a:pPr marL="0" indent="0" algn="l" rtl="0">
              <a:buNone/>
            </a:pP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printf</a:t>
            </a:r>
            <a:r>
              <a:rPr lang="en-US" sz="1800">
                <a:latin typeface="Courier New" panose="02070309020205020404" pitchFamily="49" charset="0"/>
                <a:cs typeface="Courier New" panose="02070309020205020404" pitchFamily="49" charset="0"/>
              </a:rPr>
              <a:t>("child </a:t>
            </a:r>
            <a:r>
              <a:rPr lang="en-US" sz="1800" err="1">
                <a:latin typeface="Courier New" panose="02070309020205020404" pitchFamily="49" charset="0"/>
                <a:cs typeface="Courier New" panose="02070309020205020404" pitchFamily="49" charset="0"/>
              </a:rPr>
              <a:t>pid</a:t>
            </a:r>
            <a:r>
              <a:rPr lang="en-US" sz="1800">
                <a:latin typeface="Courier New" panose="02070309020205020404" pitchFamily="49" charset="0"/>
                <a:cs typeface="Courier New" panose="02070309020205020404" pitchFamily="49" charset="0"/>
              </a:rPr>
              <a:t> = %d\n", </a:t>
            </a:r>
            <a:r>
              <a:rPr lang="en-US" sz="1800" b="1" err="1">
                <a:latin typeface="Courier New" panose="02070309020205020404" pitchFamily="49" charset="0"/>
                <a:cs typeface="Courier New" panose="02070309020205020404" pitchFamily="49" charset="0"/>
              </a:rPr>
              <a:t>getpid</a:t>
            </a:r>
            <a:r>
              <a:rPr lang="en-US" sz="1800">
                <a:latin typeface="Courier New" panose="02070309020205020404" pitchFamily="49" charset="0"/>
                <a:cs typeface="Courier New" panose="02070309020205020404" pitchFamily="49" charset="0"/>
              </a:rPr>
              <a:t>());</a:t>
            </a:r>
          </a:p>
          <a:p>
            <a:pPr marL="0" indent="0" algn="l" rtl="0">
              <a:buNone/>
            </a:pPr>
            <a:r>
              <a:rPr lang="en-US" sz="1800">
                <a:latin typeface="Courier New" panose="02070309020205020404" pitchFamily="49" charset="0"/>
                <a:cs typeface="Courier New" panose="02070309020205020404" pitchFamily="49" charset="0"/>
              </a:rPr>
              <a:t>   char* </a:t>
            </a:r>
            <a:r>
              <a:rPr lang="en-US" sz="1800" err="1">
                <a:latin typeface="Courier New" panose="02070309020205020404" pitchFamily="49" charset="0"/>
                <a:cs typeface="Courier New" panose="02070309020205020404" pitchFamily="49" charset="0"/>
              </a:rPr>
              <a:t>args</a:t>
            </a:r>
            <a:r>
              <a:rPr lang="en-US" sz="1800">
                <a:latin typeface="Courier New" panose="02070309020205020404" pitchFamily="49" charset="0"/>
                <a:cs typeface="Courier New" panose="02070309020205020404" pitchFamily="49" charset="0"/>
              </a:rPr>
              <a:t>[] = {"/bin/date", NULL};</a:t>
            </a:r>
          </a:p>
          <a:p>
            <a:pPr marL="0" indent="0" algn="l" rtl="0">
              <a:buNone/>
            </a:pPr>
            <a:r>
              <a:rPr lang="en-US" sz="1800">
                <a:latin typeface="Courier New" panose="02070309020205020404" pitchFamily="49" charset="0"/>
                <a:cs typeface="Courier New" panose="02070309020205020404" pitchFamily="49" charset="0"/>
              </a:rPr>
              <a:t>   </a:t>
            </a:r>
            <a:r>
              <a:rPr lang="en-US" sz="1800" b="1" err="1">
                <a:latin typeface="Courier New" panose="02070309020205020404" pitchFamily="49" charset="0"/>
                <a:cs typeface="Courier New" panose="02070309020205020404" pitchFamily="49" charset="0"/>
              </a:rPr>
              <a:t>execv</a:t>
            </a:r>
            <a:r>
              <a:rPr lang="en-US" sz="1800">
                <a:latin typeface="Courier New" panose="02070309020205020404" pitchFamily="49" charset="0"/>
                <a:cs typeface="Courier New" panose="02070309020205020404" pitchFamily="49" charset="0"/>
              </a:rPr>
              <a:t>(</a:t>
            </a:r>
            <a:r>
              <a:rPr lang="en-US" sz="1800" err="1">
                <a:latin typeface="Courier New" panose="02070309020205020404" pitchFamily="49" charset="0"/>
                <a:cs typeface="Courier New" panose="02070309020205020404" pitchFamily="49" charset="0"/>
              </a:rPr>
              <a:t>args</a:t>
            </a:r>
            <a:r>
              <a:rPr lang="en-US" sz="1800">
                <a:latin typeface="Courier New" panose="02070309020205020404" pitchFamily="49" charset="0"/>
                <a:cs typeface="Courier New" panose="02070309020205020404" pitchFamily="49" charset="0"/>
              </a:rPr>
              <a:t>[0], </a:t>
            </a:r>
            <a:r>
              <a:rPr lang="en-US" sz="1800" err="1">
                <a:latin typeface="Courier New" panose="02070309020205020404" pitchFamily="49" charset="0"/>
                <a:cs typeface="Courier New" panose="02070309020205020404" pitchFamily="49" charset="0"/>
              </a:rPr>
              <a:t>args</a:t>
            </a:r>
            <a:r>
              <a:rPr lang="en-US" sz="1800">
                <a:latin typeface="Courier New" panose="02070309020205020404" pitchFamily="49" charset="0"/>
                <a:cs typeface="Courier New" panose="02070309020205020404" pitchFamily="49" charset="0"/>
              </a:rPr>
              <a:t>);</a:t>
            </a:r>
          </a:p>
          <a:p>
            <a:pPr marL="0" indent="0" algn="l" rtl="0">
              <a:buNone/>
            </a:pP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printf</a:t>
            </a:r>
            <a:r>
              <a:rPr lang="en-US" sz="1800">
                <a:latin typeface="Courier New" panose="02070309020205020404" pitchFamily="49" charset="0"/>
                <a:cs typeface="Courier New" panose="02070309020205020404" pitchFamily="49" charset="0"/>
              </a:rPr>
              <a:t>("This should not be printed\n");</a:t>
            </a:r>
          </a:p>
          <a:p>
            <a:pPr marL="0" indent="0" algn="l" rtl="0">
              <a:buNone/>
            </a:pPr>
            <a:r>
              <a:rPr lang="en-US" sz="1800">
                <a:latin typeface="Courier New" panose="02070309020205020404" pitchFamily="49" charset="0"/>
                <a:cs typeface="Courier New" panose="02070309020205020404" pitchFamily="49" charset="0"/>
              </a:rPr>
              <a:t>} else {</a:t>
            </a:r>
          </a:p>
          <a:p>
            <a:pPr marL="0" indent="0" algn="l" rtl="0">
              <a:buNone/>
            </a:pPr>
            <a:r>
              <a:rPr lang="en-US" sz="1800">
                <a:latin typeface="Courier New" panose="02070309020205020404" pitchFamily="49" charset="0"/>
                <a:cs typeface="Courier New" panose="02070309020205020404" pitchFamily="49" charset="0"/>
              </a:rPr>
              <a:t>   </a:t>
            </a:r>
            <a:r>
              <a:rPr lang="en-US" sz="1800" b="1">
                <a:latin typeface="Courier New" panose="02070309020205020404" pitchFamily="49" charset="0"/>
                <a:cs typeface="Courier New" panose="02070309020205020404" pitchFamily="49" charset="0"/>
              </a:rPr>
              <a:t>wait</a:t>
            </a:r>
            <a:r>
              <a:rPr lang="en-US" sz="1800">
                <a:latin typeface="Courier New" panose="02070309020205020404" pitchFamily="49" charset="0"/>
                <a:cs typeface="Courier New" panose="02070309020205020404" pitchFamily="49" charset="0"/>
              </a:rPr>
              <a:t>(NULL);</a:t>
            </a:r>
          </a:p>
          <a:p>
            <a:pPr marL="0" indent="0" algn="l" rtl="0">
              <a:buNone/>
            </a:pPr>
            <a:r>
              <a:rPr lang="en-US" sz="1800">
                <a:latin typeface="Courier New" panose="02070309020205020404" pitchFamily="49" charset="0"/>
                <a:cs typeface="Courier New" panose="02070309020205020404" pitchFamily="49" charset="0"/>
              </a:rPr>
              <a:t>   </a:t>
            </a:r>
            <a:r>
              <a:rPr lang="en-US" sz="1800" err="1">
                <a:latin typeface="Courier New" panose="02070309020205020404" pitchFamily="49" charset="0"/>
                <a:cs typeface="Courier New" panose="02070309020205020404" pitchFamily="49" charset="0"/>
              </a:rPr>
              <a:t>printf</a:t>
            </a:r>
            <a:r>
              <a:rPr lang="en-US" sz="1800">
                <a:latin typeface="Courier New" panose="02070309020205020404" pitchFamily="49" charset="0"/>
                <a:cs typeface="Courier New" panose="02070309020205020404" pitchFamily="49" charset="0"/>
              </a:rPr>
              <a:t>("parent </a:t>
            </a:r>
            <a:r>
              <a:rPr lang="en-US" sz="1800" err="1">
                <a:latin typeface="Courier New" panose="02070309020205020404" pitchFamily="49" charset="0"/>
                <a:cs typeface="Courier New" panose="02070309020205020404" pitchFamily="49" charset="0"/>
              </a:rPr>
              <a:t>pid</a:t>
            </a:r>
            <a:r>
              <a:rPr lang="en-US" sz="1800">
                <a:latin typeface="Courier New" panose="02070309020205020404" pitchFamily="49" charset="0"/>
                <a:cs typeface="Courier New" panose="02070309020205020404" pitchFamily="49" charset="0"/>
              </a:rPr>
              <a:t> = %d\n", </a:t>
            </a:r>
            <a:r>
              <a:rPr lang="en-US" sz="1800" b="1" err="1">
                <a:latin typeface="Courier New" panose="02070309020205020404" pitchFamily="49" charset="0"/>
                <a:cs typeface="Courier New" panose="02070309020205020404" pitchFamily="49" charset="0"/>
              </a:rPr>
              <a:t>getpid</a:t>
            </a:r>
            <a:r>
              <a:rPr lang="en-US" sz="1800">
                <a:latin typeface="Courier New" panose="02070309020205020404" pitchFamily="49" charset="0"/>
                <a:cs typeface="Courier New" panose="02070309020205020404" pitchFamily="49" charset="0"/>
              </a:rPr>
              <a:t>());</a:t>
            </a:r>
          </a:p>
          <a:p>
            <a:pPr marL="0" indent="0" algn="l" rtl="0">
              <a:buNone/>
            </a:pPr>
            <a:r>
              <a:rPr lang="en-US" sz="1800">
                <a:latin typeface="Courier New" panose="02070309020205020404" pitchFamily="49" charset="0"/>
                <a:cs typeface="Courier New" panose="02070309020205020404" pitchFamily="49" charset="0"/>
              </a:rPr>
              <a:t>}</a:t>
            </a:r>
          </a:p>
        </p:txBody>
      </p:sp>
      <p:sp>
        <p:nvSpPr>
          <p:cNvPr id="4" name="Content Placeholder 3">
            <a:extLst>
              <a:ext uri="{FF2B5EF4-FFF2-40B4-BE49-F238E27FC236}">
                <a16:creationId xmlns:a16="http://schemas.microsoft.com/office/drawing/2014/main" id="{1D851079-BEE5-46B3-AC44-8A6BEA5BC27F}"/>
              </a:ext>
            </a:extLst>
          </p:cNvPr>
          <p:cNvSpPr>
            <a:spLocks noGrp="1"/>
          </p:cNvSpPr>
          <p:nvPr>
            <p:ph type="body" sz="half" idx="2"/>
          </p:nvPr>
        </p:nvSpPr>
        <p:spPr>
          <a:xfrm>
            <a:off x="457200" y="2130552"/>
            <a:ext cx="2286000" cy="4243615"/>
          </a:xfrm>
        </p:spPr>
        <p:txBody>
          <a:bodyPr>
            <a:normAutofit/>
          </a:bodyPr>
          <a:lstStyle/>
          <a:p>
            <a:pPr algn="r"/>
            <a:endParaRPr lang="en-US" sz="2000"/>
          </a:p>
          <a:p>
            <a:pPr algn="r"/>
            <a:endParaRPr lang="en-US" sz="2000"/>
          </a:p>
          <a:p>
            <a:pPr algn="r"/>
            <a:r>
              <a:rPr lang="he-IL" sz="2000"/>
              <a:t>פלט לדוגמה:</a:t>
            </a:r>
            <a:endParaRPr lang="en-US" sz="2000"/>
          </a:p>
          <a:p>
            <a:pPr algn="l" rtl="0"/>
            <a:endParaRPr lang="en-US">
              <a:latin typeface="Courier New" panose="02070309020205020404" pitchFamily="49" charset="0"/>
              <a:cs typeface="Courier New" panose="02070309020205020404" pitchFamily="49" charset="0"/>
            </a:endParaRPr>
          </a:p>
          <a:p>
            <a:pPr algn="l" rtl="0"/>
            <a:r>
              <a:rPr lang="en-US" sz="1600" b="1" err="1">
                <a:latin typeface="Courier New" panose="02070309020205020404" pitchFamily="49" charset="0"/>
                <a:cs typeface="Courier New" panose="02070309020205020404" pitchFamily="49" charset="0"/>
              </a:rPr>
              <a:t>pid</a:t>
            </a:r>
            <a:r>
              <a:rPr lang="en-US" sz="1600" b="1">
                <a:latin typeface="Courier New" panose="02070309020205020404" pitchFamily="49" charset="0"/>
                <a:cs typeface="Courier New" panose="02070309020205020404" pitchFamily="49" charset="0"/>
              </a:rPr>
              <a:t> = 8919</a:t>
            </a:r>
          </a:p>
          <a:p>
            <a:pPr algn="l" rtl="0"/>
            <a:r>
              <a:rPr lang="en-US" sz="1600" b="1">
                <a:latin typeface="Courier New" panose="02070309020205020404" pitchFamily="49" charset="0"/>
                <a:cs typeface="Courier New" panose="02070309020205020404" pitchFamily="49" charset="0"/>
              </a:rPr>
              <a:t>child </a:t>
            </a:r>
            <a:r>
              <a:rPr lang="en-US" sz="1600" b="1" err="1">
                <a:latin typeface="Courier New" panose="02070309020205020404" pitchFamily="49" charset="0"/>
                <a:cs typeface="Courier New" panose="02070309020205020404" pitchFamily="49" charset="0"/>
              </a:rPr>
              <a:t>pid</a:t>
            </a:r>
            <a:r>
              <a:rPr lang="en-US" sz="1600" b="1">
                <a:latin typeface="Courier New" panose="02070309020205020404" pitchFamily="49" charset="0"/>
                <a:cs typeface="Courier New" panose="02070309020205020404" pitchFamily="49" charset="0"/>
              </a:rPr>
              <a:t> = 8920</a:t>
            </a:r>
          </a:p>
          <a:p>
            <a:pPr algn="l" rtl="0"/>
            <a:r>
              <a:rPr lang="en-US" sz="1600" b="1">
                <a:latin typeface="Courier New" panose="02070309020205020404" pitchFamily="49" charset="0"/>
                <a:cs typeface="Courier New" panose="02070309020205020404" pitchFamily="49" charset="0"/>
              </a:rPr>
              <a:t>Sun Oct 29 00:31:32 IDT 2017</a:t>
            </a:r>
          </a:p>
          <a:p>
            <a:pPr algn="l" rtl="0"/>
            <a:r>
              <a:rPr lang="en-US" sz="1600" b="1">
                <a:latin typeface="Courier New" panose="02070309020205020404" pitchFamily="49" charset="0"/>
                <a:cs typeface="Courier New" panose="02070309020205020404" pitchFamily="49" charset="0"/>
              </a:rPr>
              <a:t>parent </a:t>
            </a:r>
            <a:r>
              <a:rPr lang="en-US" sz="1600" b="1" err="1">
                <a:latin typeface="Courier New" panose="02070309020205020404" pitchFamily="49" charset="0"/>
                <a:cs typeface="Courier New" panose="02070309020205020404" pitchFamily="49" charset="0"/>
              </a:rPr>
              <a:t>pid</a:t>
            </a:r>
            <a:r>
              <a:rPr lang="en-US" sz="1600" b="1">
                <a:latin typeface="Courier New" panose="02070309020205020404" pitchFamily="49" charset="0"/>
                <a:cs typeface="Courier New" panose="02070309020205020404" pitchFamily="49" charset="0"/>
              </a:rPr>
              <a:t> = 8919</a:t>
            </a:r>
          </a:p>
        </p:txBody>
      </p:sp>
      <p:sp>
        <p:nvSpPr>
          <p:cNvPr id="6" name="Slide Number Placeholder 5">
            <a:extLst>
              <a:ext uri="{FF2B5EF4-FFF2-40B4-BE49-F238E27FC236}">
                <a16:creationId xmlns:a16="http://schemas.microsoft.com/office/drawing/2014/main" id="{6D3CA5CB-8169-4A90-A515-0B72E628ACE5}"/>
              </a:ext>
            </a:extLst>
          </p:cNvPr>
          <p:cNvSpPr>
            <a:spLocks noGrp="1"/>
          </p:cNvSpPr>
          <p:nvPr>
            <p:ph type="sldNum" sz="quarter" idx="12"/>
          </p:nvPr>
        </p:nvSpPr>
        <p:spPr/>
        <p:txBody>
          <a:bodyPr/>
          <a:lstStyle/>
          <a:p>
            <a:fld id="{0CFEC368-1D7A-4F81-ABF6-AE0E36BAF64C}" type="slidenum">
              <a:rPr lang="en-US" smtClean="0"/>
              <a:pPr/>
              <a:t>19</a:t>
            </a:fld>
            <a:endParaRPr lang="en-US"/>
          </a:p>
        </p:txBody>
      </p:sp>
    </p:spTree>
    <p:extLst>
      <p:ext uri="{BB962C8B-B14F-4D97-AF65-F5344CB8AC3E}">
        <p14:creationId xmlns:p14="http://schemas.microsoft.com/office/powerpoint/2010/main" val="377386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 calcmode="lin" valueType="num">
                                      <p:cBhvr additive="base">
                                        <p:cTn id="1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 calcmode="lin" valueType="num">
                                      <p:cBhvr additive="base">
                                        <p:cTn id="1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he-IL" altLang="en-US"/>
              <a:t>אתחול תהליכים בלינוקס</a:t>
            </a:r>
            <a:endParaRPr lang="en-US" altLang="en-US"/>
          </a:p>
        </p:txBody>
      </p:sp>
      <p:sp>
        <p:nvSpPr>
          <p:cNvPr id="37892" name="Rectangle 3"/>
          <p:cNvSpPr>
            <a:spLocks noGrp="1" noChangeArrowheads="1"/>
          </p:cNvSpPr>
          <p:nvPr>
            <p:ph idx="1"/>
          </p:nvPr>
        </p:nvSpPr>
        <p:spPr/>
        <p:txBody>
          <a:bodyPr/>
          <a:lstStyle/>
          <a:p>
            <a:r>
              <a:rPr lang="he-IL" altLang="en-US"/>
              <a:t>משתמשים מתחברים לעבודה בלינוקס דרך מסופים (</a:t>
            </a:r>
            <a:r>
              <a:rPr lang="en-US" altLang="en-US"/>
              <a:t>terminal</a:t>
            </a:r>
            <a:r>
              <a:rPr lang="he-IL" altLang="en-US"/>
              <a:t>).</a:t>
            </a:r>
          </a:p>
          <a:p>
            <a:pPr lvl="1"/>
            <a:r>
              <a:rPr lang="he-IL" altLang="en-US"/>
              <a:t>מסוף = מסך + מקלדת (מקומי או מרוחק).</a:t>
            </a:r>
          </a:p>
          <a:p>
            <a:pPr lvl="1"/>
            <a:endParaRPr lang="he-IL" altLang="en-US"/>
          </a:p>
          <a:p>
            <a:r>
              <a:rPr lang="he-IL" altLang="en-US"/>
              <a:t>התהליך </a:t>
            </a:r>
            <a:r>
              <a:rPr lang="en-US" altLang="en-US"/>
              <a:t>init</a:t>
            </a:r>
            <a:r>
              <a:rPr lang="he-IL" altLang="en-US"/>
              <a:t> יוצר תהליך בן עבור כל מסוף, אשר טוען ומבצע את המשימות הבאות לפי הסדר:</a:t>
            </a:r>
          </a:p>
          <a:p>
            <a:pPr marL="457200" indent="-457200">
              <a:buFont typeface="+mj-lt"/>
              <a:buAutoNum type="arabicPeriod"/>
            </a:pPr>
            <a:r>
              <a:rPr lang="he-IL" altLang="en-US"/>
              <a:t>איתחול של המסוף.</a:t>
            </a:r>
          </a:p>
          <a:p>
            <a:pPr marL="457200" indent="-457200">
              <a:buFont typeface="+mj-lt"/>
              <a:buAutoNum type="arabicPeriod"/>
            </a:pPr>
            <a:r>
              <a:rPr lang="he-IL" altLang="en-US"/>
              <a:t>התחברות של המשתמש עם שם משתמש וסיסמא באמצעות תכנית </a:t>
            </a:r>
            <a:r>
              <a:rPr lang="en-US" altLang="en-US"/>
              <a:t>login</a:t>
            </a:r>
            <a:r>
              <a:rPr lang="he-IL" altLang="en-US"/>
              <a:t>.</a:t>
            </a:r>
          </a:p>
          <a:p>
            <a:pPr marL="457200" indent="-457200">
              <a:buFont typeface="+mj-lt"/>
              <a:buAutoNum type="arabicPeriod"/>
            </a:pPr>
            <a:r>
              <a:rPr lang="he-IL" altLang="en-US"/>
              <a:t>אם אושרה כניסת המשתמש: קריאה לתוכנית </a:t>
            </a:r>
            <a:r>
              <a:rPr lang="en-US" altLang="en-US"/>
              <a:t> </a:t>
            </a:r>
            <a:r>
              <a:rPr lang="en-US" altLang="en-US" b="1">
                <a:solidFill>
                  <a:srgbClr val="0000FF"/>
                </a:solidFill>
              </a:rPr>
              <a:t>shell</a:t>
            </a:r>
            <a:r>
              <a:rPr lang="he-IL" altLang="en-US"/>
              <a:t>(כמו </a:t>
            </a:r>
            <a:r>
              <a:rPr lang="en-US" altLang="en-US"/>
              <a:t>tcsh</a:t>
            </a:r>
            <a:r>
              <a:rPr lang="he-IL" altLang="en-US"/>
              <a:t> או </a:t>
            </a:r>
            <a:r>
              <a:rPr lang="en-US" altLang="en-US"/>
              <a:t>bash</a:t>
            </a:r>
            <a:r>
              <a:rPr lang="he-IL" altLang="en-US"/>
              <a:t>) המאפשרת למשתמש להעביר פקודות למערכת ההפעלה.</a:t>
            </a:r>
            <a:endParaRPr lang="he-IL" altLang="en-US" dirty="0"/>
          </a:p>
        </p:txBody>
      </p:sp>
      <p:sp>
        <p:nvSpPr>
          <p:cNvPr id="3" name="Slide Number Placeholder 2"/>
          <p:cNvSpPr>
            <a:spLocks noGrp="1"/>
          </p:cNvSpPr>
          <p:nvPr>
            <p:ph type="sldNum" sz="quarter" idx="12"/>
          </p:nvPr>
        </p:nvSpPr>
        <p:spPr/>
        <p:txBody>
          <a:bodyPr/>
          <a:lstStyle/>
          <a:p>
            <a:fld id="{0CFEC368-1D7A-4F81-ABF6-AE0E36BAF64C}" type="slidenum">
              <a:rPr lang="en-US" smtClean="0"/>
              <a:pPr/>
              <a:t>20</a:t>
            </a:fld>
            <a:endParaRPr lang="en-US"/>
          </a:p>
        </p:txBody>
      </p:sp>
    </p:spTree>
    <p:extLst>
      <p:ext uri="{BB962C8B-B14F-4D97-AF65-F5344CB8AC3E}">
        <p14:creationId xmlns:p14="http://schemas.microsoft.com/office/powerpoint/2010/main" val="993071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דוגמה לשימוש בתהליכים - </a:t>
            </a:r>
            <a:r>
              <a:rPr lang="en-US" dirty="0"/>
              <a:t>shell</a:t>
            </a:r>
          </a:p>
        </p:txBody>
      </p:sp>
      <p:sp>
        <p:nvSpPr>
          <p:cNvPr id="3" name="Content Placeholder 2"/>
          <p:cNvSpPr>
            <a:spLocks noGrp="1"/>
          </p:cNvSpPr>
          <p:nvPr>
            <p:ph idx="1"/>
          </p:nvPr>
        </p:nvSpPr>
        <p:spPr/>
        <p:txBody>
          <a:bodyPr/>
          <a:lstStyle/>
          <a:p>
            <a:r>
              <a:rPr lang="he-IL" altLang="en-US"/>
              <a:t>ממשק שורת פקודה (</a:t>
            </a:r>
            <a:r>
              <a:rPr lang="en-US" altLang="en-US"/>
              <a:t>command line</a:t>
            </a:r>
            <a:r>
              <a:rPr lang="he-IL" altLang="en-US"/>
              <a:t>).</a:t>
            </a:r>
          </a:p>
          <a:p>
            <a:r>
              <a:rPr lang="he-IL" altLang="en-US"/>
              <a:t>ייעוד עיקרי: לקבל פקודות ולבצע אותן באופן סדרתי.</a:t>
            </a:r>
          </a:p>
          <a:p>
            <a:pPr lvl="1"/>
            <a:r>
              <a:rPr lang="he-IL" altLang="en-US"/>
              <a:t>ה-</a:t>
            </a:r>
            <a:r>
              <a:rPr lang="en-US" altLang="en-US"/>
              <a:t>shell</a:t>
            </a:r>
            <a:r>
              <a:rPr lang="he-IL" altLang="en-US"/>
              <a:t> מייצר </a:t>
            </a:r>
            <a:r>
              <a:rPr lang="he-IL" altLang="en-US" b="1"/>
              <a:t>תהליך בן עבור כל פקודה </a:t>
            </a:r>
            <a:r>
              <a:rPr lang="he-IL" altLang="en-US"/>
              <a:t>על-מנת לבצע אותה.</a:t>
            </a:r>
          </a:p>
          <a:p>
            <a:r>
              <a:rPr lang="he-IL" altLang="en-US"/>
              <a:t>כל פקודה ניתן להריץ בחזית (</a:t>
            </a:r>
            <a:r>
              <a:rPr lang="en-US" altLang="en-US">
                <a:solidFill>
                  <a:srgbClr val="0000FF"/>
                </a:solidFill>
              </a:rPr>
              <a:t>foreground</a:t>
            </a:r>
            <a:r>
              <a:rPr lang="he-IL" altLang="en-US"/>
              <a:t>) או ברקע (</a:t>
            </a:r>
            <a:r>
              <a:rPr lang="en-US" altLang="en-US">
                <a:solidFill>
                  <a:srgbClr val="0000FF"/>
                </a:solidFill>
              </a:rPr>
              <a:t>background</a:t>
            </a:r>
            <a:r>
              <a:rPr lang="he-IL" altLang="en-US"/>
              <a:t>).</a:t>
            </a:r>
          </a:p>
          <a:p>
            <a:pPr lvl="1"/>
            <a:r>
              <a:rPr lang="he-IL" altLang="en-US"/>
              <a:t>הרצה בחזית: האב (</a:t>
            </a:r>
            <a:r>
              <a:rPr lang="en-US" altLang="en-US"/>
              <a:t>shell</a:t>
            </a:r>
            <a:r>
              <a:rPr lang="he-IL" altLang="en-US"/>
              <a:t>) ממתין לסיום הבן לפני קריאת הפקודה הבאה.</a:t>
            </a:r>
          </a:p>
          <a:p>
            <a:pPr lvl="1"/>
            <a:r>
              <a:rPr lang="he-IL" altLang="en-US"/>
              <a:t>הרצה ברקע: האב (</a:t>
            </a:r>
            <a:r>
              <a:rPr lang="en-US" altLang="en-US"/>
              <a:t>shell</a:t>
            </a:r>
            <a:r>
              <a:rPr lang="he-IL" altLang="en-US"/>
              <a:t>) עובר מיד לקריאת הפקודה הבאה.</a:t>
            </a:r>
          </a:p>
          <a:p>
            <a:r>
              <a:rPr lang="he-IL"/>
              <a:t>ייעוד נוסף: להציג קבצים ותיקיות על-מנת לסייר במערכת.</a:t>
            </a:r>
          </a:p>
          <a:p>
            <a:endParaRPr lang="he-IL"/>
          </a:p>
          <a:p>
            <a:r>
              <a:rPr lang="he-IL"/>
              <a:t>דוגמה חיה:</a:t>
            </a:r>
          </a:p>
          <a:p>
            <a:pPr lvl="1"/>
            <a:r>
              <a:rPr lang="en-US">
                <a:hlinkClick r:id="rId3"/>
              </a:rPr>
              <a:t>https://www.tutorialspoint.com/unix_terminal_online.php</a:t>
            </a:r>
            <a:endParaRPr lang="he-IL"/>
          </a:p>
          <a:p>
            <a:pPr lvl="1"/>
            <a:endParaRPr lang="en-US"/>
          </a:p>
        </p:txBody>
      </p:sp>
      <p:sp>
        <p:nvSpPr>
          <p:cNvPr id="5" name="Slide Number Placeholder 4"/>
          <p:cNvSpPr>
            <a:spLocks noGrp="1"/>
          </p:cNvSpPr>
          <p:nvPr>
            <p:ph type="sldNum" sz="quarter" idx="12"/>
          </p:nvPr>
        </p:nvSpPr>
        <p:spPr/>
        <p:txBody>
          <a:bodyPr/>
          <a:lstStyle/>
          <a:p>
            <a:fld id="{0CFEC368-1D7A-4F81-ABF6-AE0E36BAF64C}" type="slidenum">
              <a:rPr lang="en-US" smtClean="0"/>
              <a:pPr/>
              <a:t>21</a:t>
            </a:fld>
            <a:endParaRPr lang="en-US"/>
          </a:p>
        </p:txBody>
      </p:sp>
    </p:spTree>
    <p:extLst>
      <p:ext uri="{BB962C8B-B14F-4D97-AF65-F5344CB8AC3E}">
        <p14:creationId xmlns:p14="http://schemas.microsoft.com/office/powerpoint/2010/main" val="2206206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he-IL" altLang="en-US"/>
              <a:t>אופן פעולת </a:t>
            </a:r>
            <a:r>
              <a:rPr lang="en-US" altLang="en-US"/>
              <a:t>shell</a:t>
            </a:r>
            <a:r>
              <a:rPr lang="he-IL" altLang="en-US"/>
              <a:t> בלינוקס</a:t>
            </a:r>
            <a:endParaRPr lang="en-US" altLang="en-US"/>
          </a:p>
        </p:txBody>
      </p:sp>
      <p:sp>
        <p:nvSpPr>
          <p:cNvPr id="6" name="Content Placeholder 5">
            <a:extLst>
              <a:ext uri="{FF2B5EF4-FFF2-40B4-BE49-F238E27FC236}">
                <a16:creationId xmlns:a16="http://schemas.microsoft.com/office/drawing/2014/main" id="{98CFE560-A08F-422B-8BC3-DEB2EE81B8A1}"/>
              </a:ext>
            </a:extLst>
          </p:cNvPr>
          <p:cNvSpPr>
            <a:spLocks noGrp="1"/>
          </p:cNvSpPr>
          <p:nvPr>
            <p:ph idx="1"/>
          </p:nvPr>
        </p:nvSpPr>
        <p:spPr/>
        <p:txBody>
          <a:bodyPr/>
          <a:lstStyle/>
          <a:p>
            <a:r>
              <a:rPr lang="he-IL"/>
              <a:t>הרצה בחזית:</a:t>
            </a:r>
          </a:p>
          <a:p>
            <a:endParaRPr lang="he-IL"/>
          </a:p>
          <a:p>
            <a:endParaRPr lang="he-IL"/>
          </a:p>
          <a:p>
            <a:endParaRPr lang="he-IL"/>
          </a:p>
          <a:p>
            <a:endParaRPr lang="he-IL"/>
          </a:p>
          <a:p>
            <a:endParaRPr lang="he-IL"/>
          </a:p>
          <a:p>
            <a:endParaRPr lang="he-IL"/>
          </a:p>
          <a:p>
            <a:r>
              <a:rPr lang="he-IL"/>
              <a:t>הרצה ברקע:</a:t>
            </a:r>
            <a:endParaRPr lang="en-US"/>
          </a:p>
        </p:txBody>
      </p:sp>
      <p:sp>
        <p:nvSpPr>
          <p:cNvPr id="3" name="Slide Number Placeholder 2"/>
          <p:cNvSpPr>
            <a:spLocks noGrp="1"/>
          </p:cNvSpPr>
          <p:nvPr>
            <p:ph type="sldNum" sz="quarter" idx="12"/>
          </p:nvPr>
        </p:nvSpPr>
        <p:spPr/>
        <p:txBody>
          <a:bodyPr/>
          <a:lstStyle/>
          <a:p>
            <a:fld id="{0CFEC368-1D7A-4F81-ABF6-AE0E36BAF64C}" type="slidenum">
              <a:rPr lang="en-US" smtClean="0"/>
              <a:pPr/>
              <a:t>22</a:t>
            </a:fld>
            <a:endParaRPr lang="en-US"/>
          </a:p>
        </p:txBody>
      </p:sp>
      <p:grpSp>
        <p:nvGrpSpPr>
          <p:cNvPr id="7" name="קבוצה 6">
            <a:extLst>
              <a:ext uri="{FF2B5EF4-FFF2-40B4-BE49-F238E27FC236}">
                <a16:creationId xmlns:a16="http://schemas.microsoft.com/office/drawing/2014/main" id="{CDCB69FE-215C-4EBE-A8FC-64C9BA6C4D82}"/>
              </a:ext>
            </a:extLst>
          </p:cNvPr>
          <p:cNvGrpSpPr/>
          <p:nvPr/>
        </p:nvGrpSpPr>
        <p:grpSpPr>
          <a:xfrm>
            <a:off x="457200" y="4711342"/>
            <a:ext cx="7367685" cy="1729822"/>
            <a:chOff x="457200" y="4711342"/>
            <a:chExt cx="7367685" cy="1729822"/>
          </a:xfrm>
        </p:grpSpPr>
        <p:sp>
          <p:nvSpPr>
            <p:cNvPr id="55" name="Oval 35">
              <a:extLst>
                <a:ext uri="{FF2B5EF4-FFF2-40B4-BE49-F238E27FC236}">
                  <a16:creationId xmlns:a16="http://schemas.microsoft.com/office/drawing/2014/main" id="{FBCD7783-2F74-4BAA-80C8-B06CA86E3E20}"/>
                </a:ext>
              </a:extLst>
            </p:cNvPr>
            <p:cNvSpPr>
              <a:spLocks noChangeArrowheads="1"/>
            </p:cNvSpPr>
            <p:nvPr/>
          </p:nvSpPr>
          <p:spPr bwMode="auto">
            <a:xfrm>
              <a:off x="3472300" y="4869021"/>
              <a:ext cx="1371600"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fork()</a:t>
              </a:r>
            </a:p>
          </p:txBody>
        </p:sp>
        <p:sp>
          <p:nvSpPr>
            <p:cNvPr id="56" name="Rectangle 36">
              <a:extLst>
                <a:ext uri="{FF2B5EF4-FFF2-40B4-BE49-F238E27FC236}">
                  <a16:creationId xmlns:a16="http://schemas.microsoft.com/office/drawing/2014/main" id="{78C9CC80-D649-4F8F-8572-5D7A33C593DD}"/>
                </a:ext>
              </a:extLst>
            </p:cNvPr>
            <p:cNvSpPr>
              <a:spLocks noChangeArrowheads="1"/>
            </p:cNvSpPr>
            <p:nvPr/>
          </p:nvSpPr>
          <p:spPr bwMode="auto">
            <a:xfrm>
              <a:off x="457200" y="4869021"/>
              <a:ext cx="2380754" cy="54864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eaLnBrk="1" hangingPunct="1"/>
              <a:r>
                <a:rPr lang="en-US" altLang="en-US" sz="2000" err="1"/>
                <a:t>cmd</a:t>
              </a:r>
              <a:r>
                <a:rPr lang="en-US" altLang="en-US" sz="2000"/>
                <a:t> = </a:t>
              </a:r>
              <a:r>
                <a:rPr lang="en-US" altLang="en-US" sz="2000" err="1"/>
                <a:t>read_next</a:t>
              </a:r>
              <a:r>
                <a:rPr lang="en-US" altLang="en-US" sz="2000"/>
                <a:t>();</a:t>
              </a:r>
            </a:p>
          </p:txBody>
        </p:sp>
        <p:sp>
          <p:nvSpPr>
            <p:cNvPr id="57" name="TextBox 56">
              <a:extLst>
                <a:ext uri="{FF2B5EF4-FFF2-40B4-BE49-F238E27FC236}">
                  <a16:creationId xmlns:a16="http://schemas.microsoft.com/office/drawing/2014/main" id="{4C20B296-79E0-4144-A3E3-4ED0400B1770}"/>
                </a:ext>
              </a:extLst>
            </p:cNvPr>
            <p:cNvSpPr txBox="1"/>
            <p:nvPr/>
          </p:nvSpPr>
          <p:spPr>
            <a:xfrm>
              <a:off x="5463568" y="4711342"/>
              <a:ext cx="883920" cy="369332"/>
            </a:xfrm>
            <a:prstGeom prst="rect">
              <a:avLst/>
            </a:prstGeom>
            <a:noFill/>
          </p:spPr>
          <p:txBody>
            <a:bodyPr wrap="square" rtlCol="0">
              <a:spAutoFit/>
            </a:bodyPr>
            <a:lstStyle/>
            <a:p>
              <a:r>
                <a:rPr lang="en-US"/>
                <a:t>father</a:t>
              </a:r>
            </a:p>
          </p:txBody>
        </p:sp>
        <p:sp>
          <p:nvSpPr>
            <p:cNvPr id="58" name="TextBox 57">
              <a:extLst>
                <a:ext uri="{FF2B5EF4-FFF2-40B4-BE49-F238E27FC236}">
                  <a16:creationId xmlns:a16="http://schemas.microsoft.com/office/drawing/2014/main" id="{49745DA1-8B19-4A29-AB92-069C6368A7BE}"/>
                </a:ext>
              </a:extLst>
            </p:cNvPr>
            <p:cNvSpPr txBox="1"/>
            <p:nvPr/>
          </p:nvSpPr>
          <p:spPr>
            <a:xfrm>
              <a:off x="4449621" y="5414977"/>
              <a:ext cx="628818" cy="369332"/>
            </a:xfrm>
            <a:prstGeom prst="rect">
              <a:avLst/>
            </a:prstGeom>
            <a:noFill/>
          </p:spPr>
          <p:txBody>
            <a:bodyPr wrap="square" rtlCol="0">
              <a:spAutoFit/>
            </a:bodyPr>
            <a:lstStyle/>
            <a:p>
              <a:r>
                <a:rPr lang="en-US"/>
                <a:t>son</a:t>
              </a:r>
            </a:p>
          </p:txBody>
        </p:sp>
        <p:sp>
          <p:nvSpPr>
            <p:cNvPr id="61" name="Oval 35">
              <a:extLst>
                <a:ext uri="{FF2B5EF4-FFF2-40B4-BE49-F238E27FC236}">
                  <a16:creationId xmlns:a16="http://schemas.microsoft.com/office/drawing/2014/main" id="{8118C772-CC54-46A8-A8FB-A5410E3FE7AC}"/>
                </a:ext>
              </a:extLst>
            </p:cNvPr>
            <p:cNvSpPr>
              <a:spLocks noChangeArrowheads="1"/>
            </p:cNvSpPr>
            <p:nvPr/>
          </p:nvSpPr>
          <p:spPr bwMode="auto">
            <a:xfrm>
              <a:off x="6453285" y="5892524"/>
              <a:ext cx="1371600"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exit()</a:t>
              </a:r>
            </a:p>
          </p:txBody>
        </p:sp>
        <p:sp>
          <p:nvSpPr>
            <p:cNvPr id="62" name="Oval 35">
              <a:extLst>
                <a:ext uri="{FF2B5EF4-FFF2-40B4-BE49-F238E27FC236}">
                  <a16:creationId xmlns:a16="http://schemas.microsoft.com/office/drawing/2014/main" id="{D81F1D38-6993-460E-AA5B-4427B1A62A55}"/>
                </a:ext>
              </a:extLst>
            </p:cNvPr>
            <p:cNvSpPr>
              <a:spLocks noChangeArrowheads="1"/>
            </p:cNvSpPr>
            <p:nvPr/>
          </p:nvSpPr>
          <p:spPr bwMode="auto">
            <a:xfrm>
              <a:off x="3580811" y="5892524"/>
              <a:ext cx="2112571"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err="1"/>
                <a:t>execv</a:t>
              </a:r>
              <a:r>
                <a:rPr lang="en-US" altLang="en-US" sz="2000"/>
                <a:t>(</a:t>
              </a:r>
              <a:r>
                <a:rPr lang="en-US" altLang="en-US" sz="2000" err="1"/>
                <a:t>cmd</a:t>
              </a:r>
              <a:r>
                <a:rPr lang="en-US" altLang="en-US" sz="2000"/>
                <a:t>)</a:t>
              </a:r>
            </a:p>
          </p:txBody>
        </p:sp>
        <p:cxnSp>
          <p:nvCxnSpPr>
            <p:cNvPr id="63" name="Straight Arrow Connector 62">
              <a:extLst>
                <a:ext uri="{FF2B5EF4-FFF2-40B4-BE49-F238E27FC236}">
                  <a16:creationId xmlns:a16="http://schemas.microsoft.com/office/drawing/2014/main" id="{2ED46383-31A4-4118-AAC4-2DDCA5182C2F}"/>
                </a:ext>
              </a:extLst>
            </p:cNvPr>
            <p:cNvCxnSpPr>
              <a:stCxn id="56" idx="3"/>
              <a:endCxn id="55" idx="2"/>
            </p:cNvCxnSpPr>
            <p:nvPr/>
          </p:nvCxnSpPr>
          <p:spPr>
            <a:xfrm>
              <a:off x="2837954" y="5143341"/>
              <a:ext cx="634346"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51710583-13D6-415C-B211-45D0715C44AB}"/>
                </a:ext>
              </a:extLst>
            </p:cNvPr>
            <p:cNvCxnSpPr>
              <a:cxnSpLocks/>
              <a:stCxn id="55" idx="4"/>
              <a:endCxn id="62" idx="0"/>
            </p:cNvCxnSpPr>
            <p:nvPr/>
          </p:nvCxnSpPr>
          <p:spPr>
            <a:xfrm>
              <a:off x="4158100" y="5417661"/>
              <a:ext cx="478997" cy="474863"/>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36DDC279-A010-4734-88F5-4063AEA03994}"/>
                </a:ext>
              </a:extLst>
            </p:cNvPr>
            <p:cNvCxnSpPr>
              <a:cxnSpLocks/>
              <a:stCxn id="62" idx="6"/>
              <a:endCxn id="61" idx="2"/>
            </p:cNvCxnSpPr>
            <p:nvPr/>
          </p:nvCxnSpPr>
          <p:spPr>
            <a:xfrm>
              <a:off x="5693382" y="6166844"/>
              <a:ext cx="759903"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68" name="Straight Arrow Connector 46">
              <a:extLst>
                <a:ext uri="{FF2B5EF4-FFF2-40B4-BE49-F238E27FC236}">
                  <a16:creationId xmlns:a16="http://schemas.microsoft.com/office/drawing/2014/main" id="{7197A515-F349-40B6-8C66-5C5E556E73FB}"/>
                </a:ext>
              </a:extLst>
            </p:cNvPr>
            <p:cNvCxnSpPr>
              <a:cxnSpLocks/>
              <a:stCxn id="55" idx="6"/>
              <a:endCxn id="56" idx="0"/>
            </p:cNvCxnSpPr>
            <p:nvPr/>
          </p:nvCxnSpPr>
          <p:spPr>
            <a:xfrm flipH="1" flipV="1">
              <a:off x="1647577" y="4869021"/>
              <a:ext cx="3196323" cy="274320"/>
            </a:xfrm>
            <a:prstGeom prst="bentConnector4">
              <a:avLst>
                <a:gd name="adj1" fmla="val -17275"/>
                <a:gd name="adj2" fmla="val 183333"/>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grpSp>
      <p:grpSp>
        <p:nvGrpSpPr>
          <p:cNvPr id="5" name="קבוצה 4">
            <a:extLst>
              <a:ext uri="{FF2B5EF4-FFF2-40B4-BE49-F238E27FC236}">
                <a16:creationId xmlns:a16="http://schemas.microsoft.com/office/drawing/2014/main" id="{694DA1BE-B23F-4734-BE35-20BE1EBC07F3}"/>
              </a:ext>
            </a:extLst>
          </p:cNvPr>
          <p:cNvGrpSpPr/>
          <p:nvPr/>
        </p:nvGrpSpPr>
        <p:grpSpPr>
          <a:xfrm>
            <a:off x="457200" y="2254136"/>
            <a:ext cx="7691328" cy="1687589"/>
            <a:chOff x="457200" y="2254136"/>
            <a:chExt cx="7691328" cy="1687589"/>
          </a:xfrm>
        </p:grpSpPr>
        <p:sp>
          <p:nvSpPr>
            <p:cNvPr id="38938" name="Oval 35"/>
            <p:cNvSpPr>
              <a:spLocks noChangeArrowheads="1"/>
            </p:cNvSpPr>
            <p:nvPr/>
          </p:nvSpPr>
          <p:spPr bwMode="auto">
            <a:xfrm>
              <a:off x="3472300" y="2369582"/>
              <a:ext cx="1371600"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fork()</a:t>
              </a:r>
            </a:p>
          </p:txBody>
        </p:sp>
        <p:sp>
          <p:nvSpPr>
            <p:cNvPr id="38939" name="Rectangle 36"/>
            <p:cNvSpPr>
              <a:spLocks noChangeArrowheads="1"/>
            </p:cNvSpPr>
            <p:nvPr/>
          </p:nvSpPr>
          <p:spPr bwMode="auto">
            <a:xfrm>
              <a:off x="457200" y="2369582"/>
              <a:ext cx="2380754" cy="54864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eaLnBrk="1" hangingPunct="1"/>
              <a:r>
                <a:rPr lang="en-US" altLang="en-US" sz="2000" err="1"/>
                <a:t>cmd</a:t>
              </a:r>
              <a:r>
                <a:rPr lang="en-US" altLang="en-US" sz="2000"/>
                <a:t> = </a:t>
              </a:r>
              <a:r>
                <a:rPr lang="en-US" altLang="en-US" sz="2000" err="1"/>
                <a:t>read_next</a:t>
              </a:r>
              <a:r>
                <a:rPr lang="en-US" altLang="en-US" sz="2000"/>
                <a:t>();</a:t>
              </a:r>
            </a:p>
          </p:txBody>
        </p:sp>
        <p:sp>
          <p:nvSpPr>
            <p:cNvPr id="33" name="TextBox 32"/>
            <p:cNvSpPr txBox="1"/>
            <p:nvPr/>
          </p:nvSpPr>
          <p:spPr>
            <a:xfrm>
              <a:off x="5463568" y="2254136"/>
              <a:ext cx="883920" cy="369332"/>
            </a:xfrm>
            <a:prstGeom prst="rect">
              <a:avLst/>
            </a:prstGeom>
            <a:noFill/>
          </p:spPr>
          <p:txBody>
            <a:bodyPr wrap="square" rtlCol="0">
              <a:spAutoFit/>
            </a:bodyPr>
            <a:lstStyle/>
            <a:p>
              <a:r>
                <a:rPr lang="en-US"/>
                <a:t>father</a:t>
              </a:r>
            </a:p>
          </p:txBody>
        </p:sp>
        <p:sp>
          <p:nvSpPr>
            <p:cNvPr id="23" name="Oval 35">
              <a:extLst>
                <a:ext uri="{FF2B5EF4-FFF2-40B4-BE49-F238E27FC236}">
                  <a16:creationId xmlns:a16="http://schemas.microsoft.com/office/drawing/2014/main" id="{181BB6A8-7722-4034-AF4E-4D406332F904}"/>
                </a:ext>
              </a:extLst>
            </p:cNvPr>
            <p:cNvSpPr>
              <a:spLocks noChangeArrowheads="1"/>
            </p:cNvSpPr>
            <p:nvPr/>
          </p:nvSpPr>
          <p:spPr bwMode="auto">
            <a:xfrm>
              <a:off x="6776928" y="2366898"/>
              <a:ext cx="1371600"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wait()</a:t>
              </a:r>
            </a:p>
          </p:txBody>
        </p:sp>
        <p:sp>
          <p:nvSpPr>
            <p:cNvPr id="24" name="Oval 35">
              <a:extLst>
                <a:ext uri="{FF2B5EF4-FFF2-40B4-BE49-F238E27FC236}">
                  <a16:creationId xmlns:a16="http://schemas.microsoft.com/office/drawing/2014/main" id="{2519A51B-0A68-4EED-89E7-CD460307AE81}"/>
                </a:ext>
              </a:extLst>
            </p:cNvPr>
            <p:cNvSpPr>
              <a:spLocks noChangeArrowheads="1"/>
            </p:cNvSpPr>
            <p:nvPr/>
          </p:nvSpPr>
          <p:spPr bwMode="auto">
            <a:xfrm>
              <a:off x="6453285" y="3393085"/>
              <a:ext cx="1371600"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exit()</a:t>
              </a:r>
            </a:p>
          </p:txBody>
        </p:sp>
        <p:sp>
          <p:nvSpPr>
            <p:cNvPr id="31" name="Oval 35">
              <a:extLst>
                <a:ext uri="{FF2B5EF4-FFF2-40B4-BE49-F238E27FC236}">
                  <a16:creationId xmlns:a16="http://schemas.microsoft.com/office/drawing/2014/main" id="{A9619DE8-E496-4BD2-BC73-90F4DCA8FFD3}"/>
                </a:ext>
              </a:extLst>
            </p:cNvPr>
            <p:cNvSpPr>
              <a:spLocks noChangeArrowheads="1"/>
            </p:cNvSpPr>
            <p:nvPr/>
          </p:nvSpPr>
          <p:spPr bwMode="auto">
            <a:xfrm>
              <a:off x="3580811" y="3393085"/>
              <a:ext cx="2112571" cy="54864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err="1"/>
                <a:t>execv</a:t>
              </a:r>
              <a:r>
                <a:rPr lang="en-US" altLang="en-US" sz="2000"/>
                <a:t>(</a:t>
              </a:r>
              <a:r>
                <a:rPr lang="en-US" altLang="en-US" sz="2000" err="1"/>
                <a:t>cmd</a:t>
              </a:r>
              <a:r>
                <a:rPr lang="en-US" altLang="en-US" sz="2000"/>
                <a:t>)</a:t>
              </a:r>
            </a:p>
          </p:txBody>
        </p:sp>
        <p:cxnSp>
          <p:nvCxnSpPr>
            <p:cNvPr id="20" name="Straight Arrow Connector 19">
              <a:extLst>
                <a:ext uri="{FF2B5EF4-FFF2-40B4-BE49-F238E27FC236}">
                  <a16:creationId xmlns:a16="http://schemas.microsoft.com/office/drawing/2014/main" id="{BCC86364-35CC-4FF8-9D97-5F487E87E6BC}"/>
                </a:ext>
              </a:extLst>
            </p:cNvPr>
            <p:cNvCxnSpPr>
              <a:stCxn id="38939" idx="3"/>
              <a:endCxn id="38938" idx="2"/>
            </p:cNvCxnSpPr>
            <p:nvPr/>
          </p:nvCxnSpPr>
          <p:spPr>
            <a:xfrm>
              <a:off x="2837954" y="2643902"/>
              <a:ext cx="634346"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44A39F83-9545-4C96-B0F3-808CAC2D8B6F}"/>
                </a:ext>
              </a:extLst>
            </p:cNvPr>
            <p:cNvCxnSpPr>
              <a:cxnSpLocks/>
              <a:stCxn id="38938" idx="6"/>
              <a:endCxn id="23" idx="2"/>
            </p:cNvCxnSpPr>
            <p:nvPr/>
          </p:nvCxnSpPr>
          <p:spPr>
            <a:xfrm flipV="1">
              <a:off x="4843900" y="2641218"/>
              <a:ext cx="1933028" cy="2684"/>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B9195AB8-11B1-45E7-9527-F8C12D857B94}"/>
                </a:ext>
              </a:extLst>
            </p:cNvPr>
            <p:cNvCxnSpPr>
              <a:cxnSpLocks/>
              <a:stCxn id="38938" idx="4"/>
              <a:endCxn id="31" idx="0"/>
            </p:cNvCxnSpPr>
            <p:nvPr/>
          </p:nvCxnSpPr>
          <p:spPr>
            <a:xfrm>
              <a:off x="4158100" y="2918222"/>
              <a:ext cx="478997" cy="474863"/>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F32C79EC-F31E-4FEB-9FC8-FDAAD87B78B8}"/>
                </a:ext>
              </a:extLst>
            </p:cNvPr>
            <p:cNvCxnSpPr>
              <a:cxnSpLocks/>
              <a:stCxn id="31" idx="6"/>
              <a:endCxn id="24" idx="2"/>
            </p:cNvCxnSpPr>
            <p:nvPr/>
          </p:nvCxnSpPr>
          <p:spPr>
            <a:xfrm>
              <a:off x="5693382" y="3667405"/>
              <a:ext cx="759903" cy="0"/>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D4A80AC6-1099-466C-99E9-A980D3C8D407}"/>
                </a:ext>
              </a:extLst>
            </p:cNvPr>
            <p:cNvCxnSpPr>
              <a:cxnSpLocks/>
              <a:stCxn id="24" idx="0"/>
              <a:endCxn id="23" idx="4"/>
            </p:cNvCxnSpPr>
            <p:nvPr/>
          </p:nvCxnSpPr>
          <p:spPr>
            <a:xfrm flipV="1">
              <a:off x="7139085" y="2915538"/>
              <a:ext cx="323643" cy="477547"/>
            </a:xfrm>
            <a:prstGeom prst="straightConnector1">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EE02E400-1DC6-4935-A734-E96B87EFCCA7}"/>
                </a:ext>
              </a:extLst>
            </p:cNvPr>
            <p:cNvCxnSpPr>
              <a:cxnSpLocks/>
              <a:stCxn id="23" idx="6"/>
              <a:endCxn id="38939" idx="0"/>
            </p:cNvCxnSpPr>
            <p:nvPr/>
          </p:nvCxnSpPr>
          <p:spPr>
            <a:xfrm flipH="1" flipV="1">
              <a:off x="1647577" y="2369582"/>
              <a:ext cx="6500951" cy="271636"/>
            </a:xfrm>
            <a:prstGeom prst="bentConnector4">
              <a:avLst>
                <a:gd name="adj1" fmla="val -3516"/>
                <a:gd name="adj2" fmla="val 185145"/>
              </a:avLst>
            </a:prstGeom>
            <a:ln>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69" name="TextBox 68">
              <a:extLst>
                <a:ext uri="{FF2B5EF4-FFF2-40B4-BE49-F238E27FC236}">
                  <a16:creationId xmlns:a16="http://schemas.microsoft.com/office/drawing/2014/main" id="{DBA4BB4F-E8FD-49D2-AF24-29C38AC3C42F}"/>
                </a:ext>
              </a:extLst>
            </p:cNvPr>
            <p:cNvSpPr txBox="1"/>
            <p:nvPr/>
          </p:nvSpPr>
          <p:spPr>
            <a:xfrm>
              <a:off x="4446788" y="2907263"/>
              <a:ext cx="628818" cy="369332"/>
            </a:xfrm>
            <a:prstGeom prst="rect">
              <a:avLst/>
            </a:prstGeom>
            <a:noFill/>
          </p:spPr>
          <p:txBody>
            <a:bodyPr wrap="square" rtlCol="0">
              <a:spAutoFit/>
            </a:bodyPr>
            <a:lstStyle/>
            <a:p>
              <a:r>
                <a:rPr lang="en-US"/>
                <a:t>son</a:t>
              </a:r>
            </a:p>
          </p:txBody>
        </p:sp>
      </p:grpSp>
      <p:pic>
        <p:nvPicPr>
          <p:cNvPr id="2" name="תמונה 1">
            <a:extLst>
              <a:ext uri="{FF2B5EF4-FFF2-40B4-BE49-F238E27FC236}">
                <a16:creationId xmlns:a16="http://schemas.microsoft.com/office/drawing/2014/main" id="{FE8C9C3C-EE7C-E963-FA68-57AC2337E1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924" y="533400"/>
            <a:ext cx="779099" cy="679744"/>
          </a:xfrm>
          <a:prstGeom prst="rect">
            <a:avLst/>
          </a:prstGeom>
        </p:spPr>
      </p:pic>
    </p:spTree>
    <p:extLst>
      <p:ext uri="{BB962C8B-B14F-4D97-AF65-F5344CB8AC3E}">
        <p14:creationId xmlns:p14="http://schemas.microsoft.com/office/powerpoint/2010/main" val="3246532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algn="just"/>
            <a:r>
              <a:rPr lang="he-IL" dirty="0"/>
              <a:t>תרגיל</a:t>
            </a:r>
          </a:p>
        </p:txBody>
      </p:sp>
      <p:sp>
        <p:nvSpPr>
          <p:cNvPr id="7" name="Subtitle 6"/>
          <p:cNvSpPr>
            <a:spLocks noGrp="1"/>
          </p:cNvSpPr>
          <p:nvPr>
            <p:ph type="subTitle" idx="1"/>
          </p:nvPr>
        </p:nvSpPr>
        <p:spPr/>
        <p:txBody>
          <a:bodyPr>
            <a:normAutofit/>
          </a:bodyPr>
          <a:lstStyle/>
          <a:p>
            <a:r>
              <a:rPr lang="he-IL" sz="3600" dirty="0"/>
              <a:t>יצירת טרמינל מנוון</a:t>
            </a:r>
          </a:p>
        </p:txBody>
      </p:sp>
      <p:sp>
        <p:nvSpPr>
          <p:cNvPr id="4" name="Footer Placeholder 3"/>
          <p:cNvSpPr>
            <a:spLocks noGrp="1"/>
          </p:cNvSpPr>
          <p:nvPr>
            <p:ph type="ftr" sz="quarter" idx="11"/>
          </p:nvPr>
        </p:nvSpPr>
        <p:spPr/>
        <p:txBody>
          <a:bodyPr/>
          <a:lstStyle/>
          <a:p>
            <a:pPr algn="r"/>
            <a:r>
              <a:rPr lang="he-IL"/>
              <a:t>מערכות הפעלה - תרגול 2</a:t>
            </a:r>
            <a:endParaRPr lang="en-US"/>
          </a:p>
        </p:txBody>
      </p:sp>
      <p:sp>
        <p:nvSpPr>
          <p:cNvPr id="5" name="Slide Number Placeholder 4"/>
          <p:cNvSpPr>
            <a:spLocks noGrp="1"/>
          </p:cNvSpPr>
          <p:nvPr>
            <p:ph type="sldNum" sz="quarter" idx="12"/>
          </p:nvPr>
        </p:nvSpPr>
        <p:spPr/>
        <p:txBody>
          <a:bodyPr/>
          <a:lstStyle/>
          <a:p>
            <a:fld id="{0CFEC368-1D7A-4F81-ABF6-AE0E36BAF64C}" type="slidenum">
              <a:rPr lang="en-US" smtClean="0"/>
              <a:pPr/>
              <a:t>23</a:t>
            </a:fld>
            <a:endParaRPr lang="en-US"/>
          </a:p>
        </p:txBody>
      </p:sp>
    </p:spTree>
    <p:extLst>
      <p:ext uri="{BB962C8B-B14F-4D97-AF65-F5344CB8AC3E}">
        <p14:creationId xmlns:p14="http://schemas.microsoft.com/office/powerpoint/2010/main" val="188331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457200" y="3998547"/>
            <a:ext cx="8123274" cy="0"/>
          </a:xfrm>
          <a:prstGeom prst="line">
            <a:avLst/>
          </a:prstGeom>
          <a:ln>
            <a:prstDash val="dash"/>
          </a:ln>
        </p:spPr>
        <p:style>
          <a:lnRef idx="3">
            <a:schemeClr val="dk1"/>
          </a:lnRef>
          <a:fillRef idx="0">
            <a:schemeClr val="dk1"/>
          </a:fillRef>
          <a:effectRef idx="2">
            <a:schemeClr val="dk1"/>
          </a:effectRef>
          <a:fontRef idx="minor">
            <a:schemeClr val="tx1"/>
          </a:fontRef>
        </p:style>
      </p:cxnSp>
      <p:sp>
        <p:nvSpPr>
          <p:cNvPr id="2" name="Title 1"/>
          <p:cNvSpPr>
            <a:spLocks noGrp="1"/>
          </p:cNvSpPr>
          <p:nvPr>
            <p:ph type="title"/>
          </p:nvPr>
        </p:nvSpPr>
        <p:spPr/>
        <p:txBody>
          <a:bodyPr/>
          <a:lstStyle/>
          <a:p>
            <a:r>
              <a:rPr lang="he-IL"/>
              <a:t>תרשים: חוטים במבט מערכתי</a:t>
            </a:r>
            <a:endParaRPr lang="en-US"/>
          </a:p>
        </p:txBody>
      </p:sp>
      <p:sp>
        <p:nvSpPr>
          <p:cNvPr id="4" name="Slide Number Placeholder 3"/>
          <p:cNvSpPr>
            <a:spLocks noGrp="1"/>
          </p:cNvSpPr>
          <p:nvPr>
            <p:ph type="sldNum" sz="quarter" idx="12"/>
          </p:nvPr>
        </p:nvSpPr>
        <p:spPr/>
        <p:txBody>
          <a:bodyPr/>
          <a:lstStyle/>
          <a:p>
            <a:fld id="{0CFEC368-1D7A-4F81-ABF6-AE0E36BAF64C}" type="slidenum">
              <a:rPr lang="en-US" smtClean="0"/>
              <a:pPr/>
              <a:t>24</a:t>
            </a:fld>
            <a:endParaRPr lang="en-US"/>
          </a:p>
        </p:txBody>
      </p:sp>
      <p:sp>
        <p:nvSpPr>
          <p:cNvPr id="5" name="Rounded Rectangle 4"/>
          <p:cNvSpPr/>
          <p:nvPr/>
        </p:nvSpPr>
        <p:spPr>
          <a:xfrm>
            <a:off x="457200" y="1967017"/>
            <a:ext cx="2530549" cy="128016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rtl="1"/>
            <a:r>
              <a:rPr lang="he-IL" sz="2400" dirty="0"/>
              <a:t>תוכנית משתמשת בממשק </a:t>
            </a:r>
            <a:r>
              <a:rPr lang="en-US" sz="2400" dirty="0" err="1"/>
              <a:t>pthreads</a:t>
            </a:r>
            <a:endParaRPr lang="en-US" sz="2400" dirty="0"/>
          </a:p>
        </p:txBody>
      </p:sp>
      <p:sp>
        <p:nvSpPr>
          <p:cNvPr id="6" name="Rounded Rectangle 5"/>
          <p:cNvSpPr/>
          <p:nvPr/>
        </p:nvSpPr>
        <p:spPr>
          <a:xfrm>
            <a:off x="5879805" y="1967017"/>
            <a:ext cx="2806995" cy="128016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lgn="ctr" rtl="1"/>
            <a:r>
              <a:rPr lang="he-IL" sz="2400" dirty="0"/>
              <a:t>ספריית </a:t>
            </a:r>
            <a:r>
              <a:rPr lang="en-US" sz="2400" dirty="0" err="1"/>
              <a:t>pthreads</a:t>
            </a:r>
            <a:r>
              <a:rPr lang="he-IL" sz="2400" dirty="0"/>
              <a:t> (ספריית משתמש</a:t>
            </a:r>
            <a:br>
              <a:rPr lang="en-US" sz="2400" dirty="0"/>
            </a:br>
            <a:r>
              <a:rPr lang="he-IL" sz="2400" dirty="0"/>
              <a:t>כמו </a:t>
            </a:r>
            <a:r>
              <a:rPr lang="en-US" sz="2400" dirty="0" err="1"/>
              <a:t>libc</a:t>
            </a:r>
            <a:r>
              <a:rPr lang="he-IL" sz="2400" dirty="0"/>
              <a:t>)</a:t>
            </a:r>
            <a:endParaRPr lang="en-US" sz="2400" dirty="0"/>
          </a:p>
        </p:txBody>
      </p:sp>
      <p:sp>
        <p:nvSpPr>
          <p:cNvPr id="7" name="Right Arrow 6"/>
          <p:cNvSpPr/>
          <p:nvPr/>
        </p:nvSpPr>
        <p:spPr>
          <a:xfrm>
            <a:off x="3099391" y="2104177"/>
            <a:ext cx="2668772" cy="100584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lvl="0" algn="ctr"/>
            <a:r>
              <a:rPr lang="en-US" sz="2000" err="1"/>
              <a:t>pthread_create</a:t>
            </a:r>
            <a:r>
              <a:rPr lang="en-US" sz="2000"/>
              <a:t>()</a:t>
            </a:r>
          </a:p>
        </p:txBody>
      </p:sp>
      <p:sp>
        <p:nvSpPr>
          <p:cNvPr id="8" name="Rounded Rectangle 7"/>
          <p:cNvSpPr/>
          <p:nvPr/>
        </p:nvSpPr>
        <p:spPr>
          <a:xfrm>
            <a:off x="5879805" y="4926421"/>
            <a:ext cx="2806995" cy="128016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lvl="0" algn="ctr" rtl="1"/>
            <a:r>
              <a:rPr lang="he-IL" sz="2400"/>
              <a:t>הגרעין יוצר חוטים או תהליכים באמצעות </a:t>
            </a:r>
            <a:r>
              <a:rPr lang="en-US" sz="2400" err="1"/>
              <a:t>sys_clone</a:t>
            </a:r>
            <a:r>
              <a:rPr lang="en-US" sz="2400"/>
              <a:t>()</a:t>
            </a:r>
          </a:p>
        </p:txBody>
      </p:sp>
      <p:sp>
        <p:nvSpPr>
          <p:cNvPr id="9" name="Right Arrow 8"/>
          <p:cNvSpPr/>
          <p:nvPr/>
        </p:nvSpPr>
        <p:spPr>
          <a:xfrm rot="2621614">
            <a:off x="6567908" y="3594021"/>
            <a:ext cx="1430787" cy="100584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lvl="0" algn="ctr"/>
            <a:r>
              <a:rPr lang="en-US" sz="2000" b="1">
                <a:solidFill>
                  <a:srgbClr val="0000FF"/>
                </a:solidFill>
              </a:rPr>
              <a:t>clone</a:t>
            </a:r>
            <a:r>
              <a:rPr lang="en-US" sz="2000"/>
              <a:t>()</a:t>
            </a:r>
          </a:p>
        </p:txBody>
      </p:sp>
      <p:sp>
        <p:nvSpPr>
          <p:cNvPr id="12" name="TextBox 11"/>
          <p:cNvSpPr txBox="1"/>
          <p:nvPr/>
        </p:nvSpPr>
        <p:spPr>
          <a:xfrm>
            <a:off x="457200" y="3398382"/>
            <a:ext cx="1956391" cy="1200329"/>
          </a:xfrm>
          <a:prstGeom prst="rect">
            <a:avLst/>
          </a:prstGeom>
          <a:noFill/>
        </p:spPr>
        <p:txBody>
          <a:bodyPr wrap="square" rtlCol="0">
            <a:spAutoFit/>
          </a:bodyPr>
          <a:lstStyle/>
          <a:p>
            <a:pPr algn="l"/>
            <a:r>
              <a:rPr lang="en-US" sz="2400"/>
              <a:t>user land</a:t>
            </a:r>
          </a:p>
          <a:p>
            <a:pPr algn="l"/>
            <a:endParaRPr lang="en-US" sz="2400"/>
          </a:p>
          <a:p>
            <a:pPr algn="l"/>
            <a:r>
              <a:rPr lang="en-US" sz="2400"/>
              <a:t>kernel land</a:t>
            </a:r>
          </a:p>
        </p:txBody>
      </p:sp>
    </p:spTree>
    <p:extLst>
      <p:ext uri="{BB962C8B-B14F-4D97-AF65-F5344CB8AC3E}">
        <p14:creationId xmlns:p14="http://schemas.microsoft.com/office/powerpoint/2010/main" val="566405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r>
              <a:rPr lang="he-IL" altLang="en-US"/>
              <a:t>קריאת המערכת </a:t>
            </a:r>
            <a:r>
              <a:rPr lang="en-US" altLang="en-US"/>
              <a:t>clone()</a:t>
            </a:r>
          </a:p>
        </p:txBody>
      </p:sp>
      <p:sp>
        <p:nvSpPr>
          <p:cNvPr id="3" name="Slide Number Placeholder 2"/>
          <p:cNvSpPr>
            <a:spLocks noGrp="1"/>
          </p:cNvSpPr>
          <p:nvPr>
            <p:ph type="sldNum" sz="quarter" idx="12"/>
          </p:nvPr>
        </p:nvSpPr>
        <p:spPr/>
        <p:txBody>
          <a:bodyPr/>
          <a:lstStyle/>
          <a:p>
            <a:fld id="{0CFEC368-1D7A-4F81-ABF6-AE0E36BAF64C}" type="slidenum">
              <a:rPr lang="en-US" smtClean="0"/>
              <a:pPr/>
              <a:t>25</a:t>
            </a:fld>
            <a:endParaRPr lang="en-US"/>
          </a:p>
        </p:txBody>
      </p:sp>
      <p:pic>
        <p:nvPicPr>
          <p:cNvPr id="7" name="Content Placeholder 6">
            <a:extLst>
              <a:ext uri="{FF2B5EF4-FFF2-40B4-BE49-F238E27FC236}">
                <a16:creationId xmlns:a16="http://schemas.microsoft.com/office/drawing/2014/main" id="{1403E1F9-DE78-4EE5-B3FE-271F036E22C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0736" y="1600200"/>
            <a:ext cx="7702527" cy="4876800"/>
          </a:xfrm>
        </p:spPr>
      </p:pic>
    </p:spTree>
    <p:extLst>
      <p:ext uri="{BB962C8B-B14F-4D97-AF65-F5344CB8AC3E}">
        <p14:creationId xmlns:p14="http://schemas.microsoft.com/office/powerpoint/2010/main" val="1579042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r>
              <a:rPr lang="he-IL" altLang="en-US"/>
              <a:t>קריאת המערכת </a:t>
            </a:r>
            <a:r>
              <a:rPr lang="en-US" altLang="en-US"/>
              <a:t>clone()</a:t>
            </a:r>
          </a:p>
        </p:txBody>
      </p:sp>
      <p:sp>
        <p:nvSpPr>
          <p:cNvPr id="281603" name="Rectangle 3"/>
          <p:cNvSpPr>
            <a:spLocks noGrp="1" noChangeArrowheads="1"/>
          </p:cNvSpPr>
          <p:nvPr>
            <p:ph idx="1"/>
          </p:nvPr>
        </p:nvSpPr>
        <p:spPr/>
        <p:txBody>
          <a:bodyPr>
            <a:normAutofit/>
          </a:bodyPr>
          <a:lstStyle/>
          <a:p>
            <a:pPr marL="0" indent="0" algn="l" rtl="0">
              <a:buNone/>
            </a:pPr>
            <a:r>
              <a:rPr lang="en-US" altLang="en-US" sz="2000" dirty="0">
                <a:latin typeface="Courier New" panose="02070309020205020404" pitchFamily="49" charset="0"/>
                <a:cs typeface="Courier New" panose="02070309020205020404" pitchFamily="49" charset="0"/>
              </a:rPr>
              <a:t>int clone(int (*</a:t>
            </a:r>
            <a:r>
              <a:rPr lang="en-US" altLang="en-US" sz="2000" dirty="0" err="1">
                <a:latin typeface="Courier New" panose="02070309020205020404" pitchFamily="49" charset="0"/>
                <a:cs typeface="Courier New" panose="02070309020205020404" pitchFamily="49" charset="0"/>
              </a:rPr>
              <a:t>fn</a:t>
            </a:r>
            <a:r>
              <a:rPr lang="en-US" altLang="en-US" sz="2000" dirty="0">
                <a:latin typeface="Courier New" panose="02070309020205020404" pitchFamily="49" charset="0"/>
                <a:cs typeface="Courier New" panose="02070309020205020404" pitchFamily="49" charset="0"/>
              </a:rPr>
              <a:t>)(void*), void *</a:t>
            </a:r>
            <a:r>
              <a:rPr lang="en-US" altLang="en-US" sz="2000" dirty="0" err="1">
                <a:latin typeface="Courier New" panose="02070309020205020404" pitchFamily="49" charset="0"/>
                <a:cs typeface="Courier New" panose="02070309020205020404" pitchFamily="49" charset="0"/>
              </a:rPr>
              <a:t>child_stack</a:t>
            </a:r>
            <a:r>
              <a:rPr lang="en-US" altLang="en-US" sz="2000" dirty="0">
                <a:latin typeface="Courier New" panose="02070309020205020404" pitchFamily="49" charset="0"/>
                <a:cs typeface="Courier New" panose="02070309020205020404" pitchFamily="49" charset="0"/>
              </a:rPr>
              <a:t>,</a:t>
            </a:r>
            <a:br>
              <a:rPr lang="en-US" altLang="en-US" sz="2000" dirty="0">
                <a:latin typeface="Courier New" panose="02070309020205020404" pitchFamily="49" charset="0"/>
                <a:cs typeface="Courier New" panose="02070309020205020404" pitchFamily="49" charset="0"/>
              </a:rPr>
            </a:br>
            <a:r>
              <a:rPr lang="en-US" altLang="en-US" sz="2000" dirty="0">
                <a:latin typeface="Courier New" panose="02070309020205020404" pitchFamily="49" charset="0"/>
                <a:cs typeface="Courier New" panose="02070309020205020404" pitchFamily="49" charset="0"/>
              </a:rPr>
              <a:t>	int flags, void *</a:t>
            </a:r>
            <a:r>
              <a:rPr lang="en-US" altLang="en-US" sz="2000" dirty="0" err="1">
                <a:latin typeface="Courier New" panose="02070309020205020404" pitchFamily="49" charset="0"/>
                <a:cs typeface="Courier New" panose="02070309020205020404" pitchFamily="49" charset="0"/>
              </a:rPr>
              <a:t>arg</a:t>
            </a:r>
            <a:r>
              <a:rPr lang="en-US" altLang="en-US" sz="2000" dirty="0">
                <a:latin typeface="Courier New" panose="02070309020205020404" pitchFamily="49" charset="0"/>
                <a:cs typeface="Courier New" panose="02070309020205020404" pitchFamily="49" charset="0"/>
              </a:rPr>
              <a:t>);</a:t>
            </a:r>
          </a:p>
          <a:p>
            <a:pPr lvl="1"/>
            <a:endParaRPr lang="he-IL" altLang="en-US" dirty="0"/>
          </a:p>
          <a:p>
            <a:r>
              <a:rPr lang="he-IL" altLang="en-US" u="sng" dirty="0"/>
              <a:t>פעולה:</a:t>
            </a:r>
            <a:r>
              <a:rPr lang="he-IL" altLang="en-US" dirty="0"/>
              <a:t> יוצרת תהליך בן המשתף עם תהליך האב משאבים ונתונים לפי בחירה.</a:t>
            </a:r>
          </a:p>
          <a:p>
            <a:r>
              <a:rPr lang="he-IL" altLang="en-US" u="sng" dirty="0"/>
              <a:t>פרמטרים:</a:t>
            </a:r>
          </a:p>
          <a:p>
            <a:pPr lvl="1"/>
            <a:r>
              <a:rPr lang="en-US" altLang="en-US" dirty="0" err="1"/>
              <a:t>fn</a:t>
            </a:r>
            <a:r>
              <a:rPr lang="he-IL" altLang="en-US" dirty="0"/>
              <a:t> – מצביע לפונקציה שתהווה את הקוד הראשי של התהליך החדש.</a:t>
            </a:r>
          </a:p>
          <a:p>
            <a:pPr lvl="1"/>
            <a:r>
              <a:rPr lang="en-US" altLang="en-US" dirty="0" err="1"/>
              <a:t>arg</a:t>
            </a:r>
            <a:r>
              <a:rPr lang="he-IL" altLang="en-US" dirty="0"/>
              <a:t> – הפרמטר המועבר לפונקציה </a:t>
            </a:r>
            <a:r>
              <a:rPr lang="en-US" altLang="en-US" dirty="0" err="1"/>
              <a:t>fn</a:t>
            </a:r>
            <a:r>
              <a:rPr lang="en-US" altLang="en-US" dirty="0"/>
              <a:t>()</a:t>
            </a:r>
            <a:r>
              <a:rPr lang="he-IL" altLang="en-US" dirty="0"/>
              <a:t> בתחילת ביצוע התהליך החדש.</a:t>
            </a:r>
          </a:p>
          <a:p>
            <a:pPr lvl="2"/>
            <a:r>
              <a:rPr lang="he-IL" altLang="en-US" dirty="0"/>
              <a:t>כשביצוע הפונקציה </a:t>
            </a:r>
            <a:r>
              <a:rPr lang="en-US" altLang="en-US" dirty="0" err="1"/>
              <a:t>fn</a:t>
            </a:r>
            <a:r>
              <a:rPr lang="en-US" altLang="en-US" dirty="0"/>
              <a:t>(</a:t>
            </a:r>
            <a:r>
              <a:rPr lang="en-US" altLang="en-US" dirty="0" err="1"/>
              <a:t>arg</a:t>
            </a:r>
            <a:r>
              <a:rPr lang="en-US" altLang="en-US" dirty="0"/>
              <a:t>)</a:t>
            </a:r>
            <a:r>
              <a:rPr lang="he-IL" altLang="en-US" dirty="0"/>
              <a:t> מסתיים, נגמר התהליך החדש.</a:t>
            </a:r>
          </a:p>
          <a:p>
            <a:pPr lvl="1"/>
            <a:r>
              <a:rPr lang="en-US" altLang="en-US" dirty="0" err="1"/>
              <a:t>child_stack</a:t>
            </a:r>
            <a:r>
              <a:rPr lang="he-IL" altLang="en-US" dirty="0"/>
              <a:t> – מצביע לראש המחסנית של התהליך החדש.</a:t>
            </a:r>
          </a:p>
          <a:p>
            <a:pPr lvl="2"/>
            <a:r>
              <a:rPr lang="he-IL" altLang="en-US" dirty="0"/>
              <a:t>תזכורת: המחסנית גדלה לכיוון הכתובות הנמוכות.</a:t>
            </a:r>
            <a:endParaRPr lang="en-US" altLang="en-US" dirty="0"/>
          </a:p>
          <a:p>
            <a:pPr lvl="2"/>
            <a:r>
              <a:rPr lang="he-IL" altLang="en-US" dirty="0"/>
              <a:t>לכן </a:t>
            </a:r>
            <a:r>
              <a:rPr lang="en-US" altLang="en-US" dirty="0" err="1"/>
              <a:t>child_stack</a:t>
            </a:r>
            <a:r>
              <a:rPr lang="he-IL" altLang="en-US" dirty="0"/>
              <a:t> צריך להצביע לסוף בלוק הזיכרון המוקצה לטובת המחסנית.</a:t>
            </a:r>
          </a:p>
        </p:txBody>
      </p:sp>
      <p:sp>
        <p:nvSpPr>
          <p:cNvPr id="3" name="Slide Number Placeholder 2"/>
          <p:cNvSpPr>
            <a:spLocks noGrp="1"/>
          </p:cNvSpPr>
          <p:nvPr>
            <p:ph type="sldNum" sz="quarter" idx="12"/>
          </p:nvPr>
        </p:nvSpPr>
        <p:spPr/>
        <p:txBody>
          <a:bodyPr/>
          <a:lstStyle/>
          <a:p>
            <a:fld id="{0CFEC368-1D7A-4F81-ABF6-AE0E36BAF64C}" type="slidenum">
              <a:rPr lang="en-US" smtClean="0"/>
              <a:pPr/>
              <a:t>26</a:t>
            </a:fld>
            <a:endParaRPr lang="en-US"/>
          </a:p>
        </p:txBody>
      </p:sp>
      <p:sp>
        <p:nvSpPr>
          <p:cNvPr id="6" name="Speech Bubble: Rectangle with Corners Rounded 5">
            <a:extLst>
              <a:ext uri="{FF2B5EF4-FFF2-40B4-BE49-F238E27FC236}">
                <a16:creationId xmlns:a16="http://schemas.microsoft.com/office/drawing/2014/main" id="{E5497914-C009-455D-8C7D-E93D17D1A9E3}"/>
              </a:ext>
            </a:extLst>
          </p:cNvPr>
          <p:cNvSpPr/>
          <p:nvPr/>
        </p:nvSpPr>
        <p:spPr>
          <a:xfrm>
            <a:off x="0" y="4923977"/>
            <a:ext cx="1986455" cy="725214"/>
          </a:xfrm>
          <a:prstGeom prst="wedgeRoundRectCallout">
            <a:avLst>
              <a:gd name="adj1" fmla="val 177457"/>
              <a:gd name="adj2" fmla="val 4299"/>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rtl="1"/>
            <a:r>
              <a:rPr lang="he-IL" sz="2000"/>
              <a:t>איזו מחסנית?</a:t>
            </a:r>
          </a:p>
          <a:p>
            <a:pPr algn="ctr" rtl="1"/>
            <a:r>
              <a:rPr lang="he-IL" sz="2000"/>
              <a:t>משתמש / גרעין?</a:t>
            </a:r>
            <a:endParaRPr lang="en-US" sz="2000"/>
          </a:p>
        </p:txBody>
      </p:sp>
    </p:spTree>
    <p:extLst>
      <p:ext uri="{BB962C8B-B14F-4D97-AF65-F5344CB8AC3E}">
        <p14:creationId xmlns:p14="http://schemas.microsoft.com/office/powerpoint/2010/main" val="99331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r>
              <a:rPr lang="he-IL" altLang="en-US"/>
              <a:t>קריאת המערכת </a:t>
            </a:r>
            <a:r>
              <a:rPr lang="en-US" altLang="en-US"/>
              <a:t>clone()</a:t>
            </a:r>
          </a:p>
        </p:txBody>
      </p:sp>
      <p:sp>
        <p:nvSpPr>
          <p:cNvPr id="286723" name="Rectangle 3"/>
          <p:cNvSpPr>
            <a:spLocks noGrp="1" noChangeArrowheads="1"/>
          </p:cNvSpPr>
          <p:nvPr>
            <p:ph idx="1"/>
          </p:nvPr>
        </p:nvSpPr>
        <p:spPr/>
        <p:txBody>
          <a:bodyPr>
            <a:normAutofit fontScale="92500" lnSpcReduction="20000"/>
          </a:bodyPr>
          <a:lstStyle/>
          <a:p>
            <a:pPr lvl="1"/>
            <a:r>
              <a:rPr lang="en-US" altLang="en-US" dirty="0"/>
              <a:t>flags</a:t>
            </a:r>
            <a:r>
              <a:rPr lang="he-IL" altLang="en-US" dirty="0"/>
              <a:t> – מסכת דגלים הקובעת את צורת השיתוף בין התהליך הקורא והתהליך החדש. להלן מספר דגלים אופייניים:</a:t>
            </a:r>
          </a:p>
          <a:p>
            <a:pPr lvl="1"/>
            <a:endParaRPr lang="he-IL" altLang="en-US" dirty="0"/>
          </a:p>
          <a:p>
            <a:pPr lvl="1"/>
            <a:endParaRPr lang="he-IL" altLang="en-US" dirty="0"/>
          </a:p>
          <a:p>
            <a:pPr lvl="1"/>
            <a:endParaRPr lang="he-IL" altLang="en-US" dirty="0"/>
          </a:p>
          <a:p>
            <a:pPr lvl="1"/>
            <a:endParaRPr lang="he-IL" altLang="en-US" dirty="0"/>
          </a:p>
          <a:p>
            <a:pPr lvl="1"/>
            <a:endParaRPr lang="he-IL" altLang="en-US" dirty="0"/>
          </a:p>
          <a:p>
            <a:pPr lvl="1"/>
            <a:endParaRPr lang="he-IL" altLang="en-US" dirty="0"/>
          </a:p>
          <a:p>
            <a:pPr lvl="1"/>
            <a:endParaRPr lang="he-IL" altLang="en-US" dirty="0"/>
          </a:p>
          <a:p>
            <a:pPr lvl="1"/>
            <a:endParaRPr lang="he-IL" altLang="en-US" dirty="0"/>
          </a:p>
          <a:p>
            <a:pPr lvl="1"/>
            <a:endParaRPr lang="he-IL" altLang="en-US" dirty="0"/>
          </a:p>
          <a:p>
            <a:pPr lvl="1"/>
            <a:r>
              <a:rPr lang="he-IL" altLang="en-US" dirty="0"/>
              <a:t>ניתן לשלב מספר דגלים יחד באמצעות </a:t>
            </a:r>
            <a:r>
              <a:rPr lang="en-US" altLang="en-US" dirty="0"/>
              <a:t>OR</a:t>
            </a:r>
            <a:r>
              <a:rPr lang="he-IL" altLang="en-US" dirty="0"/>
              <a:t> לוגי ביניהם, לדוגמה:</a:t>
            </a:r>
            <a:br>
              <a:rPr lang="en-US" altLang="en-US" dirty="0"/>
            </a:br>
            <a:r>
              <a:rPr lang="en-US" altLang="en-US" dirty="0"/>
              <a:t>CLONE_VM</a:t>
            </a:r>
            <a:r>
              <a:rPr lang="he-IL" altLang="en-US" dirty="0"/>
              <a:t> | </a:t>
            </a:r>
            <a:r>
              <a:rPr lang="en-US" altLang="en-US" dirty="0"/>
              <a:t>CLONE_FS</a:t>
            </a:r>
            <a:r>
              <a:rPr lang="he-IL" altLang="en-US" dirty="0"/>
              <a:t> .</a:t>
            </a:r>
          </a:p>
          <a:p>
            <a:pPr lvl="1"/>
            <a:endParaRPr lang="he-IL" altLang="en-US" dirty="0"/>
          </a:p>
          <a:p>
            <a:r>
              <a:rPr lang="he-IL" altLang="en-US" u="sng" dirty="0"/>
              <a:t>ערך מוחזר:</a:t>
            </a:r>
            <a:r>
              <a:rPr lang="he-IL" altLang="en-US" dirty="0"/>
              <a:t> במקרה של הצלחה מוחזר ה-</a:t>
            </a:r>
            <a:r>
              <a:rPr lang="en-US" altLang="en-US" dirty="0"/>
              <a:t>PID</a:t>
            </a:r>
            <a:r>
              <a:rPr lang="he-IL" altLang="en-US" dirty="0"/>
              <a:t> של התהליך החדש,</a:t>
            </a:r>
            <a:br>
              <a:rPr lang="en-US" altLang="en-US" dirty="0"/>
            </a:br>
            <a:r>
              <a:rPr lang="he-IL" altLang="en-US" dirty="0"/>
              <a:t>אחרת </a:t>
            </a:r>
            <a:r>
              <a:rPr lang="en-US" altLang="en-US" dirty="0"/>
              <a:t>-1</a:t>
            </a:r>
            <a:r>
              <a:rPr lang="he-IL" altLang="en-US" dirty="0"/>
              <a:t>.</a:t>
            </a:r>
          </a:p>
        </p:txBody>
      </p:sp>
      <p:sp>
        <p:nvSpPr>
          <p:cNvPr id="3" name="Slide Number Placeholder 2"/>
          <p:cNvSpPr>
            <a:spLocks noGrp="1"/>
          </p:cNvSpPr>
          <p:nvPr>
            <p:ph type="sldNum" sz="quarter" idx="12"/>
          </p:nvPr>
        </p:nvSpPr>
        <p:spPr/>
        <p:txBody>
          <a:bodyPr/>
          <a:lstStyle/>
          <a:p>
            <a:fld id="{0CFEC368-1D7A-4F81-ABF6-AE0E36BAF64C}" type="slidenum">
              <a:rPr lang="en-US" smtClean="0"/>
              <a:pPr/>
              <a:t>27</a:t>
            </a:fld>
            <a:endParaRPr lang="en-US"/>
          </a:p>
        </p:txBody>
      </p:sp>
      <p:graphicFrame>
        <p:nvGraphicFramePr>
          <p:cNvPr id="286751" name="Group 31"/>
          <p:cNvGraphicFramePr>
            <a:graphicFrameLocks noGrp="1"/>
          </p:cNvGraphicFramePr>
          <p:nvPr/>
        </p:nvGraphicFramePr>
        <p:xfrm>
          <a:off x="540896" y="2187816"/>
          <a:ext cx="7648414" cy="2322576"/>
        </p:xfrm>
        <a:graphic>
          <a:graphicData uri="http://schemas.openxmlformats.org/drawingml/2006/table">
            <a:tbl>
              <a:tblPr rtl="1" firstCol="1">
                <a:tableStyleId>{3C2FFA5D-87B4-456A-9821-1D502468CF0F}</a:tableStyleId>
              </a:tblPr>
              <a:tblGrid>
                <a:gridCol w="2253459">
                  <a:extLst>
                    <a:ext uri="{9D8B030D-6E8A-4147-A177-3AD203B41FA5}">
                      <a16:colId xmlns:a16="http://schemas.microsoft.com/office/drawing/2014/main" val="44302070"/>
                    </a:ext>
                  </a:extLst>
                </a:gridCol>
                <a:gridCol w="5394955">
                  <a:extLst>
                    <a:ext uri="{9D8B030D-6E8A-4147-A177-3AD203B41FA5}">
                      <a16:colId xmlns:a16="http://schemas.microsoft.com/office/drawing/2014/main" val="3084202467"/>
                    </a:ext>
                  </a:extLst>
                </a:gridCol>
              </a:tblGrid>
              <a:tr h="360000">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800" u="none" strike="noStrike" cap="none" normalizeH="0" baseline="0" dirty="0">
                          <a:ln>
                            <a:noFill/>
                          </a:ln>
                          <a:effectLst/>
                        </a:rPr>
                        <a:t>CLONE_VM</a:t>
                      </a:r>
                      <a:endParaRPr kumimoji="0" lang="en-US" altLang="en-US" sz="1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a:txBody>
                  <a:tcPr anchor="ctr" horzOverflow="overflow"/>
                </a:tc>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he-IL" altLang="en-US" sz="1800" u="none" strike="noStrike" cap="none" normalizeH="0" baseline="0">
                          <a:ln>
                            <a:noFill/>
                          </a:ln>
                          <a:effectLst/>
                        </a:rPr>
                        <a:t>שיתוף מרחב הזיכרון</a:t>
                      </a:r>
                      <a:endParaRPr kumimoji="0" lang="en-US" altLang="en-US"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anchor="ctr" horzOverflow="overflow"/>
                </a:tc>
                <a:extLst>
                  <a:ext uri="{0D108BD9-81ED-4DB2-BD59-A6C34878D82A}">
                    <a16:rowId xmlns:a16="http://schemas.microsoft.com/office/drawing/2014/main" val="1078101412"/>
                  </a:ext>
                </a:extLst>
              </a:tr>
              <a:tr h="360000">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800" u="none" strike="noStrike" cap="none" normalizeH="0" baseline="0">
                          <a:ln>
                            <a:noFill/>
                          </a:ln>
                          <a:effectLst/>
                        </a:rPr>
                        <a:t>CLONE_FILES</a:t>
                      </a:r>
                      <a:endPar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endParaRPr>
                    </a:p>
                  </a:txBody>
                  <a:tcPr anchor="ctr" horzOverflow="overflow"/>
                </a:tc>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80000"/>
                        </a:lnSpc>
                        <a:spcBef>
                          <a:spcPct val="20000"/>
                        </a:spcBef>
                        <a:spcAft>
                          <a:spcPct val="0"/>
                        </a:spcAft>
                        <a:buClr>
                          <a:schemeClr val="bg2"/>
                        </a:buClr>
                        <a:buSzPct val="75000"/>
                        <a:buFont typeface="Wingdings" panose="05000000000000000000" pitchFamily="2" charset="2"/>
                        <a:buNone/>
                        <a:tabLst/>
                      </a:pPr>
                      <a:r>
                        <a:rPr kumimoji="0" lang="he-IL" altLang="en-US" sz="1800" u="none" strike="noStrike" cap="none" normalizeH="0" baseline="0">
                          <a:ln>
                            <a:noFill/>
                          </a:ln>
                          <a:effectLst/>
                        </a:rPr>
                        <a:t>שיתוף טבלת הקבצים הפתוחים</a:t>
                      </a:r>
                      <a:endPar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anchor="ctr" horzOverflow="overflow"/>
                </a:tc>
                <a:extLst>
                  <a:ext uri="{0D108BD9-81ED-4DB2-BD59-A6C34878D82A}">
                    <a16:rowId xmlns:a16="http://schemas.microsoft.com/office/drawing/2014/main" val="579586897"/>
                  </a:ext>
                </a:extLst>
              </a:tr>
              <a:tr h="522000">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800" u="none" strike="noStrike" cap="none" normalizeH="0" baseline="0">
                          <a:ln>
                            <a:noFill/>
                          </a:ln>
                          <a:effectLst/>
                        </a:rPr>
                        <a:t>CLONE_FS</a:t>
                      </a:r>
                      <a:endPar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endParaRPr>
                    </a:p>
                  </a:txBody>
                  <a:tcPr anchor="ctr" horzOverflow="overflow"/>
                </a:tc>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80000"/>
                        </a:lnSpc>
                        <a:spcBef>
                          <a:spcPct val="20000"/>
                        </a:spcBef>
                        <a:spcAft>
                          <a:spcPct val="0"/>
                        </a:spcAft>
                        <a:buClr>
                          <a:schemeClr val="bg2"/>
                        </a:buClr>
                        <a:buSzPct val="75000"/>
                        <a:buFont typeface="Wingdings" panose="05000000000000000000" pitchFamily="2" charset="2"/>
                        <a:buNone/>
                        <a:tabLst/>
                      </a:pPr>
                      <a:r>
                        <a:rPr kumimoji="0" lang="he-IL" altLang="en-US" sz="1800" u="none" strike="noStrike" cap="none" normalizeH="0" baseline="0">
                          <a:ln>
                            <a:noFill/>
                          </a:ln>
                          <a:effectLst/>
                        </a:rPr>
                        <a:t>שיתוף טבלת נתוני עבודה עם קבצים, המכילה נתונים כגון ספרית העבודה הנוכחית ועוד</a:t>
                      </a:r>
                      <a:endPar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anchor="ctr" horzOverflow="overflow"/>
                </a:tc>
                <a:extLst>
                  <a:ext uri="{0D108BD9-81ED-4DB2-BD59-A6C34878D82A}">
                    <a16:rowId xmlns:a16="http://schemas.microsoft.com/office/drawing/2014/main" val="2528717608"/>
                  </a:ext>
                </a:extLst>
              </a:tr>
              <a:tr h="522000">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800" u="none" strike="noStrike" cap="none" normalizeH="0" baseline="0">
                          <a:ln>
                            <a:noFill/>
                          </a:ln>
                          <a:effectLst/>
                        </a:rPr>
                        <a:t>CLONE_PARENT</a:t>
                      </a:r>
                      <a:endPar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endParaRPr>
                    </a:p>
                  </a:txBody>
                  <a:tcPr anchor="ctr" horzOverflow="overflow"/>
                </a:tc>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80000"/>
                        </a:lnSpc>
                        <a:spcBef>
                          <a:spcPct val="20000"/>
                        </a:spcBef>
                        <a:spcAft>
                          <a:spcPct val="0"/>
                        </a:spcAft>
                        <a:buClr>
                          <a:schemeClr val="bg2"/>
                        </a:buClr>
                        <a:buSzPct val="75000"/>
                        <a:buFont typeface="Wingdings" panose="05000000000000000000" pitchFamily="2" charset="2"/>
                        <a:buNone/>
                        <a:tabLst/>
                      </a:pPr>
                      <a:r>
                        <a:rPr kumimoji="0" lang="he-IL" altLang="en-US" sz="1800" u="none" strike="noStrike" cap="none" normalizeH="0" baseline="0">
                          <a:ln>
                            <a:noFill/>
                          </a:ln>
                          <a:effectLst/>
                        </a:rPr>
                        <a:t>לתהליך החדש יהיה אותו אב כמו התהליך הקורא (אחרת החדש יהיה הבן של הקורא)</a:t>
                      </a:r>
                      <a:endPar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anchor="ctr" horzOverflow="overflow"/>
                </a:tc>
                <a:extLst>
                  <a:ext uri="{0D108BD9-81ED-4DB2-BD59-A6C34878D82A}">
                    <a16:rowId xmlns:a16="http://schemas.microsoft.com/office/drawing/2014/main" val="2640851643"/>
                  </a:ext>
                </a:extLst>
              </a:tr>
              <a:tr h="522000">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800" u="none" strike="noStrike" cap="none" normalizeH="0" baseline="0">
                          <a:ln>
                            <a:noFill/>
                          </a:ln>
                          <a:effectLst/>
                        </a:rPr>
                        <a:t>CLONE_THREAD</a:t>
                      </a:r>
                      <a:endParaRPr kumimoji="0" lang="en-US" altLang="en-US" sz="1800" b="0" i="0" u="none" strike="noStrike" cap="none" normalizeH="0" baseline="0">
                        <a:ln>
                          <a:noFill/>
                        </a:ln>
                        <a:solidFill>
                          <a:srgbClr val="0000FF"/>
                        </a:solidFill>
                        <a:effectLst/>
                        <a:latin typeface="Arial" panose="020B0604020202020204" pitchFamily="34" charset="0"/>
                        <a:cs typeface="Arial" panose="020B0604020202020204" pitchFamily="34" charset="0"/>
                      </a:endParaRPr>
                    </a:p>
                  </a:txBody>
                  <a:tcPr anchor="ctr" horzOverflow="overflow"/>
                </a:tc>
                <a:tc>
                  <a:txBody>
                    <a:bodyPr/>
                    <a:lstStyle>
                      <a:lvl1pPr algn="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cs typeface="Arial" panose="020B0604020202020204" pitchFamily="34" charset="0"/>
                        </a:defRPr>
                      </a:lvl1pPr>
                      <a:lvl2pPr algn="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2pPr>
                      <a:lvl3pPr algn="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3pPr>
                      <a:lvl4pPr algn="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cs typeface="Arial" panose="020B0604020202020204" pitchFamily="34" charset="0"/>
                        </a:defRPr>
                      </a:lvl4pPr>
                      <a:lvl5pPr algn="r">
                        <a:spcBef>
                          <a:spcPct val="20000"/>
                        </a:spcBef>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5pPr>
                      <a:lvl6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6pPr>
                      <a:lvl7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7pPr>
                      <a:lvl8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8pPr>
                      <a:lvl9pPr algn="r" rtl="1"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cs typeface="Arial" panose="020B0604020202020204" pitchFamily="34" charset="0"/>
                        </a:defRPr>
                      </a:lvl9pPr>
                    </a:lstStyle>
                    <a:p>
                      <a:pPr marL="0" marR="0" lvl="0" indent="0" algn="r" defTabSz="914400" rtl="1" eaLnBrk="1" fontAlgn="base" latinLnBrk="0" hangingPunct="1">
                        <a:lnSpc>
                          <a:spcPct val="80000"/>
                        </a:lnSpc>
                        <a:spcBef>
                          <a:spcPct val="20000"/>
                        </a:spcBef>
                        <a:spcAft>
                          <a:spcPct val="0"/>
                        </a:spcAft>
                        <a:buClr>
                          <a:schemeClr val="bg2"/>
                        </a:buClr>
                        <a:buSzPct val="75000"/>
                        <a:buFont typeface="Wingdings" panose="05000000000000000000" pitchFamily="2" charset="2"/>
                        <a:buNone/>
                        <a:tabLst/>
                      </a:pPr>
                      <a:r>
                        <a:rPr kumimoji="0" lang="he-IL" altLang="en-US" sz="1800" u="none" strike="noStrike" cap="none" normalizeH="0" baseline="0" dirty="0">
                          <a:ln>
                            <a:noFill/>
                          </a:ln>
                          <a:effectLst/>
                        </a:rPr>
                        <a:t>התהליך החדש הוא חוט באותה קבוצת חוטים כמו התהליך הקורא (אותו </a:t>
                      </a:r>
                      <a:r>
                        <a:rPr kumimoji="0" lang="en-US" altLang="en-US" sz="1800" u="none" strike="noStrike" cap="none" normalizeH="0" baseline="0" dirty="0" err="1">
                          <a:ln>
                            <a:noFill/>
                          </a:ln>
                          <a:effectLst/>
                        </a:rPr>
                        <a:t>tgid</a:t>
                      </a:r>
                      <a:r>
                        <a:rPr kumimoji="0" lang="he-IL" altLang="en-US" sz="1800" u="none" strike="noStrike" cap="none" normalizeH="0" baseline="0" dirty="0">
                          <a:ln>
                            <a:noFill/>
                          </a:ln>
                          <a:effectLst/>
                        </a:rPr>
                        <a:t>). גורר גם </a:t>
                      </a:r>
                      <a:r>
                        <a:rPr kumimoji="0" lang="en-US" altLang="en-US" sz="1800" u="none" strike="noStrike" cap="none" normalizeH="0" baseline="0" dirty="0">
                          <a:ln>
                            <a:noFill/>
                          </a:ln>
                          <a:effectLst/>
                        </a:rPr>
                        <a:t>CLONE_PARENT</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anchor="ctr" horzOverflow="overflow"/>
                </a:tc>
                <a:extLst>
                  <a:ext uri="{0D108BD9-81ED-4DB2-BD59-A6C34878D82A}">
                    <a16:rowId xmlns:a16="http://schemas.microsoft.com/office/drawing/2014/main" val="2951937629"/>
                  </a:ext>
                </a:extLst>
              </a:tr>
            </a:tbl>
          </a:graphicData>
        </a:graphic>
      </p:graphicFrame>
      <p:pic>
        <p:nvPicPr>
          <p:cNvPr id="2" name="תמונה 1">
            <a:extLst>
              <a:ext uri="{FF2B5EF4-FFF2-40B4-BE49-F238E27FC236}">
                <a16:creationId xmlns:a16="http://schemas.microsoft.com/office/drawing/2014/main" id="{E7742A6D-0D84-8C7E-636A-10F30775D3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7088" y="594844"/>
            <a:ext cx="779099" cy="679744"/>
          </a:xfrm>
          <a:prstGeom prst="rect">
            <a:avLst/>
          </a:prstGeom>
        </p:spPr>
      </p:pic>
    </p:spTree>
    <p:extLst>
      <p:ext uri="{BB962C8B-B14F-4D97-AF65-F5344CB8AC3E}">
        <p14:creationId xmlns:p14="http://schemas.microsoft.com/office/powerpoint/2010/main" val="22347766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1_Clarity">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778</TotalTime>
  <Words>2674</Words>
  <Application>Microsoft Office PowerPoint</Application>
  <PresentationFormat>‫הצגה על המסך (4:3)</PresentationFormat>
  <Paragraphs>418</Paragraphs>
  <Slides>27</Slides>
  <Notes>19</Notes>
  <HiddenSlides>0</HiddenSlides>
  <MMClips>0</MMClips>
  <ScaleCrop>false</ScaleCrop>
  <HeadingPairs>
    <vt:vector size="6" baseType="variant">
      <vt:variant>
        <vt:lpstr>גופנים בשימוש</vt:lpstr>
      </vt:variant>
      <vt:variant>
        <vt:i4>4</vt:i4>
      </vt:variant>
      <vt:variant>
        <vt:lpstr>ערכת נושא</vt:lpstr>
      </vt:variant>
      <vt:variant>
        <vt:i4>2</vt:i4>
      </vt:variant>
      <vt:variant>
        <vt:lpstr>כותרות שקופיות</vt:lpstr>
      </vt:variant>
      <vt:variant>
        <vt:i4>27</vt:i4>
      </vt:variant>
    </vt:vector>
  </HeadingPairs>
  <TitlesOfParts>
    <vt:vector size="33" baseType="lpstr">
      <vt:lpstr>Wingdings</vt:lpstr>
      <vt:lpstr>Arial</vt:lpstr>
      <vt:lpstr>Calibri</vt:lpstr>
      <vt:lpstr>Courier New</vt:lpstr>
      <vt:lpstr>Clarity</vt:lpstr>
      <vt:lpstr>1_Clarity</vt:lpstr>
      <vt:lpstr>תהליכים בלינוקס</vt:lpstr>
      <vt:lpstr>תוכנית, תהליך וניהול התהליך</vt:lpstr>
      <vt:lpstr>קריאות מערכת לעבודה עם תהליכים</vt:lpstr>
      <vt:lpstr>Idle בסביבת Windows</vt:lpstr>
      <vt:lpstr>קריאת המערכת fork()</vt:lpstr>
      <vt:lpstr>לפני fork()</vt:lpstr>
      <vt:lpstr>אחרי fork()</vt:lpstr>
      <vt:lpstr>קוד האב וקוד הבן מסתעפים</vt:lpstr>
      <vt:lpstr>שכפול מרחב הזיכרון ע"י fork()</vt:lpstr>
      <vt:lpstr>הדפסה לא מתואמת למסך</vt:lpstr>
      <vt:lpstr>קריאת המערכת wait()</vt:lpstr>
      <vt:lpstr>הדפסה מתואמת למסך</vt:lpstr>
      <vt:lpstr>קריאת המערכת exit()</vt:lpstr>
      <vt:lpstr>קריאת המערכת exit()</vt:lpstr>
      <vt:lpstr>מצגת של PowerPoint‏</vt:lpstr>
      <vt:lpstr>מצגת של PowerPoint‏</vt:lpstr>
      <vt:lpstr>קריאת המערכת execv()</vt:lpstr>
      <vt:lpstr>קריאת המערכת execv()</vt:lpstr>
      <vt:lpstr>דוגמת קוד מסכמת</vt:lpstr>
      <vt:lpstr>אתחול תהליכים בלינוקס</vt:lpstr>
      <vt:lpstr>דוגמה לשימוש בתהליכים - shell</vt:lpstr>
      <vt:lpstr>אופן פעולת shell בלינוקס</vt:lpstr>
      <vt:lpstr>תרגיל</vt:lpstr>
      <vt:lpstr>תרשים: חוטים במבט מערכתי</vt:lpstr>
      <vt:lpstr>קריאת המערכת clone()</vt:lpstr>
      <vt:lpstr>קריאת המערכת clone()</vt:lpstr>
      <vt:lpstr>קריאת המערכת clone()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Elad</dc:creator>
  <cp:lastModifiedBy>Roi Fridman</cp:lastModifiedBy>
  <cp:revision>97</cp:revision>
  <dcterms:created xsi:type="dcterms:W3CDTF">2014-09-16T21:32:26Z</dcterms:created>
  <dcterms:modified xsi:type="dcterms:W3CDTF">2026-06-17T07:53:17Z</dcterms:modified>
</cp:coreProperties>
</file>